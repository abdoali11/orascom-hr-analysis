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14"/>
  </p:handoutMasterIdLst>
  <p:sldIdLst>
    <p:sldId id="256" r:id="rId3"/>
    <p:sldId id="277" r:id="rId4"/>
    <p:sldId id="257" r:id="rId5"/>
    <p:sldId id="261" r:id="rId6"/>
    <p:sldId id="259" r:id="rId8"/>
    <p:sldId id="260" r:id="rId9"/>
    <p:sldId id="262" r:id="rId10"/>
    <p:sldId id="263" r:id="rId11"/>
    <p:sldId id="269" r:id="rId12"/>
    <p:sldId id="274" r:id="rId13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80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/>
    <p:restoredTop sz="94660"/>
  </p:normalViewPr>
  <p:slideViewPr>
    <p:cSldViewPr snapToGrid="0" showGuides="1">
      <p:cViewPr>
        <p:scale>
          <a:sx n="66" d="100"/>
          <a:sy n="66" d="100"/>
        </p:scale>
        <p:origin x="2310" y="1020"/>
      </p:cViewPr>
      <p:guideLst>
        <p:guide orient="horz" pos="2160"/>
        <p:guide pos="2843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2290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8B7025-C40E-4492-B3DA-B031B3252A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jpeg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098" name="组合 16"/>
          <p:cNvGrpSpPr/>
          <p:nvPr/>
        </p:nvGrpSpPr>
        <p:grpSpPr>
          <a:xfrm>
            <a:off x="152400" y="115888"/>
            <a:ext cx="1079500" cy="1128712"/>
            <a:chOff x="177800" y="-107950"/>
            <a:chExt cx="1403350" cy="1466850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1" name="组合 17"/>
          <p:cNvGrpSpPr/>
          <p:nvPr/>
        </p:nvGrpSpPr>
        <p:grpSpPr>
          <a:xfrm rot="5400000">
            <a:off x="10909300" y="117475"/>
            <a:ext cx="1079500" cy="1127125"/>
            <a:chOff x="177800" y="-107950"/>
            <a:chExt cx="1403350" cy="146685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4" name="组合 20"/>
          <p:cNvGrpSpPr/>
          <p:nvPr/>
        </p:nvGrpSpPr>
        <p:grpSpPr>
          <a:xfrm rot="-5400000">
            <a:off x="176213" y="5551488"/>
            <a:ext cx="1079500" cy="1128712"/>
            <a:chOff x="177800" y="-107950"/>
            <a:chExt cx="1403350" cy="146685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7" name="组合 23"/>
          <p:cNvGrpSpPr/>
          <p:nvPr/>
        </p:nvGrpSpPr>
        <p:grpSpPr>
          <a:xfrm rot="10800000">
            <a:off x="10885488" y="5610225"/>
            <a:ext cx="1079500" cy="1128713"/>
            <a:chOff x="177800" y="-107950"/>
            <a:chExt cx="1403350" cy="146685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10" name="组合 2"/>
          <p:cNvGrpSpPr/>
          <p:nvPr/>
        </p:nvGrpSpPr>
        <p:grpSpPr>
          <a:xfrm>
            <a:off x="2133600" y="1930400"/>
            <a:ext cx="8058150" cy="2921000"/>
            <a:chOff x="2616200" y="2165350"/>
            <a:chExt cx="6959600" cy="2527300"/>
          </a:xfrm>
        </p:grpSpPr>
        <p:grpSp>
          <p:nvGrpSpPr>
            <p:cNvPr id="4111" name="组合 34"/>
            <p:cNvGrpSpPr/>
            <p:nvPr/>
          </p:nvGrpSpPr>
          <p:grpSpPr>
            <a:xfrm>
              <a:off x="2616200" y="2165350"/>
              <a:ext cx="6959600" cy="2527300"/>
              <a:chOff x="2616200" y="2165350"/>
              <a:chExt cx="6959600" cy="2527300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2616200" y="2165350"/>
                <a:ext cx="6959600" cy="25273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2705100" y="2247900"/>
                <a:ext cx="76200" cy="76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9436100" y="2235200"/>
                <a:ext cx="76200" cy="76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2667000" y="4559300"/>
                <a:ext cx="76200" cy="76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423400" y="4546600"/>
                <a:ext cx="76200" cy="76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7" name="矩形 36"/>
            <p:cNvSpPr/>
            <p:nvPr/>
          </p:nvSpPr>
          <p:spPr>
            <a:xfrm>
              <a:off x="3937000" y="2165350"/>
              <a:ext cx="4432300" cy="25273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781300" y="2362200"/>
              <a:ext cx="6604000" cy="2127250"/>
            </a:xfrm>
            <a:prstGeom prst="rect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梯形 37"/>
            <p:cNvSpPr/>
            <p:nvPr/>
          </p:nvSpPr>
          <p:spPr>
            <a:xfrm rot="16200000">
              <a:off x="3148007" y="3405181"/>
              <a:ext cx="1425575" cy="152397"/>
            </a:xfrm>
            <a:prstGeom prst="trapezoid">
              <a:avLst>
                <a:gd name="adj" fmla="val 65909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梯形 38"/>
            <p:cNvSpPr/>
            <p:nvPr/>
          </p:nvSpPr>
          <p:spPr>
            <a:xfrm rot="5400000">
              <a:off x="7732704" y="3405181"/>
              <a:ext cx="1425575" cy="152397"/>
            </a:xfrm>
            <a:prstGeom prst="trapezoid">
              <a:avLst>
                <a:gd name="adj" fmla="val 65909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854451" y="3316286"/>
              <a:ext cx="76198" cy="3302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385462" y="3316286"/>
              <a:ext cx="76198" cy="3302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123" name="文本框 41"/>
          <p:cNvSpPr txBox="1"/>
          <p:nvPr/>
        </p:nvSpPr>
        <p:spPr>
          <a:xfrm>
            <a:off x="3968750" y="3013393"/>
            <a:ext cx="4538663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4800" b="1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HR Analysis</a:t>
            </a:r>
            <a:endParaRPr lang="zh-CN" altLang="en-US" sz="4800" b="1" dirty="0">
              <a:solidFill>
                <a:srgbClr val="26262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Picture 1" descr="H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50190"/>
            <a:ext cx="2851785" cy="1504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122" name="组合 16"/>
          <p:cNvGrpSpPr/>
          <p:nvPr/>
        </p:nvGrpSpPr>
        <p:grpSpPr>
          <a:xfrm>
            <a:off x="152400" y="115888"/>
            <a:ext cx="1079500" cy="1128712"/>
            <a:chOff x="177800" y="-107950"/>
            <a:chExt cx="1403350" cy="1466850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25" name="组合 17"/>
          <p:cNvGrpSpPr/>
          <p:nvPr/>
        </p:nvGrpSpPr>
        <p:grpSpPr>
          <a:xfrm rot="5400000">
            <a:off x="10909300" y="117475"/>
            <a:ext cx="1079500" cy="1127125"/>
            <a:chOff x="177800" y="-107950"/>
            <a:chExt cx="1403350" cy="146685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28" name="组合 20"/>
          <p:cNvGrpSpPr/>
          <p:nvPr/>
        </p:nvGrpSpPr>
        <p:grpSpPr>
          <a:xfrm rot="-5400000">
            <a:off x="176213" y="5551488"/>
            <a:ext cx="1079500" cy="1128712"/>
            <a:chOff x="177800" y="-107950"/>
            <a:chExt cx="1403350" cy="146685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31" name="组合 23"/>
          <p:cNvGrpSpPr/>
          <p:nvPr/>
        </p:nvGrpSpPr>
        <p:grpSpPr>
          <a:xfrm rot="10800000">
            <a:off x="10885488" y="5610225"/>
            <a:ext cx="1079500" cy="1128713"/>
            <a:chOff x="177800" y="-107950"/>
            <a:chExt cx="1403350" cy="146685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177800" y="13589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16200000">
              <a:off x="901700" y="571500"/>
              <a:ext cx="1358900" cy="0"/>
            </a:xfrm>
            <a:prstGeom prst="line">
              <a:avLst/>
            </a:prstGeom>
            <a:ln>
              <a:solidFill>
                <a:schemeClr val="bg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34" name="组合 8"/>
          <p:cNvGrpSpPr/>
          <p:nvPr/>
        </p:nvGrpSpPr>
        <p:grpSpPr>
          <a:xfrm>
            <a:off x="3359150" y="1846263"/>
            <a:ext cx="5397500" cy="508000"/>
            <a:chOff x="2362200" y="1782465"/>
            <a:chExt cx="5397500" cy="508000"/>
          </a:xfrm>
        </p:grpSpPr>
        <p:sp>
          <p:nvSpPr>
            <p:cNvPr id="5135" name="文本框 44"/>
            <p:cNvSpPr txBox="1"/>
            <p:nvPr/>
          </p:nvSpPr>
          <p:spPr>
            <a:xfrm>
              <a:off x="4362450" y="1803400"/>
              <a:ext cx="32766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Abdelrahman Aly</a:t>
              </a:r>
              <a:endPara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2362200" y="1782465"/>
              <a:ext cx="1714500" cy="50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37" name="文本框 58"/>
            <p:cNvSpPr txBox="1"/>
            <p:nvPr/>
          </p:nvSpPr>
          <p:spPr>
            <a:xfrm>
              <a:off x="2362835" y="1803420"/>
              <a:ext cx="17145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rgbClr val="26262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Member1</a:t>
              </a:r>
              <a:endParaRPr lang="en-US" altLang="zh-CN" sz="2400" b="1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4241800" y="1782465"/>
              <a:ext cx="3517900" cy="50800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39" name="组合 60"/>
          <p:cNvGrpSpPr/>
          <p:nvPr/>
        </p:nvGrpSpPr>
        <p:grpSpPr>
          <a:xfrm>
            <a:off x="3359150" y="2743200"/>
            <a:ext cx="5397500" cy="508000"/>
            <a:chOff x="2361565" y="1782465"/>
            <a:chExt cx="5398135" cy="508000"/>
          </a:xfrm>
        </p:grpSpPr>
        <p:sp>
          <p:nvSpPr>
            <p:cNvPr id="5140" name="文本框 61"/>
            <p:cNvSpPr txBox="1"/>
            <p:nvPr/>
          </p:nvSpPr>
          <p:spPr>
            <a:xfrm>
              <a:off x="4362450" y="1803400"/>
              <a:ext cx="32766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Moaz Mohamed</a:t>
              </a:r>
              <a:endPara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2362200" y="1782465"/>
              <a:ext cx="1714500" cy="50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2" name="文本框 63"/>
            <p:cNvSpPr txBox="1"/>
            <p:nvPr/>
          </p:nvSpPr>
          <p:spPr>
            <a:xfrm>
              <a:off x="2361565" y="1803420"/>
              <a:ext cx="171577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rgbClr val="26262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Member2</a:t>
              </a:r>
              <a:endParaRPr lang="en-US" altLang="zh-CN" sz="2400" b="1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4241800" y="1782465"/>
              <a:ext cx="3517900" cy="50800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44" name="组合 65"/>
          <p:cNvGrpSpPr/>
          <p:nvPr/>
        </p:nvGrpSpPr>
        <p:grpSpPr>
          <a:xfrm>
            <a:off x="3359150" y="3640138"/>
            <a:ext cx="5397500" cy="508000"/>
            <a:chOff x="2361565" y="1782465"/>
            <a:chExt cx="5398135" cy="508000"/>
          </a:xfrm>
        </p:grpSpPr>
        <p:sp>
          <p:nvSpPr>
            <p:cNvPr id="5145" name="文本框 66"/>
            <p:cNvSpPr txBox="1"/>
            <p:nvPr/>
          </p:nvSpPr>
          <p:spPr>
            <a:xfrm>
              <a:off x="4362450" y="1803400"/>
              <a:ext cx="32766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Mohamed Dowy</a:t>
              </a:r>
              <a:endPara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362200" y="1782465"/>
              <a:ext cx="1714500" cy="50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7" name="文本框 68"/>
            <p:cNvSpPr txBox="1"/>
            <p:nvPr/>
          </p:nvSpPr>
          <p:spPr>
            <a:xfrm>
              <a:off x="2361565" y="1803420"/>
              <a:ext cx="1715135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rgbClr val="26262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Member3</a:t>
              </a:r>
              <a:endParaRPr lang="en-US" altLang="zh-CN" sz="2400" b="1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4241800" y="1782465"/>
              <a:ext cx="3517900" cy="50800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49" name="组合 70"/>
          <p:cNvGrpSpPr/>
          <p:nvPr/>
        </p:nvGrpSpPr>
        <p:grpSpPr>
          <a:xfrm>
            <a:off x="3359150" y="4538663"/>
            <a:ext cx="5397500" cy="508000"/>
            <a:chOff x="2361565" y="1782465"/>
            <a:chExt cx="5398135" cy="508000"/>
          </a:xfrm>
        </p:grpSpPr>
        <p:sp>
          <p:nvSpPr>
            <p:cNvPr id="5150" name="文本框 71"/>
            <p:cNvSpPr txBox="1"/>
            <p:nvPr/>
          </p:nvSpPr>
          <p:spPr>
            <a:xfrm>
              <a:off x="4362450" y="1803400"/>
              <a:ext cx="32766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Seif Atef Taha </a:t>
              </a:r>
              <a:endPara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2362200" y="1782465"/>
              <a:ext cx="1714500" cy="50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52" name="文本框 73"/>
            <p:cNvSpPr txBox="1"/>
            <p:nvPr/>
          </p:nvSpPr>
          <p:spPr>
            <a:xfrm>
              <a:off x="2361565" y="1803420"/>
              <a:ext cx="17145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 b="1" dirty="0">
                  <a:solidFill>
                    <a:srgbClr val="26262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Member4</a:t>
              </a:r>
              <a:endParaRPr lang="en-US" altLang="zh-CN" sz="2400" b="1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241800" y="1782465"/>
              <a:ext cx="3517900" cy="50800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椭圆 9"/>
          <p:cNvSpPr/>
          <p:nvPr/>
        </p:nvSpPr>
        <p:spPr>
          <a:xfrm>
            <a:off x="1116013" y="1157288"/>
            <a:ext cx="165100" cy="165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10826750" y="1157288"/>
            <a:ext cx="165100" cy="165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1141413" y="5538788"/>
            <a:ext cx="165100" cy="165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10826750" y="5538788"/>
            <a:ext cx="165100" cy="165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06513" y="1322388"/>
            <a:ext cx="1944688" cy="698500"/>
          </a:xfrm>
          <a:prstGeom prst="line">
            <a:avLst/>
          </a:prstGeom>
          <a:ln>
            <a:solidFill>
              <a:schemeClr val="bg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V="1">
            <a:off x="1385888" y="4959350"/>
            <a:ext cx="1865313" cy="600075"/>
          </a:xfrm>
          <a:prstGeom prst="line">
            <a:avLst/>
          </a:prstGeom>
          <a:ln>
            <a:solidFill>
              <a:schemeClr val="bg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H="1">
            <a:off x="8840788" y="1308100"/>
            <a:ext cx="1944688" cy="698500"/>
          </a:xfrm>
          <a:prstGeom prst="line">
            <a:avLst/>
          </a:prstGeom>
          <a:ln>
            <a:solidFill>
              <a:schemeClr val="bg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 flipV="1">
            <a:off x="8921750" y="4945063"/>
            <a:ext cx="1863725" cy="598488"/>
          </a:xfrm>
          <a:prstGeom prst="line">
            <a:avLst/>
          </a:prstGeom>
          <a:ln>
            <a:solidFill>
              <a:schemeClr val="bg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文本框 3"/>
          <p:cNvSpPr txBox="1"/>
          <p:nvPr/>
        </p:nvSpPr>
        <p:spPr>
          <a:xfrm>
            <a:off x="228600" y="190500"/>
            <a:ext cx="2654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Introduction:-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1" name="图片占位符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9180" y="928688"/>
            <a:ext cx="2416175" cy="1447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图片占位符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318" y="3282950"/>
            <a:ext cx="2416175" cy="1449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Rectangle 33"/>
          <p:cNvSpPr/>
          <p:nvPr/>
        </p:nvSpPr>
        <p:spPr>
          <a:xfrm>
            <a:off x="1270318" y="3282950"/>
            <a:ext cx="2414588" cy="1446213"/>
          </a:xfrm>
          <a:prstGeom prst="rect">
            <a:avLst/>
          </a:prstGeom>
          <a:solidFill>
            <a:srgbClr val="FFC0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4"/>
          <p:cNvSpPr/>
          <p:nvPr/>
        </p:nvSpPr>
        <p:spPr>
          <a:xfrm>
            <a:off x="8677593" y="928688"/>
            <a:ext cx="2417763" cy="1444625"/>
          </a:xfrm>
          <a:prstGeom prst="rect">
            <a:avLst/>
          </a:prstGeom>
          <a:solidFill>
            <a:srgbClr val="FFC0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5" name="图片占位符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18" y="933450"/>
            <a:ext cx="2416175" cy="2298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6" name="图片占位符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180" y="2433638"/>
            <a:ext cx="2416175" cy="2298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7" name="图片占位符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880" y="933450"/>
            <a:ext cx="2417763" cy="1703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8" name="图片占位符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8880" y="2686050"/>
            <a:ext cx="2417763" cy="2046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9" name="图片占位符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030" y="931863"/>
            <a:ext cx="2416175" cy="204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80" name="图片占位符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9030" y="3025775"/>
            <a:ext cx="2416175" cy="17033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4" name="组合 43"/>
          <p:cNvGrpSpPr/>
          <p:nvPr/>
        </p:nvGrpSpPr>
        <p:grpSpPr>
          <a:xfrm>
            <a:off x="9461529" y="1225767"/>
            <a:ext cx="849601" cy="849587"/>
            <a:chOff x="-753453" y="3169818"/>
            <a:chExt cx="203200" cy="203200"/>
          </a:xfrm>
          <a:solidFill>
            <a:schemeClr val="bg1"/>
          </a:solidFill>
        </p:grpSpPr>
        <p:sp>
          <p:nvSpPr>
            <p:cNvPr id="45" name="Freeform 75"/>
            <p:cNvSpPr>
              <a:spLocks noEditPoints="1"/>
            </p:cNvSpPr>
            <p:nvPr/>
          </p:nvSpPr>
          <p:spPr bwMode="auto">
            <a:xfrm>
              <a:off x="-753453" y="3169818"/>
              <a:ext cx="203200" cy="203200"/>
            </a:xfrm>
            <a:custGeom>
              <a:avLst/>
              <a:gdLst>
                <a:gd name="T0" fmla="*/ 239 w 288"/>
                <a:gd name="T1" fmla="*/ 102 h 288"/>
                <a:gd name="T2" fmla="*/ 245 w 288"/>
                <a:gd name="T3" fmla="*/ 108 h 288"/>
                <a:gd name="T4" fmla="*/ 243 w 288"/>
                <a:gd name="T5" fmla="*/ 116 h 288"/>
                <a:gd name="T6" fmla="*/ 240 w 288"/>
                <a:gd name="T7" fmla="*/ 201 h 288"/>
                <a:gd name="T8" fmla="*/ 240 w 288"/>
                <a:gd name="T9" fmla="*/ 197 h 288"/>
                <a:gd name="T10" fmla="*/ 28 w 288"/>
                <a:gd name="T11" fmla="*/ 144 h 288"/>
                <a:gd name="T12" fmla="*/ 48 w 288"/>
                <a:gd name="T13" fmla="*/ 120 h 288"/>
                <a:gd name="T14" fmla="*/ 55 w 288"/>
                <a:gd name="T15" fmla="*/ 125 h 288"/>
                <a:gd name="T16" fmla="*/ 73 w 288"/>
                <a:gd name="T17" fmla="*/ 147 h 288"/>
                <a:gd name="T18" fmla="*/ 98 w 288"/>
                <a:gd name="T19" fmla="*/ 162 h 288"/>
                <a:gd name="T20" fmla="*/ 98 w 288"/>
                <a:gd name="T21" fmla="*/ 183 h 288"/>
                <a:gd name="T22" fmla="*/ 107 w 288"/>
                <a:gd name="T23" fmla="*/ 228 h 288"/>
                <a:gd name="T24" fmla="*/ 112 w 288"/>
                <a:gd name="T25" fmla="*/ 254 h 288"/>
                <a:gd name="T26" fmla="*/ 115 w 288"/>
                <a:gd name="T27" fmla="*/ 244 h 288"/>
                <a:gd name="T28" fmla="*/ 124 w 288"/>
                <a:gd name="T29" fmla="*/ 233 h 288"/>
                <a:gd name="T30" fmla="*/ 136 w 288"/>
                <a:gd name="T31" fmla="*/ 220 h 288"/>
                <a:gd name="T32" fmla="*/ 148 w 288"/>
                <a:gd name="T33" fmla="*/ 203 h 288"/>
                <a:gd name="T34" fmla="*/ 146 w 288"/>
                <a:gd name="T35" fmla="*/ 178 h 288"/>
                <a:gd name="T36" fmla="*/ 135 w 288"/>
                <a:gd name="T37" fmla="*/ 171 h 288"/>
                <a:gd name="T38" fmla="*/ 125 w 288"/>
                <a:gd name="T39" fmla="*/ 162 h 288"/>
                <a:gd name="T40" fmla="*/ 115 w 288"/>
                <a:gd name="T41" fmla="*/ 158 h 288"/>
                <a:gd name="T42" fmla="*/ 104 w 288"/>
                <a:gd name="T43" fmla="*/ 157 h 288"/>
                <a:gd name="T44" fmla="*/ 92 w 288"/>
                <a:gd name="T45" fmla="*/ 149 h 288"/>
                <a:gd name="T46" fmla="*/ 89 w 288"/>
                <a:gd name="T47" fmla="*/ 140 h 288"/>
                <a:gd name="T48" fmla="*/ 78 w 288"/>
                <a:gd name="T49" fmla="*/ 142 h 288"/>
                <a:gd name="T50" fmla="*/ 86 w 288"/>
                <a:gd name="T51" fmla="*/ 126 h 288"/>
                <a:gd name="T52" fmla="*/ 97 w 288"/>
                <a:gd name="T53" fmla="*/ 125 h 288"/>
                <a:gd name="T54" fmla="*/ 111 w 288"/>
                <a:gd name="T55" fmla="*/ 105 h 288"/>
                <a:gd name="T56" fmla="*/ 118 w 288"/>
                <a:gd name="T57" fmla="*/ 104 h 288"/>
                <a:gd name="T58" fmla="*/ 109 w 288"/>
                <a:gd name="T59" fmla="*/ 101 h 288"/>
                <a:gd name="T60" fmla="*/ 124 w 288"/>
                <a:gd name="T61" fmla="*/ 89 h 288"/>
                <a:gd name="T62" fmla="*/ 114 w 288"/>
                <a:gd name="T63" fmla="*/ 82 h 288"/>
                <a:gd name="T64" fmla="*/ 100 w 288"/>
                <a:gd name="T65" fmla="*/ 81 h 288"/>
                <a:gd name="T66" fmla="*/ 97 w 288"/>
                <a:gd name="T67" fmla="*/ 93 h 288"/>
                <a:gd name="T68" fmla="*/ 83 w 288"/>
                <a:gd name="T69" fmla="*/ 84 h 288"/>
                <a:gd name="T70" fmla="*/ 89 w 288"/>
                <a:gd name="T71" fmla="*/ 74 h 288"/>
                <a:gd name="T72" fmla="*/ 93 w 288"/>
                <a:gd name="T73" fmla="*/ 65 h 288"/>
                <a:gd name="T74" fmla="*/ 83 w 288"/>
                <a:gd name="T75" fmla="*/ 63 h 288"/>
                <a:gd name="T76" fmla="*/ 74 w 288"/>
                <a:gd name="T77" fmla="*/ 68 h 288"/>
                <a:gd name="T78" fmla="*/ 72 w 288"/>
                <a:gd name="T79" fmla="*/ 65 h 288"/>
                <a:gd name="T80" fmla="*/ 233 w 288"/>
                <a:gd name="T81" fmla="*/ 70 h 288"/>
                <a:gd name="T82" fmla="*/ 222 w 288"/>
                <a:gd name="T83" fmla="*/ 70 h 288"/>
                <a:gd name="T84" fmla="*/ 197 w 288"/>
                <a:gd name="T85" fmla="*/ 69 h 288"/>
                <a:gd name="T86" fmla="*/ 194 w 288"/>
                <a:gd name="T87" fmla="*/ 82 h 288"/>
                <a:gd name="T88" fmla="*/ 188 w 288"/>
                <a:gd name="T89" fmla="*/ 92 h 288"/>
                <a:gd name="T90" fmla="*/ 180 w 288"/>
                <a:gd name="T91" fmla="*/ 97 h 288"/>
                <a:gd name="T92" fmla="*/ 176 w 288"/>
                <a:gd name="T93" fmla="*/ 105 h 288"/>
                <a:gd name="T94" fmla="*/ 182 w 288"/>
                <a:gd name="T95" fmla="*/ 113 h 288"/>
                <a:gd name="T96" fmla="*/ 200 w 288"/>
                <a:gd name="T97" fmla="*/ 115 h 288"/>
                <a:gd name="T98" fmla="*/ 195 w 288"/>
                <a:gd name="T99" fmla="*/ 103 h 288"/>
                <a:gd name="T100" fmla="*/ 209 w 288"/>
                <a:gd name="T101" fmla="*/ 114 h 288"/>
                <a:gd name="T102" fmla="*/ 225 w 288"/>
                <a:gd name="T103" fmla="*/ 116 h 288"/>
                <a:gd name="T104" fmla="*/ 226 w 288"/>
                <a:gd name="T105" fmla="*/ 134 h 288"/>
                <a:gd name="T106" fmla="*/ 245 w 288"/>
                <a:gd name="T107" fmla="*/ 150 h 288"/>
                <a:gd name="T108" fmla="*/ 250 w 288"/>
                <a:gd name="T109" fmla="*/ 135 h 288"/>
                <a:gd name="T110" fmla="*/ 243 w 288"/>
                <a:gd name="T111" fmla="*/ 135 h 288"/>
                <a:gd name="T112" fmla="*/ 255 w 288"/>
                <a:gd name="T113" fmla="*/ 134 h 288"/>
                <a:gd name="T114" fmla="*/ 221 w 288"/>
                <a:gd name="T115" fmla="*/ 103 h 288"/>
                <a:gd name="T116" fmla="*/ 225 w 288"/>
                <a:gd name="T117" fmla="*/ 10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224"/>
                    <a:pt x="65" y="288"/>
                    <a:pt x="144" y="288"/>
                  </a:cubicBezTo>
                  <a:cubicBezTo>
                    <a:pt x="224" y="288"/>
                    <a:pt x="288" y="22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  <a:moveTo>
                    <a:pt x="239" y="102"/>
                  </a:moveTo>
                  <a:cubicBezTo>
                    <a:pt x="241" y="102"/>
                    <a:pt x="242" y="101"/>
                    <a:pt x="243" y="100"/>
                  </a:cubicBezTo>
                  <a:cubicBezTo>
                    <a:pt x="246" y="100"/>
                    <a:pt x="245" y="101"/>
                    <a:pt x="246" y="103"/>
                  </a:cubicBezTo>
                  <a:cubicBezTo>
                    <a:pt x="247" y="103"/>
                    <a:pt x="245" y="103"/>
                    <a:pt x="245" y="103"/>
                  </a:cubicBezTo>
                  <a:cubicBezTo>
                    <a:pt x="243" y="104"/>
                    <a:pt x="244" y="103"/>
                    <a:pt x="243" y="103"/>
                  </a:cubicBezTo>
                  <a:cubicBezTo>
                    <a:pt x="242" y="104"/>
                    <a:pt x="243" y="106"/>
                    <a:pt x="243" y="106"/>
                  </a:cubicBezTo>
                  <a:cubicBezTo>
                    <a:pt x="244" y="107"/>
                    <a:pt x="245" y="106"/>
                    <a:pt x="245" y="108"/>
                  </a:cubicBezTo>
                  <a:cubicBezTo>
                    <a:pt x="244" y="110"/>
                    <a:pt x="246" y="108"/>
                    <a:pt x="246" y="108"/>
                  </a:cubicBezTo>
                  <a:cubicBezTo>
                    <a:pt x="246" y="109"/>
                    <a:pt x="248" y="110"/>
                    <a:pt x="248" y="111"/>
                  </a:cubicBezTo>
                  <a:cubicBezTo>
                    <a:pt x="247" y="111"/>
                    <a:pt x="246" y="111"/>
                    <a:pt x="246" y="111"/>
                  </a:cubicBezTo>
                  <a:cubicBezTo>
                    <a:pt x="246" y="112"/>
                    <a:pt x="246" y="112"/>
                    <a:pt x="246" y="113"/>
                  </a:cubicBezTo>
                  <a:cubicBezTo>
                    <a:pt x="247" y="113"/>
                    <a:pt x="245" y="116"/>
                    <a:pt x="247" y="116"/>
                  </a:cubicBezTo>
                  <a:cubicBezTo>
                    <a:pt x="247" y="118"/>
                    <a:pt x="244" y="117"/>
                    <a:pt x="243" y="116"/>
                  </a:cubicBezTo>
                  <a:cubicBezTo>
                    <a:pt x="240" y="115"/>
                    <a:pt x="242" y="113"/>
                    <a:pt x="242" y="111"/>
                  </a:cubicBezTo>
                  <a:cubicBezTo>
                    <a:pt x="242" y="108"/>
                    <a:pt x="239" y="108"/>
                    <a:pt x="239" y="106"/>
                  </a:cubicBezTo>
                  <a:cubicBezTo>
                    <a:pt x="238" y="106"/>
                    <a:pt x="239" y="103"/>
                    <a:pt x="239" y="102"/>
                  </a:cubicBezTo>
                  <a:close/>
                  <a:moveTo>
                    <a:pt x="238" y="212"/>
                  </a:moveTo>
                  <a:cubicBezTo>
                    <a:pt x="239" y="210"/>
                    <a:pt x="238" y="206"/>
                    <a:pt x="239" y="206"/>
                  </a:cubicBezTo>
                  <a:cubicBezTo>
                    <a:pt x="239" y="205"/>
                    <a:pt x="240" y="203"/>
                    <a:pt x="240" y="201"/>
                  </a:cubicBezTo>
                  <a:cubicBezTo>
                    <a:pt x="240" y="201"/>
                    <a:pt x="241" y="201"/>
                    <a:pt x="241" y="201"/>
                  </a:cubicBezTo>
                  <a:cubicBezTo>
                    <a:pt x="241" y="201"/>
                    <a:pt x="241" y="199"/>
                    <a:pt x="242" y="199"/>
                  </a:cubicBezTo>
                  <a:cubicBezTo>
                    <a:pt x="242" y="198"/>
                    <a:pt x="244" y="197"/>
                    <a:pt x="243" y="196"/>
                  </a:cubicBezTo>
                  <a:cubicBezTo>
                    <a:pt x="242" y="196"/>
                    <a:pt x="242" y="193"/>
                    <a:pt x="242" y="192"/>
                  </a:cubicBezTo>
                  <a:cubicBezTo>
                    <a:pt x="241" y="193"/>
                    <a:pt x="242" y="195"/>
                    <a:pt x="240" y="195"/>
                  </a:cubicBezTo>
                  <a:cubicBezTo>
                    <a:pt x="240" y="193"/>
                    <a:pt x="237" y="197"/>
                    <a:pt x="240" y="197"/>
                  </a:cubicBezTo>
                  <a:cubicBezTo>
                    <a:pt x="240" y="199"/>
                    <a:pt x="237" y="198"/>
                    <a:pt x="236" y="197"/>
                  </a:cubicBezTo>
                  <a:cubicBezTo>
                    <a:pt x="236" y="198"/>
                    <a:pt x="235" y="199"/>
                    <a:pt x="237" y="199"/>
                  </a:cubicBezTo>
                  <a:cubicBezTo>
                    <a:pt x="236" y="201"/>
                    <a:pt x="236" y="200"/>
                    <a:pt x="235" y="199"/>
                  </a:cubicBezTo>
                  <a:cubicBezTo>
                    <a:pt x="234" y="201"/>
                    <a:pt x="232" y="215"/>
                    <a:pt x="237" y="213"/>
                  </a:cubicBezTo>
                  <a:cubicBezTo>
                    <a:pt x="216" y="242"/>
                    <a:pt x="182" y="260"/>
                    <a:pt x="144" y="260"/>
                  </a:cubicBezTo>
                  <a:cubicBezTo>
                    <a:pt x="80" y="260"/>
                    <a:pt x="28" y="208"/>
                    <a:pt x="28" y="144"/>
                  </a:cubicBezTo>
                  <a:cubicBezTo>
                    <a:pt x="28" y="127"/>
                    <a:pt x="32" y="110"/>
                    <a:pt x="39" y="95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43" y="98"/>
                    <a:pt x="43" y="102"/>
                    <a:pt x="43" y="106"/>
                  </a:cubicBezTo>
                  <a:cubicBezTo>
                    <a:pt x="42" y="108"/>
                    <a:pt x="43" y="110"/>
                    <a:pt x="43" y="112"/>
                  </a:cubicBezTo>
                  <a:cubicBezTo>
                    <a:pt x="44" y="113"/>
                    <a:pt x="46" y="116"/>
                    <a:pt x="46" y="116"/>
                  </a:cubicBezTo>
                  <a:cubicBezTo>
                    <a:pt x="46" y="116"/>
                    <a:pt x="48" y="119"/>
                    <a:pt x="48" y="120"/>
                  </a:cubicBezTo>
                  <a:cubicBezTo>
                    <a:pt x="51" y="120"/>
                    <a:pt x="52" y="121"/>
                    <a:pt x="52" y="123"/>
                  </a:cubicBezTo>
                  <a:cubicBezTo>
                    <a:pt x="52" y="123"/>
                    <a:pt x="53" y="127"/>
                    <a:pt x="54" y="127"/>
                  </a:cubicBezTo>
                  <a:cubicBezTo>
                    <a:pt x="54" y="128"/>
                    <a:pt x="56" y="132"/>
                    <a:pt x="56" y="132"/>
                  </a:cubicBezTo>
                  <a:cubicBezTo>
                    <a:pt x="56" y="135"/>
                    <a:pt x="64" y="140"/>
                    <a:pt x="60" y="133"/>
                  </a:cubicBezTo>
                  <a:cubicBezTo>
                    <a:pt x="59" y="132"/>
                    <a:pt x="57" y="129"/>
                    <a:pt x="57" y="129"/>
                  </a:cubicBezTo>
                  <a:cubicBezTo>
                    <a:pt x="57" y="127"/>
                    <a:pt x="54" y="126"/>
                    <a:pt x="55" y="125"/>
                  </a:cubicBezTo>
                  <a:cubicBezTo>
                    <a:pt x="55" y="123"/>
                    <a:pt x="58" y="127"/>
                    <a:pt x="58" y="128"/>
                  </a:cubicBezTo>
                  <a:cubicBezTo>
                    <a:pt x="58" y="128"/>
                    <a:pt x="59" y="130"/>
                    <a:pt x="59" y="130"/>
                  </a:cubicBezTo>
                  <a:cubicBezTo>
                    <a:pt x="60" y="130"/>
                    <a:pt x="63" y="133"/>
                    <a:pt x="63" y="134"/>
                  </a:cubicBezTo>
                  <a:cubicBezTo>
                    <a:pt x="65" y="134"/>
                    <a:pt x="66" y="139"/>
                    <a:pt x="66" y="140"/>
                  </a:cubicBezTo>
                  <a:cubicBezTo>
                    <a:pt x="66" y="141"/>
                    <a:pt x="67" y="144"/>
                    <a:pt x="68" y="144"/>
                  </a:cubicBezTo>
                  <a:cubicBezTo>
                    <a:pt x="69" y="146"/>
                    <a:pt x="72" y="145"/>
                    <a:pt x="73" y="147"/>
                  </a:cubicBezTo>
                  <a:cubicBezTo>
                    <a:pt x="75" y="147"/>
                    <a:pt x="77" y="148"/>
                    <a:pt x="79" y="148"/>
                  </a:cubicBezTo>
                  <a:cubicBezTo>
                    <a:pt x="81" y="148"/>
                    <a:pt x="82" y="150"/>
                    <a:pt x="83" y="150"/>
                  </a:cubicBezTo>
                  <a:cubicBezTo>
                    <a:pt x="84" y="151"/>
                    <a:pt x="84" y="151"/>
                    <a:pt x="84" y="151"/>
                  </a:cubicBezTo>
                  <a:cubicBezTo>
                    <a:pt x="86" y="151"/>
                    <a:pt x="91" y="154"/>
                    <a:pt x="90" y="156"/>
                  </a:cubicBezTo>
                  <a:cubicBezTo>
                    <a:pt x="91" y="156"/>
                    <a:pt x="93" y="158"/>
                    <a:pt x="93" y="159"/>
                  </a:cubicBezTo>
                  <a:cubicBezTo>
                    <a:pt x="93" y="162"/>
                    <a:pt x="97" y="162"/>
                    <a:pt x="98" y="162"/>
                  </a:cubicBezTo>
                  <a:cubicBezTo>
                    <a:pt x="99" y="158"/>
                    <a:pt x="101" y="162"/>
                    <a:pt x="101" y="164"/>
                  </a:cubicBezTo>
                  <a:cubicBezTo>
                    <a:pt x="101" y="165"/>
                    <a:pt x="101" y="167"/>
                    <a:pt x="101" y="168"/>
                  </a:cubicBezTo>
                  <a:cubicBezTo>
                    <a:pt x="103" y="168"/>
                    <a:pt x="101" y="171"/>
                    <a:pt x="100" y="169"/>
                  </a:cubicBezTo>
                  <a:cubicBezTo>
                    <a:pt x="99" y="170"/>
                    <a:pt x="99" y="170"/>
                    <a:pt x="99" y="171"/>
                  </a:cubicBezTo>
                  <a:cubicBezTo>
                    <a:pt x="98" y="171"/>
                    <a:pt x="96" y="177"/>
                    <a:pt x="98" y="177"/>
                  </a:cubicBezTo>
                  <a:cubicBezTo>
                    <a:pt x="98" y="180"/>
                    <a:pt x="95" y="181"/>
                    <a:pt x="98" y="183"/>
                  </a:cubicBezTo>
                  <a:cubicBezTo>
                    <a:pt x="98" y="183"/>
                    <a:pt x="102" y="189"/>
                    <a:pt x="102" y="189"/>
                  </a:cubicBezTo>
                  <a:cubicBezTo>
                    <a:pt x="102" y="191"/>
                    <a:pt x="102" y="192"/>
                    <a:pt x="103" y="193"/>
                  </a:cubicBezTo>
                  <a:cubicBezTo>
                    <a:pt x="103" y="195"/>
                    <a:pt x="105" y="199"/>
                    <a:pt x="107" y="199"/>
                  </a:cubicBezTo>
                  <a:cubicBezTo>
                    <a:pt x="107" y="199"/>
                    <a:pt x="110" y="202"/>
                    <a:pt x="110" y="202"/>
                  </a:cubicBezTo>
                  <a:cubicBezTo>
                    <a:pt x="111" y="207"/>
                    <a:pt x="109" y="210"/>
                    <a:pt x="109" y="216"/>
                  </a:cubicBezTo>
                  <a:cubicBezTo>
                    <a:pt x="108" y="216"/>
                    <a:pt x="109" y="227"/>
                    <a:pt x="107" y="228"/>
                  </a:cubicBezTo>
                  <a:cubicBezTo>
                    <a:pt x="107" y="230"/>
                    <a:pt x="105" y="231"/>
                    <a:pt x="106" y="232"/>
                  </a:cubicBezTo>
                  <a:cubicBezTo>
                    <a:pt x="106" y="234"/>
                    <a:pt x="106" y="236"/>
                    <a:pt x="106" y="237"/>
                  </a:cubicBezTo>
                  <a:cubicBezTo>
                    <a:pt x="106" y="237"/>
                    <a:pt x="105" y="240"/>
                    <a:pt x="105" y="240"/>
                  </a:cubicBezTo>
                  <a:cubicBezTo>
                    <a:pt x="104" y="240"/>
                    <a:pt x="104" y="250"/>
                    <a:pt x="104" y="253"/>
                  </a:cubicBezTo>
                  <a:cubicBezTo>
                    <a:pt x="107" y="254"/>
                    <a:pt x="110" y="255"/>
                    <a:pt x="113" y="256"/>
                  </a:cubicBezTo>
                  <a:cubicBezTo>
                    <a:pt x="113" y="256"/>
                    <a:pt x="112" y="255"/>
                    <a:pt x="112" y="254"/>
                  </a:cubicBezTo>
                  <a:cubicBezTo>
                    <a:pt x="111" y="254"/>
                    <a:pt x="112" y="251"/>
                    <a:pt x="114" y="251"/>
                  </a:cubicBezTo>
                  <a:cubicBezTo>
                    <a:pt x="114" y="249"/>
                    <a:pt x="115" y="249"/>
                    <a:pt x="116" y="248"/>
                  </a:cubicBezTo>
                  <a:cubicBezTo>
                    <a:pt x="117" y="248"/>
                    <a:pt x="115" y="247"/>
                    <a:pt x="115" y="247"/>
                  </a:cubicBezTo>
                  <a:cubicBezTo>
                    <a:pt x="115" y="247"/>
                    <a:pt x="115" y="248"/>
                    <a:pt x="114" y="248"/>
                  </a:cubicBezTo>
                  <a:cubicBezTo>
                    <a:pt x="114" y="248"/>
                    <a:pt x="115" y="247"/>
                    <a:pt x="114" y="247"/>
                  </a:cubicBezTo>
                  <a:cubicBezTo>
                    <a:pt x="114" y="246"/>
                    <a:pt x="115" y="245"/>
                    <a:pt x="115" y="244"/>
                  </a:cubicBezTo>
                  <a:cubicBezTo>
                    <a:pt x="115" y="244"/>
                    <a:pt x="116" y="243"/>
                    <a:pt x="116" y="242"/>
                  </a:cubicBezTo>
                  <a:cubicBezTo>
                    <a:pt x="117" y="241"/>
                    <a:pt x="118" y="241"/>
                    <a:pt x="118" y="239"/>
                  </a:cubicBezTo>
                  <a:cubicBezTo>
                    <a:pt x="118" y="239"/>
                    <a:pt x="118" y="237"/>
                    <a:pt x="118" y="237"/>
                  </a:cubicBezTo>
                  <a:cubicBezTo>
                    <a:pt x="119" y="236"/>
                    <a:pt x="120" y="238"/>
                    <a:pt x="120" y="236"/>
                  </a:cubicBezTo>
                  <a:cubicBezTo>
                    <a:pt x="120" y="236"/>
                    <a:pt x="121" y="235"/>
                    <a:pt x="121" y="235"/>
                  </a:cubicBezTo>
                  <a:cubicBezTo>
                    <a:pt x="122" y="234"/>
                    <a:pt x="122" y="233"/>
                    <a:pt x="124" y="233"/>
                  </a:cubicBezTo>
                  <a:cubicBezTo>
                    <a:pt x="125" y="233"/>
                    <a:pt x="126" y="232"/>
                    <a:pt x="127" y="232"/>
                  </a:cubicBezTo>
                  <a:cubicBezTo>
                    <a:pt x="127" y="232"/>
                    <a:pt x="127" y="229"/>
                    <a:pt x="127" y="229"/>
                  </a:cubicBezTo>
                  <a:cubicBezTo>
                    <a:pt x="127" y="228"/>
                    <a:pt x="130" y="228"/>
                    <a:pt x="130" y="227"/>
                  </a:cubicBezTo>
                  <a:cubicBezTo>
                    <a:pt x="131" y="226"/>
                    <a:pt x="131" y="225"/>
                    <a:pt x="131" y="224"/>
                  </a:cubicBezTo>
                  <a:cubicBezTo>
                    <a:pt x="131" y="222"/>
                    <a:pt x="133" y="221"/>
                    <a:pt x="134" y="221"/>
                  </a:cubicBezTo>
                  <a:cubicBezTo>
                    <a:pt x="136" y="221"/>
                    <a:pt x="135" y="220"/>
                    <a:pt x="136" y="220"/>
                  </a:cubicBezTo>
                  <a:cubicBezTo>
                    <a:pt x="136" y="219"/>
                    <a:pt x="136" y="219"/>
                    <a:pt x="137" y="219"/>
                  </a:cubicBezTo>
                  <a:cubicBezTo>
                    <a:pt x="138" y="218"/>
                    <a:pt x="137" y="215"/>
                    <a:pt x="138" y="213"/>
                  </a:cubicBezTo>
                  <a:cubicBezTo>
                    <a:pt x="137" y="213"/>
                    <a:pt x="139" y="211"/>
                    <a:pt x="139" y="211"/>
                  </a:cubicBezTo>
                  <a:cubicBezTo>
                    <a:pt x="140" y="211"/>
                    <a:pt x="141" y="210"/>
                    <a:pt x="142" y="210"/>
                  </a:cubicBezTo>
                  <a:cubicBezTo>
                    <a:pt x="142" y="209"/>
                    <a:pt x="145" y="208"/>
                    <a:pt x="146" y="207"/>
                  </a:cubicBezTo>
                  <a:cubicBezTo>
                    <a:pt x="147" y="205"/>
                    <a:pt x="148" y="205"/>
                    <a:pt x="148" y="203"/>
                  </a:cubicBezTo>
                  <a:cubicBezTo>
                    <a:pt x="149" y="203"/>
                    <a:pt x="149" y="199"/>
                    <a:pt x="149" y="198"/>
                  </a:cubicBezTo>
                  <a:cubicBezTo>
                    <a:pt x="150" y="198"/>
                    <a:pt x="150" y="194"/>
                    <a:pt x="150" y="194"/>
                  </a:cubicBezTo>
                  <a:cubicBezTo>
                    <a:pt x="150" y="194"/>
                    <a:pt x="152" y="191"/>
                    <a:pt x="152" y="190"/>
                  </a:cubicBezTo>
                  <a:cubicBezTo>
                    <a:pt x="155" y="188"/>
                    <a:pt x="155" y="183"/>
                    <a:pt x="152" y="181"/>
                  </a:cubicBezTo>
                  <a:cubicBezTo>
                    <a:pt x="151" y="179"/>
                    <a:pt x="150" y="179"/>
                    <a:pt x="148" y="178"/>
                  </a:cubicBezTo>
                  <a:cubicBezTo>
                    <a:pt x="147" y="179"/>
                    <a:pt x="147" y="178"/>
                    <a:pt x="146" y="178"/>
                  </a:cubicBezTo>
                  <a:cubicBezTo>
                    <a:pt x="144" y="178"/>
                    <a:pt x="144" y="179"/>
                    <a:pt x="142" y="179"/>
                  </a:cubicBezTo>
                  <a:cubicBezTo>
                    <a:pt x="143" y="178"/>
                    <a:pt x="143" y="176"/>
                    <a:pt x="141" y="175"/>
                  </a:cubicBezTo>
                  <a:cubicBezTo>
                    <a:pt x="141" y="177"/>
                    <a:pt x="139" y="176"/>
                    <a:pt x="140" y="175"/>
                  </a:cubicBezTo>
                  <a:cubicBezTo>
                    <a:pt x="139" y="175"/>
                    <a:pt x="138" y="174"/>
                    <a:pt x="137" y="174"/>
                  </a:cubicBezTo>
                  <a:cubicBezTo>
                    <a:pt x="137" y="176"/>
                    <a:pt x="134" y="174"/>
                    <a:pt x="135" y="174"/>
                  </a:cubicBezTo>
                  <a:cubicBezTo>
                    <a:pt x="135" y="174"/>
                    <a:pt x="135" y="171"/>
                    <a:pt x="135" y="171"/>
                  </a:cubicBezTo>
                  <a:cubicBezTo>
                    <a:pt x="135" y="170"/>
                    <a:pt x="135" y="168"/>
                    <a:pt x="134" y="168"/>
                  </a:cubicBezTo>
                  <a:cubicBezTo>
                    <a:pt x="133" y="166"/>
                    <a:pt x="134" y="167"/>
                    <a:pt x="133" y="165"/>
                  </a:cubicBezTo>
                  <a:cubicBezTo>
                    <a:pt x="132" y="165"/>
                    <a:pt x="132" y="165"/>
                    <a:pt x="132" y="165"/>
                  </a:cubicBezTo>
                  <a:cubicBezTo>
                    <a:pt x="131" y="165"/>
                    <a:pt x="130" y="163"/>
                    <a:pt x="130" y="164"/>
                  </a:cubicBezTo>
                  <a:cubicBezTo>
                    <a:pt x="129" y="164"/>
                    <a:pt x="128" y="164"/>
                    <a:pt x="127" y="163"/>
                  </a:cubicBezTo>
                  <a:cubicBezTo>
                    <a:pt x="125" y="163"/>
                    <a:pt x="126" y="163"/>
                    <a:pt x="125" y="162"/>
                  </a:cubicBezTo>
                  <a:cubicBezTo>
                    <a:pt x="125" y="161"/>
                    <a:pt x="124" y="161"/>
                    <a:pt x="124" y="161"/>
                  </a:cubicBezTo>
                  <a:cubicBezTo>
                    <a:pt x="123" y="160"/>
                    <a:pt x="123" y="160"/>
                    <a:pt x="122" y="159"/>
                  </a:cubicBezTo>
                  <a:cubicBezTo>
                    <a:pt x="122" y="159"/>
                    <a:pt x="122" y="159"/>
                    <a:pt x="122" y="159"/>
                  </a:cubicBezTo>
                  <a:cubicBezTo>
                    <a:pt x="122" y="159"/>
                    <a:pt x="122" y="158"/>
                    <a:pt x="121" y="158"/>
                  </a:cubicBezTo>
                  <a:cubicBezTo>
                    <a:pt x="121" y="158"/>
                    <a:pt x="120" y="157"/>
                    <a:pt x="120" y="158"/>
                  </a:cubicBezTo>
                  <a:cubicBezTo>
                    <a:pt x="119" y="158"/>
                    <a:pt x="117" y="158"/>
                    <a:pt x="115" y="158"/>
                  </a:cubicBezTo>
                  <a:cubicBezTo>
                    <a:pt x="113" y="158"/>
                    <a:pt x="113" y="155"/>
                    <a:pt x="112" y="154"/>
                  </a:cubicBezTo>
                  <a:cubicBezTo>
                    <a:pt x="111" y="155"/>
                    <a:pt x="110" y="156"/>
                    <a:pt x="109" y="156"/>
                  </a:cubicBezTo>
                  <a:cubicBezTo>
                    <a:pt x="109" y="155"/>
                    <a:pt x="109" y="155"/>
                    <a:pt x="108" y="155"/>
                  </a:cubicBezTo>
                  <a:cubicBezTo>
                    <a:pt x="108" y="155"/>
                    <a:pt x="107" y="156"/>
                    <a:pt x="107" y="156"/>
                  </a:cubicBezTo>
                  <a:cubicBezTo>
                    <a:pt x="107" y="156"/>
                    <a:pt x="106" y="157"/>
                    <a:pt x="105" y="157"/>
                  </a:cubicBezTo>
                  <a:cubicBezTo>
                    <a:pt x="105" y="156"/>
                    <a:pt x="105" y="157"/>
                    <a:pt x="104" y="157"/>
                  </a:cubicBezTo>
                  <a:cubicBezTo>
                    <a:pt x="103" y="157"/>
                    <a:pt x="105" y="161"/>
                    <a:pt x="101" y="161"/>
                  </a:cubicBezTo>
                  <a:cubicBezTo>
                    <a:pt x="102" y="160"/>
                    <a:pt x="101" y="158"/>
                    <a:pt x="100" y="158"/>
                  </a:cubicBezTo>
                  <a:cubicBezTo>
                    <a:pt x="100" y="160"/>
                    <a:pt x="97" y="160"/>
                    <a:pt x="96" y="159"/>
                  </a:cubicBezTo>
                  <a:cubicBezTo>
                    <a:pt x="96" y="158"/>
                    <a:pt x="95" y="157"/>
                    <a:pt x="94" y="157"/>
                  </a:cubicBezTo>
                  <a:cubicBezTo>
                    <a:pt x="94" y="156"/>
                    <a:pt x="94" y="154"/>
                    <a:pt x="94" y="153"/>
                  </a:cubicBezTo>
                  <a:cubicBezTo>
                    <a:pt x="92" y="153"/>
                    <a:pt x="94" y="149"/>
                    <a:pt x="92" y="149"/>
                  </a:cubicBezTo>
                  <a:cubicBezTo>
                    <a:pt x="92" y="149"/>
                    <a:pt x="92" y="149"/>
                    <a:pt x="92" y="149"/>
                  </a:cubicBezTo>
                  <a:cubicBezTo>
                    <a:pt x="91" y="149"/>
                    <a:pt x="89" y="150"/>
                    <a:pt x="88" y="149"/>
                  </a:cubicBezTo>
                  <a:cubicBezTo>
                    <a:pt x="88" y="148"/>
                    <a:pt x="87" y="148"/>
                    <a:pt x="87" y="146"/>
                  </a:cubicBezTo>
                  <a:cubicBezTo>
                    <a:pt x="87" y="145"/>
                    <a:pt x="88" y="144"/>
                    <a:pt x="88" y="143"/>
                  </a:cubicBezTo>
                  <a:cubicBezTo>
                    <a:pt x="89" y="143"/>
                    <a:pt x="89" y="141"/>
                    <a:pt x="90" y="141"/>
                  </a:cubicBezTo>
                  <a:cubicBezTo>
                    <a:pt x="91" y="141"/>
                    <a:pt x="89" y="139"/>
                    <a:pt x="89" y="140"/>
                  </a:cubicBezTo>
                  <a:cubicBezTo>
                    <a:pt x="89" y="140"/>
                    <a:pt x="87" y="141"/>
                    <a:pt x="87" y="141"/>
                  </a:cubicBezTo>
                  <a:cubicBezTo>
                    <a:pt x="87" y="141"/>
                    <a:pt x="85" y="143"/>
                    <a:pt x="85" y="142"/>
                  </a:cubicBezTo>
                  <a:cubicBezTo>
                    <a:pt x="84" y="142"/>
                    <a:pt x="83" y="144"/>
                    <a:pt x="84" y="144"/>
                  </a:cubicBezTo>
                  <a:cubicBezTo>
                    <a:pt x="84" y="145"/>
                    <a:pt x="83" y="146"/>
                    <a:pt x="83" y="146"/>
                  </a:cubicBezTo>
                  <a:cubicBezTo>
                    <a:pt x="81" y="146"/>
                    <a:pt x="82" y="146"/>
                    <a:pt x="82" y="145"/>
                  </a:cubicBezTo>
                  <a:cubicBezTo>
                    <a:pt x="80" y="145"/>
                    <a:pt x="79" y="142"/>
                    <a:pt x="78" y="142"/>
                  </a:cubicBezTo>
                  <a:cubicBezTo>
                    <a:pt x="78" y="141"/>
                    <a:pt x="76" y="140"/>
                    <a:pt x="76" y="138"/>
                  </a:cubicBezTo>
                  <a:cubicBezTo>
                    <a:pt x="76" y="138"/>
                    <a:pt x="76" y="132"/>
                    <a:pt x="76" y="132"/>
                  </a:cubicBezTo>
                  <a:cubicBezTo>
                    <a:pt x="76" y="129"/>
                    <a:pt x="78" y="127"/>
                    <a:pt x="81" y="127"/>
                  </a:cubicBezTo>
                  <a:cubicBezTo>
                    <a:pt x="83" y="127"/>
                    <a:pt x="83" y="128"/>
                    <a:pt x="84" y="128"/>
                  </a:cubicBezTo>
                  <a:cubicBezTo>
                    <a:pt x="85" y="128"/>
                    <a:pt x="86" y="128"/>
                    <a:pt x="87" y="127"/>
                  </a:cubicBezTo>
                  <a:cubicBezTo>
                    <a:pt x="87" y="127"/>
                    <a:pt x="86" y="126"/>
                    <a:pt x="86" y="126"/>
                  </a:cubicBezTo>
                  <a:cubicBezTo>
                    <a:pt x="87" y="126"/>
                    <a:pt x="90" y="126"/>
                    <a:pt x="91" y="127"/>
                  </a:cubicBezTo>
                  <a:cubicBezTo>
                    <a:pt x="92" y="127"/>
                    <a:pt x="93" y="126"/>
                    <a:pt x="94" y="127"/>
                  </a:cubicBezTo>
                  <a:cubicBezTo>
                    <a:pt x="95" y="128"/>
                    <a:pt x="96" y="130"/>
                    <a:pt x="96" y="131"/>
                  </a:cubicBezTo>
                  <a:cubicBezTo>
                    <a:pt x="95" y="131"/>
                    <a:pt x="97" y="133"/>
                    <a:pt x="97" y="133"/>
                  </a:cubicBezTo>
                  <a:cubicBezTo>
                    <a:pt x="99" y="133"/>
                    <a:pt x="98" y="132"/>
                    <a:pt x="98" y="131"/>
                  </a:cubicBezTo>
                  <a:cubicBezTo>
                    <a:pt x="98" y="129"/>
                    <a:pt x="97" y="126"/>
                    <a:pt x="97" y="125"/>
                  </a:cubicBezTo>
                  <a:cubicBezTo>
                    <a:pt x="97" y="122"/>
                    <a:pt x="99" y="123"/>
                    <a:pt x="100" y="120"/>
                  </a:cubicBezTo>
                  <a:cubicBezTo>
                    <a:pt x="102" y="120"/>
                    <a:pt x="102" y="117"/>
                    <a:pt x="104" y="116"/>
                  </a:cubicBezTo>
                  <a:cubicBezTo>
                    <a:pt x="104" y="116"/>
                    <a:pt x="104" y="113"/>
                    <a:pt x="104" y="113"/>
                  </a:cubicBezTo>
                  <a:cubicBezTo>
                    <a:pt x="105" y="112"/>
                    <a:pt x="105" y="112"/>
                    <a:pt x="106" y="111"/>
                  </a:cubicBezTo>
                  <a:cubicBezTo>
                    <a:pt x="106" y="111"/>
                    <a:pt x="108" y="109"/>
                    <a:pt x="108" y="109"/>
                  </a:cubicBezTo>
                  <a:cubicBezTo>
                    <a:pt x="109" y="108"/>
                    <a:pt x="110" y="106"/>
                    <a:pt x="111" y="105"/>
                  </a:cubicBezTo>
                  <a:cubicBezTo>
                    <a:pt x="111" y="105"/>
                    <a:pt x="112" y="104"/>
                    <a:pt x="113" y="103"/>
                  </a:cubicBezTo>
                  <a:cubicBezTo>
                    <a:pt x="114" y="103"/>
                    <a:pt x="115" y="103"/>
                    <a:pt x="116" y="103"/>
                  </a:cubicBezTo>
                  <a:cubicBezTo>
                    <a:pt x="116" y="103"/>
                    <a:pt x="116" y="103"/>
                    <a:pt x="117" y="104"/>
                  </a:cubicBezTo>
                  <a:cubicBezTo>
                    <a:pt x="117" y="104"/>
                    <a:pt x="116" y="104"/>
                    <a:pt x="115" y="104"/>
                  </a:cubicBezTo>
                  <a:cubicBezTo>
                    <a:pt x="115" y="105"/>
                    <a:pt x="114" y="105"/>
                    <a:pt x="117" y="105"/>
                  </a:cubicBezTo>
                  <a:cubicBezTo>
                    <a:pt x="117" y="104"/>
                    <a:pt x="118" y="104"/>
                    <a:pt x="118" y="104"/>
                  </a:cubicBezTo>
                  <a:cubicBezTo>
                    <a:pt x="118" y="103"/>
                    <a:pt x="120" y="103"/>
                    <a:pt x="120" y="103"/>
                  </a:cubicBezTo>
                  <a:cubicBezTo>
                    <a:pt x="119" y="102"/>
                    <a:pt x="118" y="102"/>
                    <a:pt x="117" y="101"/>
                  </a:cubicBezTo>
                  <a:cubicBezTo>
                    <a:pt x="117" y="100"/>
                    <a:pt x="115" y="98"/>
                    <a:pt x="118" y="98"/>
                  </a:cubicBezTo>
                  <a:cubicBezTo>
                    <a:pt x="118" y="97"/>
                    <a:pt x="117" y="98"/>
                    <a:pt x="117" y="97"/>
                  </a:cubicBezTo>
                  <a:cubicBezTo>
                    <a:pt x="116" y="98"/>
                    <a:pt x="116" y="99"/>
                    <a:pt x="114" y="99"/>
                  </a:cubicBezTo>
                  <a:cubicBezTo>
                    <a:pt x="112" y="99"/>
                    <a:pt x="111" y="101"/>
                    <a:pt x="109" y="101"/>
                  </a:cubicBezTo>
                  <a:cubicBezTo>
                    <a:pt x="109" y="99"/>
                    <a:pt x="113" y="95"/>
                    <a:pt x="114" y="95"/>
                  </a:cubicBezTo>
                  <a:cubicBezTo>
                    <a:pt x="118" y="94"/>
                    <a:pt x="123" y="97"/>
                    <a:pt x="124" y="92"/>
                  </a:cubicBezTo>
                  <a:cubicBezTo>
                    <a:pt x="125" y="93"/>
                    <a:pt x="128" y="94"/>
                    <a:pt x="128" y="92"/>
                  </a:cubicBezTo>
                  <a:cubicBezTo>
                    <a:pt x="128" y="92"/>
                    <a:pt x="127" y="91"/>
                    <a:pt x="128" y="91"/>
                  </a:cubicBezTo>
                  <a:cubicBezTo>
                    <a:pt x="128" y="90"/>
                    <a:pt x="127" y="89"/>
                    <a:pt x="126" y="89"/>
                  </a:cubicBezTo>
                  <a:cubicBezTo>
                    <a:pt x="126" y="87"/>
                    <a:pt x="125" y="89"/>
                    <a:pt x="124" y="89"/>
                  </a:cubicBezTo>
                  <a:cubicBezTo>
                    <a:pt x="124" y="88"/>
                    <a:pt x="124" y="88"/>
                    <a:pt x="124" y="87"/>
                  </a:cubicBezTo>
                  <a:cubicBezTo>
                    <a:pt x="124" y="86"/>
                    <a:pt x="121" y="85"/>
                    <a:pt x="121" y="84"/>
                  </a:cubicBezTo>
                  <a:cubicBezTo>
                    <a:pt x="120" y="84"/>
                    <a:pt x="118" y="79"/>
                    <a:pt x="118" y="80"/>
                  </a:cubicBezTo>
                  <a:cubicBezTo>
                    <a:pt x="118" y="81"/>
                    <a:pt x="117" y="82"/>
                    <a:pt x="116" y="82"/>
                  </a:cubicBezTo>
                  <a:cubicBezTo>
                    <a:pt x="116" y="83"/>
                    <a:pt x="114" y="83"/>
                    <a:pt x="113" y="83"/>
                  </a:cubicBezTo>
                  <a:cubicBezTo>
                    <a:pt x="113" y="82"/>
                    <a:pt x="114" y="83"/>
                    <a:pt x="114" y="82"/>
                  </a:cubicBezTo>
                  <a:cubicBezTo>
                    <a:pt x="113" y="82"/>
                    <a:pt x="113" y="81"/>
                    <a:pt x="113" y="81"/>
                  </a:cubicBezTo>
                  <a:cubicBezTo>
                    <a:pt x="113" y="81"/>
                    <a:pt x="110" y="78"/>
                    <a:pt x="110" y="78"/>
                  </a:cubicBezTo>
                  <a:cubicBezTo>
                    <a:pt x="107" y="78"/>
                    <a:pt x="109" y="77"/>
                    <a:pt x="107" y="76"/>
                  </a:cubicBezTo>
                  <a:cubicBezTo>
                    <a:pt x="106" y="78"/>
                    <a:pt x="104" y="77"/>
                    <a:pt x="102" y="77"/>
                  </a:cubicBezTo>
                  <a:cubicBezTo>
                    <a:pt x="102" y="77"/>
                    <a:pt x="101" y="76"/>
                    <a:pt x="100" y="77"/>
                  </a:cubicBezTo>
                  <a:cubicBezTo>
                    <a:pt x="101" y="78"/>
                    <a:pt x="102" y="81"/>
                    <a:pt x="100" y="81"/>
                  </a:cubicBezTo>
                  <a:cubicBezTo>
                    <a:pt x="100" y="82"/>
                    <a:pt x="101" y="81"/>
                    <a:pt x="102" y="82"/>
                  </a:cubicBezTo>
                  <a:cubicBezTo>
                    <a:pt x="103" y="83"/>
                    <a:pt x="102" y="85"/>
                    <a:pt x="102" y="86"/>
                  </a:cubicBezTo>
                  <a:cubicBezTo>
                    <a:pt x="104" y="87"/>
                    <a:pt x="100" y="89"/>
                    <a:pt x="100" y="88"/>
                  </a:cubicBezTo>
                  <a:cubicBezTo>
                    <a:pt x="99" y="88"/>
                    <a:pt x="99" y="90"/>
                    <a:pt x="100" y="90"/>
                  </a:cubicBezTo>
                  <a:cubicBezTo>
                    <a:pt x="100" y="91"/>
                    <a:pt x="99" y="92"/>
                    <a:pt x="100" y="92"/>
                  </a:cubicBezTo>
                  <a:cubicBezTo>
                    <a:pt x="100" y="94"/>
                    <a:pt x="98" y="94"/>
                    <a:pt x="97" y="93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97" y="92"/>
                    <a:pt x="96" y="90"/>
                    <a:pt x="97" y="90"/>
                  </a:cubicBezTo>
                  <a:cubicBezTo>
                    <a:pt x="96" y="90"/>
                    <a:pt x="94" y="86"/>
                    <a:pt x="94" y="88"/>
                  </a:cubicBezTo>
                  <a:cubicBezTo>
                    <a:pt x="93" y="88"/>
                    <a:pt x="91" y="88"/>
                    <a:pt x="91" y="86"/>
                  </a:cubicBezTo>
                  <a:cubicBezTo>
                    <a:pt x="91" y="86"/>
                    <a:pt x="90" y="86"/>
                    <a:pt x="90" y="86"/>
                  </a:cubicBezTo>
                  <a:cubicBezTo>
                    <a:pt x="87" y="85"/>
                    <a:pt x="86" y="85"/>
                    <a:pt x="83" y="84"/>
                  </a:cubicBezTo>
                  <a:cubicBezTo>
                    <a:pt x="84" y="83"/>
                    <a:pt x="81" y="81"/>
                    <a:pt x="80" y="80"/>
                  </a:cubicBezTo>
                  <a:cubicBezTo>
                    <a:pt x="80" y="78"/>
                    <a:pt x="79" y="75"/>
                    <a:pt x="82" y="75"/>
                  </a:cubicBezTo>
                  <a:cubicBezTo>
                    <a:pt x="82" y="75"/>
                    <a:pt x="85" y="74"/>
                    <a:pt x="85" y="74"/>
                  </a:cubicBezTo>
                  <a:cubicBezTo>
                    <a:pt x="86" y="72"/>
                    <a:pt x="87" y="74"/>
                    <a:pt x="88" y="72"/>
                  </a:cubicBezTo>
                  <a:cubicBezTo>
                    <a:pt x="89" y="71"/>
                    <a:pt x="90" y="70"/>
                    <a:pt x="92" y="70"/>
                  </a:cubicBezTo>
                  <a:cubicBezTo>
                    <a:pt x="91" y="72"/>
                    <a:pt x="91" y="74"/>
                    <a:pt x="89" y="74"/>
                  </a:cubicBezTo>
                  <a:cubicBezTo>
                    <a:pt x="90" y="75"/>
                    <a:pt x="93" y="74"/>
                    <a:pt x="95" y="74"/>
                  </a:cubicBezTo>
                  <a:cubicBezTo>
                    <a:pt x="95" y="74"/>
                    <a:pt x="97" y="74"/>
                    <a:pt x="97" y="74"/>
                  </a:cubicBezTo>
                  <a:cubicBezTo>
                    <a:pt x="96" y="73"/>
                    <a:pt x="91" y="72"/>
                    <a:pt x="93" y="70"/>
                  </a:cubicBezTo>
                  <a:cubicBezTo>
                    <a:pt x="93" y="69"/>
                    <a:pt x="96" y="69"/>
                    <a:pt x="96" y="68"/>
                  </a:cubicBezTo>
                  <a:cubicBezTo>
                    <a:pt x="96" y="67"/>
                    <a:pt x="96" y="65"/>
                    <a:pt x="96" y="65"/>
                  </a:cubicBezTo>
                  <a:cubicBezTo>
                    <a:pt x="95" y="64"/>
                    <a:pt x="94" y="65"/>
                    <a:pt x="93" y="65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3" y="65"/>
                    <a:pt x="92" y="64"/>
                    <a:pt x="91" y="64"/>
                  </a:cubicBezTo>
                  <a:cubicBezTo>
                    <a:pt x="91" y="64"/>
                    <a:pt x="92" y="65"/>
                    <a:pt x="91" y="65"/>
                  </a:cubicBezTo>
                  <a:cubicBezTo>
                    <a:pt x="91" y="67"/>
                    <a:pt x="91" y="69"/>
                    <a:pt x="89" y="69"/>
                  </a:cubicBezTo>
                  <a:cubicBezTo>
                    <a:pt x="89" y="68"/>
                    <a:pt x="88" y="66"/>
                    <a:pt x="87" y="65"/>
                  </a:cubicBezTo>
                  <a:cubicBezTo>
                    <a:pt x="87" y="69"/>
                    <a:pt x="83" y="64"/>
                    <a:pt x="83" y="63"/>
                  </a:cubicBezTo>
                  <a:cubicBezTo>
                    <a:pt x="82" y="62"/>
                    <a:pt x="82" y="61"/>
                    <a:pt x="81" y="61"/>
                  </a:cubicBezTo>
                  <a:cubicBezTo>
                    <a:pt x="80" y="63"/>
                    <a:pt x="79" y="61"/>
                    <a:pt x="78" y="63"/>
                  </a:cubicBezTo>
                  <a:cubicBezTo>
                    <a:pt x="77" y="64"/>
                    <a:pt x="78" y="64"/>
                    <a:pt x="77" y="65"/>
                  </a:cubicBezTo>
                  <a:cubicBezTo>
                    <a:pt x="76" y="65"/>
                    <a:pt x="74" y="65"/>
                    <a:pt x="74" y="66"/>
                  </a:cubicBezTo>
                  <a:cubicBezTo>
                    <a:pt x="75" y="66"/>
                    <a:pt x="75" y="66"/>
                    <a:pt x="75" y="67"/>
                  </a:cubicBezTo>
                  <a:cubicBezTo>
                    <a:pt x="77" y="67"/>
                    <a:pt x="74" y="68"/>
                    <a:pt x="74" y="68"/>
                  </a:cubicBezTo>
                  <a:cubicBezTo>
                    <a:pt x="73" y="68"/>
                    <a:pt x="72" y="69"/>
                    <a:pt x="71" y="69"/>
                  </a:cubicBezTo>
                  <a:cubicBezTo>
                    <a:pt x="70" y="68"/>
                    <a:pt x="68" y="68"/>
                    <a:pt x="67" y="68"/>
                  </a:cubicBezTo>
                  <a:cubicBezTo>
                    <a:pt x="65" y="67"/>
                    <a:pt x="66" y="66"/>
                    <a:pt x="65" y="66"/>
                  </a:cubicBezTo>
                  <a:cubicBezTo>
                    <a:pt x="63" y="64"/>
                    <a:pt x="68" y="65"/>
                    <a:pt x="68" y="65"/>
                  </a:cubicBezTo>
                  <a:cubicBezTo>
                    <a:pt x="69" y="65"/>
                    <a:pt x="71" y="67"/>
                    <a:pt x="70" y="64"/>
                  </a:cubicBezTo>
                  <a:cubicBezTo>
                    <a:pt x="71" y="64"/>
                    <a:pt x="71" y="65"/>
                    <a:pt x="72" y="65"/>
                  </a:cubicBezTo>
                  <a:cubicBezTo>
                    <a:pt x="71" y="63"/>
                    <a:pt x="70" y="64"/>
                    <a:pt x="69" y="64"/>
                  </a:cubicBezTo>
                  <a:cubicBezTo>
                    <a:pt x="69" y="63"/>
                    <a:pt x="68" y="61"/>
                    <a:pt x="68" y="61"/>
                  </a:cubicBezTo>
                  <a:cubicBezTo>
                    <a:pt x="67" y="60"/>
                    <a:pt x="67" y="60"/>
                    <a:pt x="67" y="59"/>
                  </a:cubicBezTo>
                  <a:cubicBezTo>
                    <a:pt x="67" y="59"/>
                    <a:pt x="65" y="60"/>
                    <a:pt x="65" y="60"/>
                  </a:cubicBezTo>
                  <a:cubicBezTo>
                    <a:pt x="86" y="40"/>
                    <a:pt x="114" y="28"/>
                    <a:pt x="144" y="28"/>
                  </a:cubicBezTo>
                  <a:cubicBezTo>
                    <a:pt x="180" y="28"/>
                    <a:pt x="211" y="44"/>
                    <a:pt x="233" y="70"/>
                  </a:cubicBezTo>
                  <a:cubicBezTo>
                    <a:pt x="232" y="72"/>
                    <a:pt x="230" y="70"/>
                    <a:pt x="230" y="72"/>
                  </a:cubicBezTo>
                  <a:cubicBezTo>
                    <a:pt x="229" y="72"/>
                    <a:pt x="229" y="73"/>
                    <a:pt x="230" y="73"/>
                  </a:cubicBezTo>
                  <a:cubicBezTo>
                    <a:pt x="230" y="75"/>
                    <a:pt x="228" y="75"/>
                    <a:pt x="228" y="73"/>
                  </a:cubicBezTo>
                  <a:cubicBezTo>
                    <a:pt x="227" y="73"/>
                    <a:pt x="226" y="74"/>
                    <a:pt x="225" y="74"/>
                  </a:cubicBezTo>
                  <a:cubicBezTo>
                    <a:pt x="225" y="73"/>
                    <a:pt x="223" y="71"/>
                    <a:pt x="222" y="71"/>
                  </a:cubicBezTo>
                  <a:cubicBezTo>
                    <a:pt x="222" y="70"/>
                    <a:pt x="222" y="71"/>
                    <a:pt x="222" y="70"/>
                  </a:cubicBezTo>
                  <a:cubicBezTo>
                    <a:pt x="225" y="70"/>
                    <a:pt x="229" y="69"/>
                    <a:pt x="231" y="69"/>
                  </a:cubicBezTo>
                  <a:cubicBezTo>
                    <a:pt x="231" y="68"/>
                    <a:pt x="226" y="65"/>
                    <a:pt x="225" y="66"/>
                  </a:cubicBezTo>
                  <a:cubicBezTo>
                    <a:pt x="224" y="66"/>
                    <a:pt x="222" y="65"/>
                    <a:pt x="221" y="65"/>
                  </a:cubicBezTo>
                  <a:cubicBezTo>
                    <a:pt x="221" y="65"/>
                    <a:pt x="214" y="65"/>
                    <a:pt x="213" y="65"/>
                  </a:cubicBezTo>
                  <a:cubicBezTo>
                    <a:pt x="213" y="63"/>
                    <a:pt x="203" y="66"/>
                    <a:pt x="202" y="66"/>
                  </a:cubicBezTo>
                  <a:cubicBezTo>
                    <a:pt x="200" y="66"/>
                    <a:pt x="199" y="68"/>
                    <a:pt x="197" y="69"/>
                  </a:cubicBezTo>
                  <a:cubicBezTo>
                    <a:pt x="197" y="69"/>
                    <a:pt x="192" y="73"/>
                    <a:pt x="195" y="73"/>
                  </a:cubicBezTo>
                  <a:cubicBezTo>
                    <a:pt x="194" y="76"/>
                    <a:pt x="187" y="76"/>
                    <a:pt x="187" y="78"/>
                  </a:cubicBezTo>
                  <a:cubicBezTo>
                    <a:pt x="186" y="78"/>
                    <a:pt x="184" y="77"/>
                    <a:pt x="185" y="79"/>
                  </a:cubicBezTo>
                  <a:cubicBezTo>
                    <a:pt x="185" y="79"/>
                    <a:pt x="187" y="82"/>
                    <a:pt x="187" y="82"/>
                  </a:cubicBezTo>
                  <a:cubicBezTo>
                    <a:pt x="189" y="82"/>
                    <a:pt x="190" y="83"/>
                    <a:pt x="192" y="83"/>
                  </a:cubicBezTo>
                  <a:cubicBezTo>
                    <a:pt x="192" y="82"/>
                    <a:pt x="193" y="82"/>
                    <a:pt x="194" y="82"/>
                  </a:cubicBezTo>
                  <a:cubicBezTo>
                    <a:pt x="194" y="83"/>
                    <a:pt x="195" y="86"/>
                    <a:pt x="195" y="86"/>
                  </a:cubicBezTo>
                  <a:cubicBezTo>
                    <a:pt x="195" y="87"/>
                    <a:pt x="196" y="88"/>
                    <a:pt x="194" y="87"/>
                  </a:cubicBezTo>
                  <a:cubicBezTo>
                    <a:pt x="194" y="87"/>
                    <a:pt x="194" y="85"/>
                    <a:pt x="193" y="85"/>
                  </a:cubicBezTo>
                  <a:cubicBezTo>
                    <a:pt x="193" y="83"/>
                    <a:pt x="192" y="86"/>
                    <a:pt x="190" y="85"/>
                  </a:cubicBezTo>
                  <a:cubicBezTo>
                    <a:pt x="190" y="86"/>
                    <a:pt x="190" y="89"/>
                    <a:pt x="191" y="90"/>
                  </a:cubicBezTo>
                  <a:cubicBezTo>
                    <a:pt x="191" y="91"/>
                    <a:pt x="189" y="90"/>
                    <a:pt x="188" y="92"/>
                  </a:cubicBezTo>
                  <a:cubicBezTo>
                    <a:pt x="187" y="92"/>
                    <a:pt x="186" y="94"/>
                    <a:pt x="186" y="92"/>
                  </a:cubicBezTo>
                  <a:cubicBezTo>
                    <a:pt x="184" y="93"/>
                    <a:pt x="186" y="95"/>
                    <a:pt x="183" y="94"/>
                  </a:cubicBezTo>
                  <a:cubicBezTo>
                    <a:pt x="183" y="95"/>
                    <a:pt x="183" y="95"/>
                    <a:pt x="183" y="96"/>
                  </a:cubicBezTo>
                  <a:cubicBezTo>
                    <a:pt x="185" y="96"/>
                    <a:pt x="183" y="97"/>
                    <a:pt x="182" y="97"/>
                  </a:cubicBezTo>
                  <a:cubicBezTo>
                    <a:pt x="182" y="99"/>
                    <a:pt x="181" y="97"/>
                    <a:pt x="180" y="97"/>
                  </a:cubicBezTo>
                  <a:cubicBezTo>
                    <a:pt x="180" y="97"/>
                    <a:pt x="180" y="97"/>
                    <a:pt x="180" y="97"/>
                  </a:cubicBezTo>
                  <a:cubicBezTo>
                    <a:pt x="182" y="99"/>
                    <a:pt x="178" y="98"/>
                    <a:pt x="177" y="98"/>
                  </a:cubicBezTo>
                  <a:cubicBezTo>
                    <a:pt x="176" y="97"/>
                    <a:pt x="177" y="99"/>
                    <a:pt x="178" y="99"/>
                  </a:cubicBezTo>
                  <a:cubicBezTo>
                    <a:pt x="178" y="100"/>
                    <a:pt x="182" y="102"/>
                    <a:pt x="180" y="105"/>
                  </a:cubicBezTo>
                  <a:cubicBezTo>
                    <a:pt x="180" y="105"/>
                    <a:pt x="180" y="106"/>
                    <a:pt x="181" y="106"/>
                  </a:cubicBezTo>
                  <a:cubicBezTo>
                    <a:pt x="181" y="107"/>
                    <a:pt x="179" y="107"/>
                    <a:pt x="177" y="107"/>
                  </a:cubicBezTo>
                  <a:cubicBezTo>
                    <a:pt x="178" y="106"/>
                    <a:pt x="178" y="105"/>
                    <a:pt x="176" y="105"/>
                  </a:cubicBezTo>
                  <a:cubicBezTo>
                    <a:pt x="176" y="107"/>
                    <a:pt x="173" y="106"/>
                    <a:pt x="172" y="106"/>
                  </a:cubicBezTo>
                  <a:cubicBezTo>
                    <a:pt x="172" y="106"/>
                    <a:pt x="172" y="106"/>
                    <a:pt x="171" y="106"/>
                  </a:cubicBezTo>
                  <a:cubicBezTo>
                    <a:pt x="171" y="106"/>
                    <a:pt x="170" y="112"/>
                    <a:pt x="170" y="112"/>
                  </a:cubicBezTo>
                  <a:cubicBezTo>
                    <a:pt x="170" y="115"/>
                    <a:pt x="172" y="116"/>
                    <a:pt x="174" y="117"/>
                  </a:cubicBezTo>
                  <a:cubicBezTo>
                    <a:pt x="174" y="116"/>
                    <a:pt x="179" y="117"/>
                    <a:pt x="180" y="116"/>
                  </a:cubicBezTo>
                  <a:cubicBezTo>
                    <a:pt x="180" y="114"/>
                    <a:pt x="181" y="114"/>
                    <a:pt x="182" y="113"/>
                  </a:cubicBezTo>
                  <a:cubicBezTo>
                    <a:pt x="182" y="112"/>
                    <a:pt x="184" y="106"/>
                    <a:pt x="184" y="106"/>
                  </a:cubicBezTo>
                  <a:cubicBezTo>
                    <a:pt x="184" y="106"/>
                    <a:pt x="189" y="107"/>
                    <a:pt x="190" y="105"/>
                  </a:cubicBezTo>
                  <a:cubicBezTo>
                    <a:pt x="190" y="105"/>
                    <a:pt x="191" y="105"/>
                    <a:pt x="191" y="105"/>
                  </a:cubicBezTo>
                  <a:cubicBezTo>
                    <a:pt x="193" y="105"/>
                    <a:pt x="193" y="107"/>
                    <a:pt x="194" y="107"/>
                  </a:cubicBezTo>
                  <a:cubicBezTo>
                    <a:pt x="195" y="109"/>
                    <a:pt x="197" y="109"/>
                    <a:pt x="198" y="110"/>
                  </a:cubicBezTo>
                  <a:cubicBezTo>
                    <a:pt x="199" y="110"/>
                    <a:pt x="200" y="113"/>
                    <a:pt x="200" y="115"/>
                  </a:cubicBezTo>
                  <a:cubicBezTo>
                    <a:pt x="201" y="114"/>
                    <a:pt x="201" y="113"/>
                    <a:pt x="201" y="112"/>
                  </a:cubicBezTo>
                  <a:cubicBezTo>
                    <a:pt x="200" y="110"/>
                    <a:pt x="202" y="112"/>
                    <a:pt x="203" y="111"/>
                  </a:cubicBezTo>
                  <a:cubicBezTo>
                    <a:pt x="202" y="111"/>
                    <a:pt x="202" y="109"/>
                    <a:pt x="201" y="110"/>
                  </a:cubicBezTo>
                  <a:cubicBezTo>
                    <a:pt x="200" y="109"/>
                    <a:pt x="200" y="109"/>
                    <a:pt x="200" y="108"/>
                  </a:cubicBezTo>
                  <a:cubicBezTo>
                    <a:pt x="198" y="109"/>
                    <a:pt x="198" y="105"/>
                    <a:pt x="196" y="105"/>
                  </a:cubicBezTo>
                  <a:cubicBezTo>
                    <a:pt x="196" y="104"/>
                    <a:pt x="195" y="104"/>
                    <a:pt x="195" y="103"/>
                  </a:cubicBezTo>
                  <a:cubicBezTo>
                    <a:pt x="196" y="101"/>
                    <a:pt x="200" y="106"/>
                    <a:pt x="201" y="106"/>
                  </a:cubicBezTo>
                  <a:cubicBezTo>
                    <a:pt x="201" y="107"/>
                    <a:pt x="203" y="107"/>
                    <a:pt x="203" y="108"/>
                  </a:cubicBezTo>
                  <a:cubicBezTo>
                    <a:pt x="204" y="108"/>
                    <a:pt x="204" y="110"/>
                    <a:pt x="204" y="111"/>
                  </a:cubicBezTo>
                  <a:cubicBezTo>
                    <a:pt x="205" y="111"/>
                    <a:pt x="205" y="112"/>
                    <a:pt x="205" y="112"/>
                  </a:cubicBezTo>
                  <a:cubicBezTo>
                    <a:pt x="207" y="113"/>
                    <a:pt x="206" y="116"/>
                    <a:pt x="208" y="116"/>
                  </a:cubicBezTo>
                  <a:cubicBezTo>
                    <a:pt x="208" y="116"/>
                    <a:pt x="211" y="114"/>
                    <a:pt x="209" y="114"/>
                  </a:cubicBezTo>
                  <a:cubicBezTo>
                    <a:pt x="209" y="113"/>
                    <a:pt x="208" y="109"/>
                    <a:pt x="210" y="110"/>
                  </a:cubicBezTo>
                  <a:cubicBezTo>
                    <a:pt x="211" y="110"/>
                    <a:pt x="212" y="110"/>
                    <a:pt x="213" y="111"/>
                  </a:cubicBezTo>
                  <a:cubicBezTo>
                    <a:pt x="213" y="113"/>
                    <a:pt x="213" y="114"/>
                    <a:pt x="214" y="116"/>
                  </a:cubicBezTo>
                  <a:cubicBezTo>
                    <a:pt x="215" y="118"/>
                    <a:pt x="219" y="116"/>
                    <a:pt x="219" y="117"/>
                  </a:cubicBezTo>
                  <a:cubicBezTo>
                    <a:pt x="220" y="117"/>
                    <a:pt x="222" y="118"/>
                    <a:pt x="222" y="117"/>
                  </a:cubicBezTo>
                  <a:cubicBezTo>
                    <a:pt x="223" y="117"/>
                    <a:pt x="223" y="116"/>
                    <a:pt x="225" y="116"/>
                  </a:cubicBezTo>
                  <a:cubicBezTo>
                    <a:pt x="225" y="118"/>
                    <a:pt x="224" y="119"/>
                    <a:pt x="224" y="120"/>
                  </a:cubicBezTo>
                  <a:cubicBezTo>
                    <a:pt x="224" y="121"/>
                    <a:pt x="223" y="122"/>
                    <a:pt x="223" y="123"/>
                  </a:cubicBezTo>
                  <a:cubicBezTo>
                    <a:pt x="222" y="123"/>
                    <a:pt x="222" y="124"/>
                    <a:pt x="223" y="124"/>
                  </a:cubicBezTo>
                  <a:cubicBezTo>
                    <a:pt x="223" y="126"/>
                    <a:pt x="221" y="126"/>
                    <a:pt x="220" y="126"/>
                  </a:cubicBezTo>
                  <a:cubicBezTo>
                    <a:pt x="220" y="127"/>
                    <a:pt x="223" y="130"/>
                    <a:pt x="224" y="130"/>
                  </a:cubicBezTo>
                  <a:cubicBezTo>
                    <a:pt x="224" y="132"/>
                    <a:pt x="225" y="134"/>
                    <a:pt x="226" y="134"/>
                  </a:cubicBezTo>
                  <a:cubicBezTo>
                    <a:pt x="226" y="135"/>
                    <a:pt x="227" y="138"/>
                    <a:pt x="228" y="138"/>
                  </a:cubicBezTo>
                  <a:cubicBezTo>
                    <a:pt x="228" y="139"/>
                    <a:pt x="232" y="147"/>
                    <a:pt x="231" y="147"/>
                  </a:cubicBezTo>
                  <a:cubicBezTo>
                    <a:pt x="231" y="148"/>
                    <a:pt x="232" y="148"/>
                    <a:pt x="232" y="149"/>
                  </a:cubicBezTo>
                  <a:cubicBezTo>
                    <a:pt x="233" y="149"/>
                    <a:pt x="233" y="153"/>
                    <a:pt x="236" y="153"/>
                  </a:cubicBezTo>
                  <a:cubicBezTo>
                    <a:pt x="237" y="153"/>
                    <a:pt x="239" y="152"/>
                    <a:pt x="240" y="152"/>
                  </a:cubicBezTo>
                  <a:cubicBezTo>
                    <a:pt x="241" y="151"/>
                    <a:pt x="244" y="150"/>
                    <a:pt x="245" y="150"/>
                  </a:cubicBezTo>
                  <a:cubicBezTo>
                    <a:pt x="245" y="149"/>
                    <a:pt x="250" y="146"/>
                    <a:pt x="250" y="146"/>
                  </a:cubicBezTo>
                  <a:cubicBezTo>
                    <a:pt x="251" y="145"/>
                    <a:pt x="252" y="144"/>
                    <a:pt x="252" y="143"/>
                  </a:cubicBezTo>
                  <a:cubicBezTo>
                    <a:pt x="252" y="142"/>
                    <a:pt x="253" y="142"/>
                    <a:pt x="253" y="141"/>
                  </a:cubicBezTo>
                  <a:cubicBezTo>
                    <a:pt x="254" y="140"/>
                    <a:pt x="255" y="137"/>
                    <a:pt x="252" y="137"/>
                  </a:cubicBezTo>
                  <a:cubicBezTo>
                    <a:pt x="253" y="139"/>
                    <a:pt x="251" y="138"/>
                    <a:pt x="251" y="137"/>
                  </a:cubicBezTo>
                  <a:cubicBezTo>
                    <a:pt x="252" y="136"/>
                    <a:pt x="251" y="136"/>
                    <a:pt x="250" y="135"/>
                  </a:cubicBezTo>
                  <a:cubicBezTo>
                    <a:pt x="250" y="135"/>
                    <a:pt x="251" y="134"/>
                    <a:pt x="250" y="133"/>
                  </a:cubicBezTo>
                  <a:cubicBezTo>
                    <a:pt x="249" y="136"/>
                    <a:pt x="247" y="137"/>
                    <a:pt x="245" y="137"/>
                  </a:cubicBezTo>
                  <a:cubicBezTo>
                    <a:pt x="245" y="135"/>
                    <a:pt x="246" y="137"/>
                    <a:pt x="245" y="135"/>
                  </a:cubicBezTo>
                  <a:cubicBezTo>
                    <a:pt x="244" y="134"/>
                    <a:pt x="244" y="134"/>
                    <a:pt x="245" y="133"/>
                  </a:cubicBezTo>
                  <a:cubicBezTo>
                    <a:pt x="244" y="133"/>
                    <a:pt x="244" y="133"/>
                    <a:pt x="244" y="133"/>
                  </a:cubicBezTo>
                  <a:cubicBezTo>
                    <a:pt x="244" y="135"/>
                    <a:pt x="244" y="135"/>
                    <a:pt x="243" y="135"/>
                  </a:cubicBezTo>
                  <a:cubicBezTo>
                    <a:pt x="242" y="134"/>
                    <a:pt x="244" y="134"/>
                    <a:pt x="243" y="133"/>
                  </a:cubicBezTo>
                  <a:cubicBezTo>
                    <a:pt x="242" y="132"/>
                    <a:pt x="242" y="131"/>
                    <a:pt x="242" y="131"/>
                  </a:cubicBezTo>
                  <a:cubicBezTo>
                    <a:pt x="241" y="130"/>
                    <a:pt x="240" y="128"/>
                    <a:pt x="240" y="127"/>
                  </a:cubicBezTo>
                  <a:cubicBezTo>
                    <a:pt x="242" y="125"/>
                    <a:pt x="245" y="130"/>
                    <a:pt x="244" y="131"/>
                  </a:cubicBezTo>
                  <a:cubicBezTo>
                    <a:pt x="245" y="131"/>
                    <a:pt x="245" y="131"/>
                    <a:pt x="245" y="132"/>
                  </a:cubicBezTo>
                  <a:cubicBezTo>
                    <a:pt x="248" y="130"/>
                    <a:pt x="252" y="134"/>
                    <a:pt x="255" y="134"/>
                  </a:cubicBezTo>
                  <a:cubicBezTo>
                    <a:pt x="256" y="134"/>
                    <a:pt x="258" y="135"/>
                    <a:pt x="260" y="135"/>
                  </a:cubicBezTo>
                  <a:cubicBezTo>
                    <a:pt x="260" y="138"/>
                    <a:pt x="260" y="141"/>
                    <a:pt x="260" y="144"/>
                  </a:cubicBezTo>
                  <a:cubicBezTo>
                    <a:pt x="260" y="170"/>
                    <a:pt x="252" y="193"/>
                    <a:pt x="238" y="212"/>
                  </a:cubicBezTo>
                  <a:close/>
                  <a:moveTo>
                    <a:pt x="215" y="108"/>
                  </a:moveTo>
                  <a:cubicBezTo>
                    <a:pt x="215" y="105"/>
                    <a:pt x="216" y="104"/>
                    <a:pt x="218" y="101"/>
                  </a:cubicBezTo>
                  <a:cubicBezTo>
                    <a:pt x="220" y="101"/>
                    <a:pt x="221" y="101"/>
                    <a:pt x="221" y="103"/>
                  </a:cubicBezTo>
                  <a:cubicBezTo>
                    <a:pt x="222" y="103"/>
                    <a:pt x="221" y="105"/>
                    <a:pt x="223" y="104"/>
                  </a:cubicBezTo>
                  <a:cubicBezTo>
                    <a:pt x="223" y="103"/>
                    <a:pt x="224" y="103"/>
                    <a:pt x="225" y="103"/>
                  </a:cubicBezTo>
                  <a:cubicBezTo>
                    <a:pt x="226" y="103"/>
                    <a:pt x="227" y="104"/>
                    <a:pt x="228" y="104"/>
                  </a:cubicBezTo>
                  <a:cubicBezTo>
                    <a:pt x="228" y="106"/>
                    <a:pt x="231" y="106"/>
                    <a:pt x="231" y="109"/>
                  </a:cubicBezTo>
                  <a:cubicBezTo>
                    <a:pt x="233" y="109"/>
                    <a:pt x="229" y="111"/>
                    <a:pt x="229" y="111"/>
                  </a:cubicBezTo>
                  <a:cubicBezTo>
                    <a:pt x="227" y="111"/>
                    <a:pt x="226" y="109"/>
                    <a:pt x="225" y="109"/>
                  </a:cubicBezTo>
                  <a:cubicBezTo>
                    <a:pt x="225" y="111"/>
                    <a:pt x="224" y="109"/>
                    <a:pt x="224" y="109"/>
                  </a:cubicBezTo>
                  <a:cubicBezTo>
                    <a:pt x="224" y="109"/>
                    <a:pt x="217" y="110"/>
                    <a:pt x="215" y="110"/>
                  </a:cubicBezTo>
                  <a:cubicBezTo>
                    <a:pt x="216" y="109"/>
                    <a:pt x="216" y="109"/>
                    <a:pt x="215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Freeform 76"/>
            <p:cNvSpPr/>
            <p:nvPr/>
          </p:nvSpPr>
          <p:spPr bwMode="auto">
            <a:xfrm>
              <a:off x="-645503" y="3219031"/>
              <a:ext cx="7937" cy="3175"/>
            </a:xfrm>
            <a:custGeom>
              <a:avLst/>
              <a:gdLst>
                <a:gd name="T0" fmla="*/ 11 w 12"/>
                <a:gd name="T1" fmla="*/ 1 h 5"/>
                <a:gd name="T2" fmla="*/ 9 w 12"/>
                <a:gd name="T3" fmla="*/ 2 h 5"/>
                <a:gd name="T4" fmla="*/ 6 w 12"/>
                <a:gd name="T5" fmla="*/ 1 h 5"/>
                <a:gd name="T6" fmla="*/ 3 w 12"/>
                <a:gd name="T7" fmla="*/ 2 h 5"/>
                <a:gd name="T8" fmla="*/ 3 w 12"/>
                <a:gd name="T9" fmla="*/ 1 h 5"/>
                <a:gd name="T10" fmla="*/ 3 w 12"/>
                <a:gd name="T11" fmla="*/ 0 h 5"/>
                <a:gd name="T12" fmla="*/ 0 w 12"/>
                <a:gd name="T13" fmla="*/ 1 h 5"/>
                <a:gd name="T14" fmla="*/ 0 w 12"/>
                <a:gd name="T15" fmla="*/ 3 h 5"/>
                <a:gd name="T16" fmla="*/ 4 w 12"/>
                <a:gd name="T17" fmla="*/ 4 h 5"/>
                <a:gd name="T18" fmla="*/ 7 w 12"/>
                <a:gd name="T19" fmla="*/ 4 h 5"/>
                <a:gd name="T20" fmla="*/ 11 w 12"/>
                <a:gd name="T21" fmla="*/ 3 h 5"/>
                <a:gd name="T22" fmla="*/ 11 w 12"/>
                <a:gd name="T2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5">
                  <a:moveTo>
                    <a:pt x="11" y="1"/>
                  </a:moveTo>
                  <a:cubicBezTo>
                    <a:pt x="10" y="2"/>
                    <a:pt x="10" y="3"/>
                    <a:pt x="9" y="2"/>
                  </a:cubicBezTo>
                  <a:cubicBezTo>
                    <a:pt x="9" y="0"/>
                    <a:pt x="9" y="1"/>
                    <a:pt x="6" y="1"/>
                  </a:cubicBezTo>
                  <a:cubicBezTo>
                    <a:pt x="6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2" y="1"/>
                    <a:pt x="0" y="3"/>
                    <a:pt x="0" y="3"/>
                  </a:cubicBezTo>
                  <a:cubicBezTo>
                    <a:pt x="2" y="4"/>
                    <a:pt x="2" y="4"/>
                    <a:pt x="4" y="4"/>
                  </a:cubicBezTo>
                  <a:cubicBezTo>
                    <a:pt x="4" y="5"/>
                    <a:pt x="7" y="4"/>
                    <a:pt x="7" y="4"/>
                  </a:cubicBezTo>
                  <a:cubicBezTo>
                    <a:pt x="9" y="4"/>
                    <a:pt x="10" y="4"/>
                    <a:pt x="11" y="3"/>
                  </a:cubicBezTo>
                  <a:cubicBezTo>
                    <a:pt x="12" y="2"/>
                    <a:pt x="11" y="2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Freeform 77"/>
            <p:cNvSpPr/>
            <p:nvPr/>
          </p:nvSpPr>
          <p:spPr bwMode="auto">
            <a:xfrm>
              <a:off x="-629628" y="3226968"/>
              <a:ext cx="6350" cy="9525"/>
            </a:xfrm>
            <a:custGeom>
              <a:avLst/>
              <a:gdLst>
                <a:gd name="T0" fmla="*/ 1 w 9"/>
                <a:gd name="T1" fmla="*/ 6 h 12"/>
                <a:gd name="T2" fmla="*/ 3 w 9"/>
                <a:gd name="T3" fmla="*/ 8 h 12"/>
                <a:gd name="T4" fmla="*/ 1 w 9"/>
                <a:gd name="T5" fmla="*/ 9 h 12"/>
                <a:gd name="T6" fmla="*/ 2 w 9"/>
                <a:gd name="T7" fmla="*/ 11 h 12"/>
                <a:gd name="T8" fmla="*/ 3 w 9"/>
                <a:gd name="T9" fmla="*/ 12 h 12"/>
                <a:gd name="T10" fmla="*/ 8 w 9"/>
                <a:gd name="T11" fmla="*/ 10 h 12"/>
                <a:gd name="T12" fmla="*/ 8 w 9"/>
                <a:gd name="T13" fmla="*/ 9 h 12"/>
                <a:gd name="T14" fmla="*/ 7 w 9"/>
                <a:gd name="T15" fmla="*/ 10 h 12"/>
                <a:gd name="T16" fmla="*/ 5 w 9"/>
                <a:gd name="T17" fmla="*/ 7 h 12"/>
                <a:gd name="T18" fmla="*/ 4 w 9"/>
                <a:gd name="T19" fmla="*/ 4 h 12"/>
                <a:gd name="T20" fmla="*/ 5 w 9"/>
                <a:gd name="T21" fmla="*/ 2 h 12"/>
                <a:gd name="T22" fmla="*/ 2 w 9"/>
                <a:gd name="T23" fmla="*/ 3 h 12"/>
                <a:gd name="T24" fmla="*/ 2 w 9"/>
                <a:gd name="T25" fmla="*/ 2 h 12"/>
                <a:gd name="T26" fmla="*/ 2 w 9"/>
                <a:gd name="T27" fmla="*/ 0 h 12"/>
                <a:gd name="T28" fmla="*/ 0 w 9"/>
                <a:gd name="T29" fmla="*/ 3 h 12"/>
                <a:gd name="T30" fmla="*/ 1 w 9"/>
                <a:gd name="T31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12">
                  <a:moveTo>
                    <a:pt x="1" y="6"/>
                  </a:moveTo>
                  <a:cubicBezTo>
                    <a:pt x="2" y="6"/>
                    <a:pt x="3" y="6"/>
                    <a:pt x="3" y="8"/>
                  </a:cubicBezTo>
                  <a:cubicBezTo>
                    <a:pt x="5" y="9"/>
                    <a:pt x="2" y="9"/>
                    <a:pt x="1" y="9"/>
                  </a:cubicBezTo>
                  <a:cubicBezTo>
                    <a:pt x="1" y="10"/>
                    <a:pt x="0" y="12"/>
                    <a:pt x="2" y="11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5" y="12"/>
                    <a:pt x="7" y="12"/>
                    <a:pt x="8" y="10"/>
                  </a:cubicBezTo>
                  <a:cubicBezTo>
                    <a:pt x="9" y="10"/>
                    <a:pt x="9" y="10"/>
                    <a:pt x="8" y="9"/>
                  </a:cubicBezTo>
                  <a:cubicBezTo>
                    <a:pt x="8" y="10"/>
                    <a:pt x="8" y="10"/>
                    <a:pt x="7" y="10"/>
                  </a:cubicBezTo>
                  <a:cubicBezTo>
                    <a:pt x="8" y="8"/>
                    <a:pt x="7" y="7"/>
                    <a:pt x="5" y="7"/>
                  </a:cubicBezTo>
                  <a:cubicBezTo>
                    <a:pt x="6" y="6"/>
                    <a:pt x="5" y="5"/>
                    <a:pt x="4" y="4"/>
                  </a:cubicBezTo>
                  <a:cubicBezTo>
                    <a:pt x="3" y="3"/>
                    <a:pt x="4" y="3"/>
                    <a:pt x="5" y="2"/>
                  </a:cubicBezTo>
                  <a:cubicBezTo>
                    <a:pt x="4" y="2"/>
                    <a:pt x="4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2"/>
                    <a:pt x="4" y="0"/>
                    <a:pt x="2" y="0"/>
                  </a:cubicBezTo>
                  <a:cubicBezTo>
                    <a:pt x="2" y="3"/>
                    <a:pt x="0" y="1"/>
                    <a:pt x="0" y="3"/>
                  </a:cubicBezTo>
                  <a:cubicBezTo>
                    <a:pt x="0" y="4"/>
                    <a:pt x="1" y="4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Freeform 78"/>
            <p:cNvSpPr/>
            <p:nvPr/>
          </p:nvSpPr>
          <p:spPr bwMode="auto">
            <a:xfrm>
              <a:off x="-634391" y="3230143"/>
              <a:ext cx="4762" cy="4762"/>
            </a:xfrm>
            <a:custGeom>
              <a:avLst/>
              <a:gdLst>
                <a:gd name="T0" fmla="*/ 2 w 7"/>
                <a:gd name="T1" fmla="*/ 6 h 6"/>
                <a:gd name="T2" fmla="*/ 6 w 7"/>
                <a:gd name="T3" fmla="*/ 2 h 6"/>
                <a:gd name="T4" fmla="*/ 5 w 7"/>
                <a:gd name="T5" fmla="*/ 1 h 6"/>
                <a:gd name="T6" fmla="*/ 4 w 7"/>
                <a:gd name="T7" fmla="*/ 1 h 6"/>
                <a:gd name="T8" fmla="*/ 4 w 7"/>
                <a:gd name="T9" fmla="*/ 2 h 6"/>
                <a:gd name="T10" fmla="*/ 2 w 7"/>
                <a:gd name="T11" fmla="*/ 3 h 6"/>
                <a:gd name="T12" fmla="*/ 2 w 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2" y="6"/>
                  </a:moveTo>
                  <a:cubicBezTo>
                    <a:pt x="5" y="6"/>
                    <a:pt x="6" y="4"/>
                    <a:pt x="6" y="2"/>
                  </a:cubicBezTo>
                  <a:cubicBezTo>
                    <a:pt x="7" y="0"/>
                    <a:pt x="6" y="1"/>
                    <a:pt x="5" y="1"/>
                  </a:cubicBezTo>
                  <a:cubicBezTo>
                    <a:pt x="4" y="1"/>
                    <a:pt x="4" y="0"/>
                    <a:pt x="4" y="1"/>
                  </a:cubicBezTo>
                  <a:cubicBezTo>
                    <a:pt x="3" y="1"/>
                    <a:pt x="4" y="2"/>
                    <a:pt x="4" y="2"/>
                  </a:cubicBezTo>
                  <a:cubicBezTo>
                    <a:pt x="4" y="2"/>
                    <a:pt x="0" y="3"/>
                    <a:pt x="2" y="3"/>
                  </a:cubicBezTo>
                  <a:cubicBezTo>
                    <a:pt x="2" y="4"/>
                    <a:pt x="1" y="5"/>
                    <a:pt x="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Freeform 79"/>
            <p:cNvSpPr/>
            <p:nvPr/>
          </p:nvSpPr>
          <p:spPr bwMode="auto">
            <a:xfrm>
              <a:off x="-629628" y="3236493"/>
              <a:ext cx="1587" cy="0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Freeform 80"/>
            <p:cNvSpPr/>
            <p:nvPr/>
          </p:nvSpPr>
          <p:spPr bwMode="auto">
            <a:xfrm>
              <a:off x="-667728" y="3241256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1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Freeform 81"/>
            <p:cNvSpPr/>
            <p:nvPr/>
          </p:nvSpPr>
          <p:spPr bwMode="auto">
            <a:xfrm>
              <a:off x="-618516" y="3244431"/>
              <a:ext cx="1587" cy="1587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0 w 2"/>
                <a:gd name="T5" fmla="*/ 2 h 2"/>
                <a:gd name="T6" fmla="*/ 1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Freeform 82"/>
            <p:cNvSpPr/>
            <p:nvPr/>
          </p:nvSpPr>
          <p:spPr bwMode="auto">
            <a:xfrm>
              <a:off x="-618516" y="3246018"/>
              <a:ext cx="0" cy="3175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1 h 4"/>
                <a:gd name="T4" fmla="*/ 0 w 2"/>
                <a:gd name="T5" fmla="*/ 3 h 4"/>
                <a:gd name="T6" fmla="*/ 1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1"/>
                    <a:pt x="1" y="2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2" y="4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Freeform 83"/>
            <p:cNvSpPr/>
            <p:nvPr/>
          </p:nvSpPr>
          <p:spPr bwMode="auto">
            <a:xfrm>
              <a:off x="-615341" y="3249193"/>
              <a:ext cx="3175" cy="3175"/>
            </a:xfrm>
            <a:custGeom>
              <a:avLst/>
              <a:gdLst>
                <a:gd name="T0" fmla="*/ 4 w 4"/>
                <a:gd name="T1" fmla="*/ 0 h 3"/>
                <a:gd name="T2" fmla="*/ 2 w 4"/>
                <a:gd name="T3" fmla="*/ 1 h 3"/>
                <a:gd name="T4" fmla="*/ 0 w 4"/>
                <a:gd name="T5" fmla="*/ 1 h 3"/>
                <a:gd name="T6" fmla="*/ 4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3" y="1"/>
                    <a:pt x="3" y="1"/>
                    <a:pt x="2" y="1"/>
                  </a:cubicBezTo>
                  <a:cubicBezTo>
                    <a:pt x="1" y="1"/>
                    <a:pt x="1" y="0"/>
                    <a:pt x="0" y="1"/>
                  </a:cubicBezTo>
                  <a:cubicBezTo>
                    <a:pt x="2" y="1"/>
                    <a:pt x="4" y="3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Freeform 84"/>
            <p:cNvSpPr/>
            <p:nvPr/>
          </p:nvSpPr>
          <p:spPr bwMode="auto">
            <a:xfrm>
              <a:off x="-640741" y="3250781"/>
              <a:ext cx="60325" cy="79375"/>
            </a:xfrm>
            <a:custGeom>
              <a:avLst/>
              <a:gdLst>
                <a:gd name="T0" fmla="*/ 76 w 84"/>
                <a:gd name="T1" fmla="*/ 41 h 113"/>
                <a:gd name="T2" fmla="*/ 70 w 84"/>
                <a:gd name="T3" fmla="*/ 32 h 113"/>
                <a:gd name="T4" fmla="*/ 65 w 84"/>
                <a:gd name="T5" fmla="*/ 22 h 113"/>
                <a:gd name="T6" fmla="*/ 61 w 84"/>
                <a:gd name="T7" fmla="*/ 14 h 113"/>
                <a:gd name="T8" fmla="*/ 50 w 84"/>
                <a:gd name="T9" fmla="*/ 10 h 113"/>
                <a:gd name="T10" fmla="*/ 42 w 84"/>
                <a:gd name="T11" fmla="*/ 10 h 113"/>
                <a:gd name="T12" fmla="*/ 36 w 84"/>
                <a:gd name="T13" fmla="*/ 8 h 113"/>
                <a:gd name="T14" fmla="*/ 32 w 84"/>
                <a:gd name="T15" fmla="*/ 1 h 113"/>
                <a:gd name="T16" fmla="*/ 20 w 84"/>
                <a:gd name="T17" fmla="*/ 4 h 113"/>
                <a:gd name="T18" fmla="*/ 14 w 84"/>
                <a:gd name="T19" fmla="*/ 5 h 113"/>
                <a:gd name="T20" fmla="*/ 10 w 84"/>
                <a:gd name="T21" fmla="*/ 8 h 113"/>
                <a:gd name="T22" fmla="*/ 9 w 84"/>
                <a:gd name="T23" fmla="*/ 13 h 113"/>
                <a:gd name="T24" fmla="*/ 4 w 84"/>
                <a:gd name="T25" fmla="*/ 18 h 113"/>
                <a:gd name="T26" fmla="*/ 1 w 84"/>
                <a:gd name="T27" fmla="*/ 27 h 113"/>
                <a:gd name="T28" fmla="*/ 1 w 84"/>
                <a:gd name="T29" fmla="*/ 34 h 113"/>
                <a:gd name="T30" fmla="*/ 5 w 84"/>
                <a:gd name="T31" fmla="*/ 45 h 113"/>
                <a:gd name="T32" fmla="*/ 16 w 84"/>
                <a:gd name="T33" fmla="*/ 51 h 113"/>
                <a:gd name="T34" fmla="*/ 32 w 84"/>
                <a:gd name="T35" fmla="*/ 52 h 113"/>
                <a:gd name="T36" fmla="*/ 33 w 84"/>
                <a:gd name="T37" fmla="*/ 64 h 113"/>
                <a:gd name="T38" fmla="*/ 35 w 84"/>
                <a:gd name="T39" fmla="*/ 74 h 113"/>
                <a:gd name="T40" fmla="*/ 35 w 84"/>
                <a:gd name="T41" fmla="*/ 87 h 113"/>
                <a:gd name="T42" fmla="*/ 38 w 84"/>
                <a:gd name="T43" fmla="*/ 97 h 113"/>
                <a:gd name="T44" fmla="*/ 42 w 84"/>
                <a:gd name="T45" fmla="*/ 108 h 113"/>
                <a:gd name="T46" fmla="*/ 48 w 84"/>
                <a:gd name="T47" fmla="*/ 112 h 113"/>
                <a:gd name="T48" fmla="*/ 57 w 84"/>
                <a:gd name="T49" fmla="*/ 107 h 113"/>
                <a:gd name="T50" fmla="*/ 64 w 84"/>
                <a:gd name="T51" fmla="*/ 96 h 113"/>
                <a:gd name="T52" fmla="*/ 67 w 84"/>
                <a:gd name="T53" fmla="*/ 86 h 113"/>
                <a:gd name="T54" fmla="*/ 70 w 84"/>
                <a:gd name="T55" fmla="*/ 80 h 113"/>
                <a:gd name="T56" fmla="*/ 69 w 84"/>
                <a:gd name="T57" fmla="*/ 64 h 113"/>
                <a:gd name="T58" fmla="*/ 76 w 84"/>
                <a:gd name="T59" fmla="*/ 55 h 113"/>
                <a:gd name="T60" fmla="*/ 81 w 84"/>
                <a:gd name="T61" fmla="*/ 49 h 113"/>
                <a:gd name="T62" fmla="*/ 84 w 84"/>
                <a:gd name="T63" fmla="*/ 41 h 113"/>
                <a:gd name="T64" fmla="*/ 76 w 84"/>
                <a:gd name="T65" fmla="*/ 4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113">
                  <a:moveTo>
                    <a:pt x="76" y="42"/>
                  </a:moveTo>
                  <a:cubicBezTo>
                    <a:pt x="74" y="42"/>
                    <a:pt x="76" y="42"/>
                    <a:pt x="76" y="41"/>
                  </a:cubicBezTo>
                  <a:cubicBezTo>
                    <a:pt x="74" y="41"/>
                    <a:pt x="71" y="36"/>
                    <a:pt x="71" y="34"/>
                  </a:cubicBezTo>
                  <a:cubicBezTo>
                    <a:pt x="71" y="34"/>
                    <a:pt x="70" y="32"/>
                    <a:pt x="70" y="32"/>
                  </a:cubicBezTo>
                  <a:cubicBezTo>
                    <a:pt x="70" y="31"/>
                    <a:pt x="68" y="30"/>
                    <a:pt x="69" y="28"/>
                  </a:cubicBezTo>
                  <a:cubicBezTo>
                    <a:pt x="67" y="27"/>
                    <a:pt x="65" y="24"/>
                    <a:pt x="65" y="22"/>
                  </a:cubicBezTo>
                  <a:cubicBezTo>
                    <a:pt x="64" y="22"/>
                    <a:pt x="63" y="19"/>
                    <a:pt x="63" y="18"/>
                  </a:cubicBezTo>
                  <a:cubicBezTo>
                    <a:pt x="62" y="18"/>
                    <a:pt x="61" y="15"/>
                    <a:pt x="61" y="14"/>
                  </a:cubicBezTo>
                  <a:cubicBezTo>
                    <a:pt x="60" y="14"/>
                    <a:pt x="59" y="12"/>
                    <a:pt x="58" y="12"/>
                  </a:cubicBezTo>
                  <a:cubicBezTo>
                    <a:pt x="59" y="10"/>
                    <a:pt x="51" y="10"/>
                    <a:pt x="50" y="10"/>
                  </a:cubicBezTo>
                  <a:cubicBezTo>
                    <a:pt x="50" y="9"/>
                    <a:pt x="49" y="8"/>
                    <a:pt x="48" y="8"/>
                  </a:cubicBezTo>
                  <a:cubicBezTo>
                    <a:pt x="48" y="10"/>
                    <a:pt x="44" y="10"/>
                    <a:pt x="42" y="10"/>
                  </a:cubicBezTo>
                  <a:cubicBezTo>
                    <a:pt x="41" y="10"/>
                    <a:pt x="39" y="10"/>
                    <a:pt x="39" y="8"/>
                  </a:cubicBezTo>
                  <a:cubicBezTo>
                    <a:pt x="38" y="8"/>
                    <a:pt x="37" y="8"/>
                    <a:pt x="36" y="8"/>
                  </a:cubicBezTo>
                  <a:cubicBezTo>
                    <a:pt x="36" y="7"/>
                    <a:pt x="34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1" y="2"/>
                    <a:pt x="25" y="0"/>
                    <a:pt x="25" y="1"/>
                  </a:cubicBezTo>
                  <a:cubicBezTo>
                    <a:pt x="24" y="1"/>
                    <a:pt x="20" y="3"/>
                    <a:pt x="20" y="4"/>
                  </a:cubicBezTo>
                  <a:cubicBezTo>
                    <a:pt x="20" y="4"/>
                    <a:pt x="17" y="5"/>
                    <a:pt x="17" y="4"/>
                  </a:cubicBezTo>
                  <a:cubicBezTo>
                    <a:pt x="16" y="4"/>
                    <a:pt x="15" y="4"/>
                    <a:pt x="14" y="5"/>
                  </a:cubicBezTo>
                  <a:cubicBezTo>
                    <a:pt x="14" y="5"/>
                    <a:pt x="13" y="7"/>
                    <a:pt x="12" y="7"/>
                  </a:cubicBezTo>
                  <a:cubicBezTo>
                    <a:pt x="11" y="7"/>
                    <a:pt x="12" y="6"/>
                    <a:pt x="10" y="8"/>
                  </a:cubicBezTo>
                  <a:cubicBezTo>
                    <a:pt x="10" y="9"/>
                    <a:pt x="9" y="12"/>
                    <a:pt x="9" y="12"/>
                  </a:cubicBezTo>
                  <a:cubicBezTo>
                    <a:pt x="9" y="12"/>
                    <a:pt x="9" y="12"/>
                    <a:pt x="9" y="13"/>
                  </a:cubicBezTo>
                  <a:cubicBezTo>
                    <a:pt x="8" y="14"/>
                    <a:pt x="7" y="16"/>
                    <a:pt x="6" y="16"/>
                  </a:cubicBezTo>
                  <a:cubicBezTo>
                    <a:pt x="5" y="18"/>
                    <a:pt x="5" y="16"/>
                    <a:pt x="4" y="18"/>
                  </a:cubicBezTo>
                  <a:cubicBezTo>
                    <a:pt x="4" y="19"/>
                    <a:pt x="3" y="20"/>
                    <a:pt x="3" y="21"/>
                  </a:cubicBezTo>
                  <a:cubicBezTo>
                    <a:pt x="1" y="24"/>
                    <a:pt x="1" y="25"/>
                    <a:pt x="1" y="27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1" y="31"/>
                    <a:pt x="1" y="33"/>
                    <a:pt x="1" y="34"/>
                  </a:cubicBezTo>
                  <a:cubicBezTo>
                    <a:pt x="0" y="34"/>
                    <a:pt x="0" y="37"/>
                    <a:pt x="1" y="37"/>
                  </a:cubicBezTo>
                  <a:cubicBezTo>
                    <a:pt x="1" y="39"/>
                    <a:pt x="4" y="44"/>
                    <a:pt x="5" y="45"/>
                  </a:cubicBezTo>
                  <a:cubicBezTo>
                    <a:pt x="5" y="46"/>
                    <a:pt x="8" y="49"/>
                    <a:pt x="10" y="49"/>
                  </a:cubicBezTo>
                  <a:cubicBezTo>
                    <a:pt x="10" y="50"/>
                    <a:pt x="16" y="52"/>
                    <a:pt x="16" y="51"/>
                  </a:cubicBezTo>
                  <a:cubicBezTo>
                    <a:pt x="18" y="51"/>
                    <a:pt x="26" y="49"/>
                    <a:pt x="27" y="52"/>
                  </a:cubicBezTo>
                  <a:cubicBezTo>
                    <a:pt x="30" y="52"/>
                    <a:pt x="30" y="51"/>
                    <a:pt x="32" y="52"/>
                  </a:cubicBezTo>
                  <a:cubicBezTo>
                    <a:pt x="32" y="54"/>
                    <a:pt x="32" y="58"/>
                    <a:pt x="31" y="59"/>
                  </a:cubicBezTo>
                  <a:cubicBezTo>
                    <a:pt x="31" y="61"/>
                    <a:pt x="32" y="63"/>
                    <a:pt x="33" y="64"/>
                  </a:cubicBezTo>
                  <a:cubicBezTo>
                    <a:pt x="33" y="64"/>
                    <a:pt x="34" y="66"/>
                    <a:pt x="35" y="66"/>
                  </a:cubicBezTo>
                  <a:cubicBezTo>
                    <a:pt x="35" y="69"/>
                    <a:pt x="36" y="71"/>
                    <a:pt x="35" y="74"/>
                  </a:cubicBezTo>
                  <a:cubicBezTo>
                    <a:pt x="35" y="77"/>
                    <a:pt x="34" y="79"/>
                    <a:pt x="34" y="82"/>
                  </a:cubicBezTo>
                  <a:cubicBezTo>
                    <a:pt x="34" y="82"/>
                    <a:pt x="35" y="87"/>
                    <a:pt x="35" y="87"/>
                  </a:cubicBezTo>
                  <a:cubicBezTo>
                    <a:pt x="35" y="89"/>
                    <a:pt x="37" y="91"/>
                    <a:pt x="37" y="94"/>
                  </a:cubicBezTo>
                  <a:cubicBezTo>
                    <a:pt x="37" y="94"/>
                    <a:pt x="38" y="97"/>
                    <a:pt x="38" y="97"/>
                  </a:cubicBezTo>
                  <a:cubicBezTo>
                    <a:pt x="37" y="97"/>
                    <a:pt x="41" y="105"/>
                    <a:pt x="41" y="105"/>
                  </a:cubicBezTo>
                  <a:cubicBezTo>
                    <a:pt x="42" y="105"/>
                    <a:pt x="42" y="108"/>
                    <a:pt x="42" y="108"/>
                  </a:cubicBezTo>
                  <a:cubicBezTo>
                    <a:pt x="42" y="109"/>
                    <a:pt x="43" y="111"/>
                    <a:pt x="43" y="112"/>
                  </a:cubicBezTo>
                  <a:cubicBezTo>
                    <a:pt x="44" y="113"/>
                    <a:pt x="47" y="112"/>
                    <a:pt x="48" y="112"/>
                  </a:cubicBezTo>
                  <a:cubicBezTo>
                    <a:pt x="48" y="112"/>
                    <a:pt x="54" y="111"/>
                    <a:pt x="55" y="111"/>
                  </a:cubicBezTo>
                  <a:cubicBezTo>
                    <a:pt x="55" y="110"/>
                    <a:pt x="57" y="107"/>
                    <a:pt x="57" y="107"/>
                  </a:cubicBezTo>
                  <a:cubicBezTo>
                    <a:pt x="57" y="105"/>
                    <a:pt x="61" y="101"/>
                    <a:pt x="62" y="101"/>
                  </a:cubicBezTo>
                  <a:cubicBezTo>
                    <a:pt x="62" y="100"/>
                    <a:pt x="64" y="96"/>
                    <a:pt x="64" y="96"/>
                  </a:cubicBezTo>
                  <a:cubicBezTo>
                    <a:pt x="64" y="93"/>
                    <a:pt x="65" y="91"/>
                    <a:pt x="65" y="88"/>
                  </a:cubicBezTo>
                  <a:cubicBezTo>
                    <a:pt x="65" y="88"/>
                    <a:pt x="66" y="86"/>
                    <a:pt x="67" y="86"/>
                  </a:cubicBezTo>
                  <a:cubicBezTo>
                    <a:pt x="67" y="85"/>
                    <a:pt x="68" y="85"/>
                    <a:pt x="69" y="85"/>
                  </a:cubicBezTo>
                  <a:cubicBezTo>
                    <a:pt x="69" y="83"/>
                    <a:pt x="70" y="82"/>
                    <a:pt x="70" y="80"/>
                  </a:cubicBezTo>
                  <a:cubicBezTo>
                    <a:pt x="71" y="80"/>
                    <a:pt x="69" y="73"/>
                    <a:pt x="69" y="73"/>
                  </a:cubicBezTo>
                  <a:cubicBezTo>
                    <a:pt x="68" y="73"/>
                    <a:pt x="69" y="65"/>
                    <a:pt x="69" y="64"/>
                  </a:cubicBezTo>
                  <a:cubicBezTo>
                    <a:pt x="68" y="64"/>
                    <a:pt x="73" y="59"/>
                    <a:pt x="72" y="59"/>
                  </a:cubicBezTo>
                  <a:cubicBezTo>
                    <a:pt x="73" y="58"/>
                    <a:pt x="75" y="56"/>
                    <a:pt x="76" y="55"/>
                  </a:cubicBezTo>
                  <a:cubicBezTo>
                    <a:pt x="77" y="54"/>
                    <a:pt x="79" y="52"/>
                    <a:pt x="79" y="51"/>
                  </a:cubicBezTo>
                  <a:cubicBezTo>
                    <a:pt x="80" y="51"/>
                    <a:pt x="80" y="50"/>
                    <a:pt x="81" y="49"/>
                  </a:cubicBezTo>
                  <a:cubicBezTo>
                    <a:pt x="81" y="49"/>
                    <a:pt x="81" y="47"/>
                    <a:pt x="82" y="47"/>
                  </a:cubicBezTo>
                  <a:cubicBezTo>
                    <a:pt x="82" y="45"/>
                    <a:pt x="84" y="44"/>
                    <a:pt x="84" y="41"/>
                  </a:cubicBezTo>
                  <a:cubicBezTo>
                    <a:pt x="82" y="42"/>
                    <a:pt x="80" y="42"/>
                    <a:pt x="78" y="42"/>
                  </a:cubicBezTo>
                  <a:cubicBezTo>
                    <a:pt x="78" y="42"/>
                    <a:pt x="77" y="42"/>
                    <a:pt x="76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Freeform 85"/>
            <p:cNvSpPr/>
            <p:nvPr/>
          </p:nvSpPr>
          <p:spPr bwMode="auto">
            <a:xfrm>
              <a:off x="-688366" y="3266656"/>
              <a:ext cx="1587" cy="1587"/>
            </a:xfrm>
            <a:custGeom>
              <a:avLst/>
              <a:gdLst>
                <a:gd name="T0" fmla="*/ 1 w 3"/>
                <a:gd name="T1" fmla="*/ 0 h 2"/>
                <a:gd name="T2" fmla="*/ 1 w 3"/>
                <a:gd name="T3" fmla="*/ 0 h 2"/>
                <a:gd name="T4" fmla="*/ 3 w 3"/>
                <a:gd name="T5" fmla="*/ 0 h 2"/>
                <a:gd name="T6" fmla="*/ 1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3" y="1"/>
                    <a:pt x="3" y="0"/>
                  </a:cubicBezTo>
                  <a:cubicBezTo>
                    <a:pt x="2" y="1"/>
                    <a:pt x="2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Freeform 86"/>
            <p:cNvSpPr/>
            <p:nvPr/>
          </p:nvSpPr>
          <p:spPr bwMode="auto">
            <a:xfrm>
              <a:off x="-685191" y="3266656"/>
              <a:ext cx="6350" cy="3175"/>
            </a:xfrm>
            <a:custGeom>
              <a:avLst/>
              <a:gdLst>
                <a:gd name="T0" fmla="*/ 2 w 9"/>
                <a:gd name="T1" fmla="*/ 0 h 4"/>
                <a:gd name="T2" fmla="*/ 0 w 9"/>
                <a:gd name="T3" fmla="*/ 0 h 4"/>
                <a:gd name="T4" fmla="*/ 3 w 9"/>
                <a:gd name="T5" fmla="*/ 2 h 4"/>
                <a:gd name="T6" fmla="*/ 7 w 9"/>
                <a:gd name="T7" fmla="*/ 4 h 4"/>
                <a:gd name="T8" fmla="*/ 7 w 9"/>
                <a:gd name="T9" fmla="*/ 2 h 4"/>
                <a:gd name="T10" fmla="*/ 2 w 9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2" y="0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1"/>
                    <a:pt x="2" y="2"/>
                    <a:pt x="3" y="2"/>
                  </a:cubicBezTo>
                  <a:cubicBezTo>
                    <a:pt x="4" y="3"/>
                    <a:pt x="5" y="4"/>
                    <a:pt x="7" y="4"/>
                  </a:cubicBezTo>
                  <a:cubicBezTo>
                    <a:pt x="9" y="4"/>
                    <a:pt x="7" y="2"/>
                    <a:pt x="7" y="2"/>
                  </a:cubicBezTo>
                  <a:cubicBezTo>
                    <a:pt x="5" y="2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Freeform 87"/>
            <p:cNvSpPr/>
            <p:nvPr/>
          </p:nvSpPr>
          <p:spPr bwMode="auto">
            <a:xfrm>
              <a:off x="-678841" y="3269831"/>
              <a:ext cx="4762" cy="1587"/>
            </a:xfrm>
            <a:custGeom>
              <a:avLst/>
              <a:gdLst>
                <a:gd name="T0" fmla="*/ 6 w 8"/>
                <a:gd name="T1" fmla="*/ 0 h 2"/>
                <a:gd name="T2" fmla="*/ 6 w 8"/>
                <a:gd name="T3" fmla="*/ 1 h 2"/>
                <a:gd name="T4" fmla="*/ 2 w 8"/>
                <a:gd name="T5" fmla="*/ 0 h 2"/>
                <a:gd name="T6" fmla="*/ 3 w 8"/>
                <a:gd name="T7" fmla="*/ 1 h 2"/>
                <a:gd name="T8" fmla="*/ 0 w 8"/>
                <a:gd name="T9" fmla="*/ 1 h 2"/>
                <a:gd name="T10" fmla="*/ 3 w 8"/>
                <a:gd name="T11" fmla="*/ 2 h 2"/>
                <a:gd name="T12" fmla="*/ 8 w 8"/>
                <a:gd name="T13" fmla="*/ 2 h 2"/>
                <a:gd name="T14" fmla="*/ 6 w 8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">
                  <a:moveTo>
                    <a:pt x="6" y="0"/>
                  </a:moveTo>
                  <a:cubicBezTo>
                    <a:pt x="5" y="1"/>
                    <a:pt x="6" y="0"/>
                    <a:pt x="6" y="1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" y="2"/>
                    <a:pt x="1" y="1"/>
                    <a:pt x="0" y="1"/>
                  </a:cubicBezTo>
                  <a:cubicBezTo>
                    <a:pt x="0" y="2"/>
                    <a:pt x="3" y="2"/>
                    <a:pt x="3" y="2"/>
                  </a:cubicBezTo>
                  <a:cubicBezTo>
                    <a:pt x="5" y="2"/>
                    <a:pt x="6" y="2"/>
                    <a:pt x="8" y="2"/>
                  </a:cubicBezTo>
                  <a:cubicBezTo>
                    <a:pt x="8" y="1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Freeform 88"/>
            <p:cNvSpPr/>
            <p:nvPr/>
          </p:nvSpPr>
          <p:spPr bwMode="auto">
            <a:xfrm>
              <a:off x="-683603" y="3271418"/>
              <a:ext cx="1587" cy="1587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1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1" y="1"/>
                    <a:pt x="1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Freeform 89"/>
            <p:cNvSpPr/>
            <p:nvPr/>
          </p:nvSpPr>
          <p:spPr bwMode="auto">
            <a:xfrm>
              <a:off x="-682016" y="3271418"/>
              <a:ext cx="1587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Freeform 90"/>
            <p:cNvSpPr/>
            <p:nvPr/>
          </p:nvSpPr>
          <p:spPr bwMode="auto">
            <a:xfrm>
              <a:off x="-672491" y="3271418"/>
              <a:ext cx="1587" cy="0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Freeform 91"/>
            <p:cNvSpPr/>
            <p:nvPr/>
          </p:nvSpPr>
          <p:spPr bwMode="auto">
            <a:xfrm>
              <a:off x="-672491" y="3271418"/>
              <a:ext cx="0" cy="0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Freeform 92"/>
            <p:cNvSpPr/>
            <p:nvPr/>
          </p:nvSpPr>
          <p:spPr bwMode="auto">
            <a:xfrm>
              <a:off x="-677253" y="3277768"/>
              <a:ext cx="1587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Freeform 93"/>
            <p:cNvSpPr/>
            <p:nvPr/>
          </p:nvSpPr>
          <p:spPr bwMode="auto">
            <a:xfrm>
              <a:off x="-583591" y="3306343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2046332" y="3582702"/>
            <a:ext cx="862462" cy="855792"/>
            <a:chOff x="468922" y="1133056"/>
            <a:chExt cx="204787" cy="203200"/>
          </a:xfrm>
          <a:solidFill>
            <a:schemeClr val="bg1"/>
          </a:solidFill>
        </p:grpSpPr>
        <p:sp>
          <p:nvSpPr>
            <p:cNvPr id="65" name="Oval 508"/>
            <p:cNvSpPr>
              <a:spLocks noChangeArrowheads="1"/>
            </p:cNvSpPr>
            <p:nvPr/>
          </p:nvSpPr>
          <p:spPr bwMode="auto">
            <a:xfrm>
              <a:off x="532422" y="1196556"/>
              <a:ext cx="49212" cy="476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Freeform 509"/>
            <p:cNvSpPr>
              <a:spLocks noEditPoints="1"/>
            </p:cNvSpPr>
            <p:nvPr/>
          </p:nvSpPr>
          <p:spPr bwMode="auto">
            <a:xfrm>
              <a:off x="468922" y="1133056"/>
              <a:ext cx="204787" cy="203200"/>
            </a:xfrm>
            <a:custGeom>
              <a:avLst/>
              <a:gdLst>
                <a:gd name="T0" fmla="*/ 144 w 288"/>
                <a:gd name="T1" fmla="*/ 0 h 288"/>
                <a:gd name="T2" fmla="*/ 0 w 288"/>
                <a:gd name="T3" fmla="*/ 144 h 288"/>
                <a:gd name="T4" fmla="*/ 144 w 288"/>
                <a:gd name="T5" fmla="*/ 288 h 288"/>
                <a:gd name="T6" fmla="*/ 288 w 288"/>
                <a:gd name="T7" fmla="*/ 144 h 288"/>
                <a:gd name="T8" fmla="*/ 144 w 288"/>
                <a:gd name="T9" fmla="*/ 0 h 288"/>
                <a:gd name="T10" fmla="*/ 220 w 288"/>
                <a:gd name="T11" fmla="*/ 220 h 288"/>
                <a:gd name="T12" fmla="*/ 211 w 288"/>
                <a:gd name="T13" fmla="*/ 224 h 288"/>
                <a:gd name="T14" fmla="*/ 211 w 288"/>
                <a:gd name="T15" fmla="*/ 224 h 288"/>
                <a:gd name="T16" fmla="*/ 200 w 288"/>
                <a:gd name="T17" fmla="*/ 220 h 288"/>
                <a:gd name="T18" fmla="*/ 157 w 288"/>
                <a:gd name="T19" fmla="*/ 177 h 288"/>
                <a:gd name="T20" fmla="*/ 124 w 288"/>
                <a:gd name="T21" fmla="*/ 186 h 288"/>
                <a:gd name="T22" fmla="*/ 63 w 288"/>
                <a:gd name="T23" fmla="*/ 125 h 288"/>
                <a:gd name="T24" fmla="*/ 124 w 288"/>
                <a:gd name="T25" fmla="*/ 63 h 288"/>
                <a:gd name="T26" fmla="*/ 186 w 288"/>
                <a:gd name="T27" fmla="*/ 125 h 288"/>
                <a:gd name="T28" fmla="*/ 176 w 288"/>
                <a:gd name="T29" fmla="*/ 157 h 288"/>
                <a:gd name="T30" fmla="*/ 219 w 288"/>
                <a:gd name="T31" fmla="*/ 200 h 288"/>
                <a:gd name="T32" fmla="*/ 224 w 288"/>
                <a:gd name="T33" fmla="*/ 211 h 288"/>
                <a:gd name="T34" fmla="*/ 220 w 288"/>
                <a:gd name="T35" fmla="*/ 22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224"/>
                    <a:pt x="64" y="288"/>
                    <a:pt x="144" y="288"/>
                  </a:cubicBezTo>
                  <a:cubicBezTo>
                    <a:pt x="224" y="288"/>
                    <a:pt x="288" y="22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  <a:moveTo>
                    <a:pt x="220" y="220"/>
                  </a:moveTo>
                  <a:cubicBezTo>
                    <a:pt x="218" y="223"/>
                    <a:pt x="214" y="224"/>
                    <a:pt x="211" y="224"/>
                  </a:cubicBezTo>
                  <a:cubicBezTo>
                    <a:pt x="211" y="224"/>
                    <a:pt x="211" y="224"/>
                    <a:pt x="211" y="224"/>
                  </a:cubicBezTo>
                  <a:cubicBezTo>
                    <a:pt x="207" y="224"/>
                    <a:pt x="203" y="222"/>
                    <a:pt x="200" y="220"/>
                  </a:cubicBezTo>
                  <a:cubicBezTo>
                    <a:pt x="157" y="177"/>
                    <a:pt x="157" y="177"/>
                    <a:pt x="157" y="177"/>
                  </a:cubicBezTo>
                  <a:cubicBezTo>
                    <a:pt x="148" y="182"/>
                    <a:pt x="136" y="186"/>
                    <a:pt x="124" y="186"/>
                  </a:cubicBezTo>
                  <a:cubicBezTo>
                    <a:pt x="91" y="186"/>
                    <a:pt x="63" y="159"/>
                    <a:pt x="63" y="125"/>
                  </a:cubicBezTo>
                  <a:cubicBezTo>
                    <a:pt x="63" y="91"/>
                    <a:pt x="91" y="63"/>
                    <a:pt x="124" y="63"/>
                  </a:cubicBezTo>
                  <a:cubicBezTo>
                    <a:pt x="158" y="63"/>
                    <a:pt x="186" y="91"/>
                    <a:pt x="186" y="125"/>
                  </a:cubicBezTo>
                  <a:cubicBezTo>
                    <a:pt x="186" y="137"/>
                    <a:pt x="182" y="148"/>
                    <a:pt x="176" y="157"/>
                  </a:cubicBezTo>
                  <a:cubicBezTo>
                    <a:pt x="219" y="200"/>
                    <a:pt x="219" y="200"/>
                    <a:pt x="219" y="200"/>
                  </a:cubicBezTo>
                  <a:cubicBezTo>
                    <a:pt x="222" y="203"/>
                    <a:pt x="224" y="207"/>
                    <a:pt x="224" y="211"/>
                  </a:cubicBezTo>
                  <a:cubicBezTo>
                    <a:pt x="224" y="214"/>
                    <a:pt x="223" y="218"/>
                    <a:pt x="220" y="2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1270635" y="5046345"/>
            <a:ext cx="9824085" cy="1146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The objective of the project is to analyze employee data for insights related to travel, study, review, and surveys, using Analysis Tools.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文本框 3"/>
          <p:cNvSpPr txBox="1"/>
          <p:nvPr/>
        </p:nvSpPr>
        <p:spPr>
          <a:xfrm>
            <a:off x="228600" y="190500"/>
            <a:ext cx="2654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 steps</a:t>
            </a:r>
            <a:r>
              <a:rPr lang="ar-EG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:-</a:t>
            </a:r>
            <a:endParaRPr lang="ar-EG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Oval 31"/>
          <p:cNvSpPr/>
          <p:nvPr/>
        </p:nvSpPr>
        <p:spPr>
          <a:xfrm>
            <a:off x="6518275" y="2293938"/>
            <a:ext cx="609600" cy="6096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9" name="TextBox 11"/>
          <p:cNvSpPr txBox="1"/>
          <p:nvPr/>
        </p:nvSpPr>
        <p:spPr>
          <a:xfrm>
            <a:off x="7389813" y="3294063"/>
            <a:ext cx="3763962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By using Python language we did cleaning for data by identifying Missing values ​​and removing Duplicates...,etc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4" name="Oval 35"/>
          <p:cNvSpPr/>
          <p:nvPr/>
        </p:nvSpPr>
        <p:spPr>
          <a:xfrm>
            <a:off x="6518275" y="3376613"/>
            <a:ext cx="609600" cy="6096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2" name="TextBox 11"/>
          <p:cNvSpPr txBox="1"/>
          <p:nvPr/>
        </p:nvSpPr>
        <p:spPr>
          <a:xfrm>
            <a:off x="7389813" y="2156143"/>
            <a:ext cx="37639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By reading and analyzing the dataset, we extracted the key columns and understood the data extracts.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9" name="Oval 39"/>
          <p:cNvSpPr/>
          <p:nvPr/>
        </p:nvSpPr>
        <p:spPr>
          <a:xfrm>
            <a:off x="6518275" y="4421188"/>
            <a:ext cx="609600" cy="6096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5" name="TextBox 11"/>
          <p:cNvSpPr txBox="1"/>
          <p:nvPr/>
        </p:nvSpPr>
        <p:spPr>
          <a:xfrm>
            <a:off x="7389813" y="4356100"/>
            <a:ext cx="37639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Using Power BI, we designed the data by designing a number of charts to extract the main results of the HR analysis data.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1108075" y="2119313"/>
            <a:ext cx="1354138" cy="304641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0" tIns="609442" rIns="76201" bIns="609441" numCol="1" spcCol="1270" anchor="t" anchorCtr="0">
            <a:no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endParaRPr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11278" name="TextBox 10"/>
          <p:cNvSpPr txBox="1"/>
          <p:nvPr/>
        </p:nvSpPr>
        <p:spPr>
          <a:xfrm rot="16200000">
            <a:off x="288925" y="3477260"/>
            <a:ext cx="2306320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22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Understanding</a:t>
            </a:r>
            <a:endParaRPr lang="en-US" altLang="zh-CN" sz="22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2563813" y="2119313"/>
            <a:ext cx="1354138" cy="304641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0" tIns="609442" rIns="76201" bIns="609441" numCol="1" spcCol="1270" anchor="t" anchorCtr="0">
            <a:no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83" name="TextBox 10"/>
          <p:cNvSpPr txBox="1"/>
          <p:nvPr/>
        </p:nvSpPr>
        <p:spPr>
          <a:xfrm rot="16200000">
            <a:off x="2079625" y="3408045"/>
            <a:ext cx="1694180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2200" b="1" dirty="0">
                <a:solidFill>
                  <a:schemeClr val="bg1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Cleaning</a:t>
            </a:r>
            <a:endParaRPr lang="en-US" altLang="zh-CN" sz="2200" b="1" dirty="0">
              <a:solidFill>
                <a:schemeClr val="bg1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4019550" y="2119313"/>
            <a:ext cx="1354138" cy="304641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0" tIns="609442" rIns="76201" bIns="609441" numCol="1" spcCol="1270" anchor="t" anchorCtr="0">
            <a:no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AutoShape 15"/>
          <p:cNvSpPr>
            <a:spLocks noChangeAspect="1" noChangeArrowheads="1" noTextEdit="1"/>
          </p:cNvSpPr>
          <p:nvPr/>
        </p:nvSpPr>
        <p:spPr bwMode="auto">
          <a:xfrm>
            <a:off x="4689475" y="4124325"/>
            <a:ext cx="495300" cy="598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888" tIns="60944" rIns="121888" bIns="60944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87" name="TextBox 10"/>
          <p:cNvSpPr txBox="1"/>
          <p:nvPr/>
        </p:nvSpPr>
        <p:spPr>
          <a:xfrm rot="16200000">
            <a:off x="3730625" y="3346450"/>
            <a:ext cx="1093788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2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Design</a:t>
            </a:r>
            <a:endParaRPr lang="en-US" altLang="zh-CN" sz="2200" b="1" dirty="0">
              <a:solidFill>
                <a:schemeClr val="bg2">
                  <a:lumMod val="10000"/>
                </a:schemeClr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3" name="Group 12"/>
          <p:cNvGrpSpPr>
            <a:grpSpLocks noChangeAspect="1"/>
          </p:cNvGrpSpPr>
          <p:nvPr/>
        </p:nvGrpSpPr>
        <p:grpSpPr>
          <a:xfrm>
            <a:off x="4574540" y="3174683"/>
            <a:ext cx="457200" cy="609600"/>
            <a:chOff x="1440" y="2340"/>
            <a:chExt cx="234" cy="312"/>
          </a:xfrm>
        </p:grpSpPr>
        <p:sp>
          <p:nvSpPr>
            <p:cNvPr id="4" name="AutoShape 11"/>
            <p:cNvSpPr>
              <a:spLocks noChangeAspect="1" noChangeArrowheads="1" noTextEdit="1"/>
            </p:cNvSpPr>
            <p:nvPr/>
          </p:nvSpPr>
          <p:spPr bwMode="auto">
            <a:xfrm>
              <a:off x="1440" y="2340"/>
              <a:ext cx="234" cy="3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888" tIns="60944" rIns="121888" bIns="60944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Freeform 13"/>
            <p:cNvSpPr>
              <a:spLocks noEditPoints="1"/>
            </p:cNvSpPr>
            <p:nvPr/>
          </p:nvSpPr>
          <p:spPr bwMode="auto">
            <a:xfrm>
              <a:off x="1438" y="2342"/>
              <a:ext cx="236" cy="312"/>
            </a:xfrm>
            <a:custGeom>
              <a:avLst/>
              <a:gdLst/>
              <a:ahLst/>
              <a:cxnLst>
                <a:cxn ang="0">
                  <a:pos x="97" y="85"/>
                </a:cxn>
                <a:cxn ang="0">
                  <a:pos x="54" y="129"/>
                </a:cxn>
                <a:cxn ang="0">
                  <a:pos x="21" y="103"/>
                </a:cxn>
                <a:cxn ang="0">
                  <a:pos x="42" y="90"/>
                </a:cxn>
                <a:cxn ang="0">
                  <a:pos x="52" y="110"/>
                </a:cxn>
                <a:cxn ang="0">
                  <a:pos x="95" y="57"/>
                </a:cxn>
                <a:cxn ang="0">
                  <a:pos x="97" y="85"/>
                </a:cxn>
                <a:cxn ang="0">
                  <a:pos x="80" y="24"/>
                </a:cxn>
                <a:cxn ang="0">
                  <a:pos x="76" y="20"/>
                </a:cxn>
                <a:cxn ang="0">
                  <a:pos x="60" y="20"/>
                </a:cxn>
                <a:cxn ang="0">
                  <a:pos x="60" y="12"/>
                </a:cxn>
                <a:cxn ang="0">
                  <a:pos x="80" y="12"/>
                </a:cxn>
                <a:cxn ang="0">
                  <a:pos x="88" y="20"/>
                </a:cxn>
                <a:cxn ang="0">
                  <a:pos x="88" y="58"/>
                </a:cxn>
                <a:cxn ang="0">
                  <a:pos x="80" y="64"/>
                </a:cxn>
                <a:cxn ang="0">
                  <a:pos x="80" y="24"/>
                </a:cxn>
                <a:cxn ang="0">
                  <a:pos x="68" y="24"/>
                </a:cxn>
                <a:cxn ang="0">
                  <a:pos x="72" y="28"/>
                </a:cxn>
                <a:cxn ang="0">
                  <a:pos x="72" y="36"/>
                </a:cxn>
                <a:cxn ang="0">
                  <a:pos x="16" y="36"/>
                </a:cxn>
                <a:cxn ang="0">
                  <a:pos x="16" y="28"/>
                </a:cxn>
                <a:cxn ang="0">
                  <a:pos x="20" y="24"/>
                </a:cxn>
                <a:cxn ang="0">
                  <a:pos x="32" y="24"/>
                </a:cxn>
                <a:cxn ang="0">
                  <a:pos x="32" y="13"/>
                </a:cxn>
                <a:cxn ang="0">
                  <a:pos x="44" y="0"/>
                </a:cxn>
                <a:cxn ang="0">
                  <a:pos x="56" y="13"/>
                </a:cxn>
                <a:cxn ang="0">
                  <a:pos x="56" y="24"/>
                </a:cxn>
                <a:cxn ang="0">
                  <a:pos x="68" y="24"/>
                </a:cxn>
                <a:cxn ang="0">
                  <a:pos x="44" y="12"/>
                </a:cxn>
                <a:cxn ang="0">
                  <a:pos x="40" y="16"/>
                </a:cxn>
                <a:cxn ang="0">
                  <a:pos x="44" y="20"/>
                </a:cxn>
                <a:cxn ang="0">
                  <a:pos x="48" y="16"/>
                </a:cxn>
                <a:cxn ang="0">
                  <a:pos x="44" y="12"/>
                </a:cxn>
                <a:cxn ang="0">
                  <a:pos x="8" y="24"/>
                </a:cxn>
                <a:cxn ang="0">
                  <a:pos x="8" y="116"/>
                </a:cxn>
                <a:cxn ang="0">
                  <a:pos x="12" y="120"/>
                </a:cxn>
                <a:cxn ang="0">
                  <a:pos x="36" y="120"/>
                </a:cxn>
                <a:cxn ang="0">
                  <a:pos x="44" y="128"/>
                </a:cxn>
                <a:cxn ang="0">
                  <a:pos x="8" y="128"/>
                </a:cxn>
                <a:cxn ang="0">
                  <a:pos x="0" y="120"/>
                </a:cxn>
                <a:cxn ang="0">
                  <a:pos x="0" y="20"/>
                </a:cxn>
                <a:cxn ang="0">
                  <a:pos x="8" y="12"/>
                </a:cxn>
                <a:cxn ang="0">
                  <a:pos x="28" y="12"/>
                </a:cxn>
                <a:cxn ang="0">
                  <a:pos x="28" y="20"/>
                </a:cxn>
                <a:cxn ang="0">
                  <a:pos x="12" y="20"/>
                </a:cxn>
                <a:cxn ang="0">
                  <a:pos x="8" y="24"/>
                </a:cxn>
                <a:cxn ang="0">
                  <a:pos x="76" y="120"/>
                </a:cxn>
                <a:cxn ang="0">
                  <a:pos x="80" y="116"/>
                </a:cxn>
                <a:cxn ang="0">
                  <a:pos x="80" y="103"/>
                </a:cxn>
                <a:cxn ang="0">
                  <a:pos x="88" y="96"/>
                </a:cxn>
                <a:cxn ang="0">
                  <a:pos x="88" y="120"/>
                </a:cxn>
                <a:cxn ang="0">
                  <a:pos x="80" y="128"/>
                </a:cxn>
                <a:cxn ang="0">
                  <a:pos x="59" y="128"/>
                </a:cxn>
                <a:cxn ang="0">
                  <a:pos x="65" y="120"/>
                </a:cxn>
                <a:cxn ang="0">
                  <a:pos x="76" y="120"/>
                </a:cxn>
              </a:cxnLst>
              <a:rect l="0" t="0" r="r" b="b"/>
              <a:pathLst>
                <a:path w="97" h="129">
                  <a:moveTo>
                    <a:pt x="97" y="85"/>
                  </a:moveTo>
                  <a:cubicBezTo>
                    <a:pt x="85" y="87"/>
                    <a:pt x="61" y="115"/>
                    <a:pt x="54" y="129"/>
                  </a:cubicBezTo>
                  <a:cubicBezTo>
                    <a:pt x="43" y="116"/>
                    <a:pt x="30" y="106"/>
                    <a:pt x="21" y="103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52" y="110"/>
                    <a:pt x="52" y="110"/>
                    <a:pt x="52" y="110"/>
                  </a:cubicBezTo>
                  <a:cubicBezTo>
                    <a:pt x="52" y="110"/>
                    <a:pt x="69" y="71"/>
                    <a:pt x="95" y="57"/>
                  </a:cubicBezTo>
                  <a:cubicBezTo>
                    <a:pt x="95" y="67"/>
                    <a:pt x="92" y="75"/>
                    <a:pt x="97" y="85"/>
                  </a:cubicBezTo>
                  <a:close/>
                  <a:moveTo>
                    <a:pt x="80" y="24"/>
                  </a:moveTo>
                  <a:cubicBezTo>
                    <a:pt x="80" y="22"/>
                    <a:pt x="78" y="20"/>
                    <a:pt x="76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84" y="12"/>
                    <a:pt x="88" y="16"/>
                    <a:pt x="88" y="20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3" y="60"/>
                    <a:pt x="80" y="64"/>
                    <a:pt x="80" y="64"/>
                  </a:cubicBezTo>
                  <a:lnTo>
                    <a:pt x="80" y="24"/>
                  </a:lnTo>
                  <a:close/>
                  <a:moveTo>
                    <a:pt x="68" y="24"/>
                  </a:moveTo>
                  <a:cubicBezTo>
                    <a:pt x="70" y="24"/>
                    <a:pt x="72" y="26"/>
                    <a:pt x="72" y="28"/>
                  </a:cubicBezTo>
                  <a:cubicBezTo>
                    <a:pt x="72" y="30"/>
                    <a:pt x="72" y="36"/>
                    <a:pt x="72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6"/>
                    <a:pt x="16" y="30"/>
                    <a:pt x="16" y="28"/>
                  </a:cubicBezTo>
                  <a:cubicBezTo>
                    <a:pt x="16" y="26"/>
                    <a:pt x="18" y="24"/>
                    <a:pt x="20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19"/>
                    <a:pt x="32" y="13"/>
                  </a:cubicBezTo>
                  <a:cubicBezTo>
                    <a:pt x="32" y="6"/>
                    <a:pt x="37" y="0"/>
                    <a:pt x="44" y="0"/>
                  </a:cubicBezTo>
                  <a:cubicBezTo>
                    <a:pt x="51" y="0"/>
                    <a:pt x="56" y="6"/>
                    <a:pt x="56" y="13"/>
                  </a:cubicBezTo>
                  <a:cubicBezTo>
                    <a:pt x="56" y="20"/>
                    <a:pt x="56" y="24"/>
                    <a:pt x="56" y="24"/>
                  </a:cubicBezTo>
                  <a:lnTo>
                    <a:pt x="68" y="24"/>
                  </a:lnTo>
                  <a:close/>
                  <a:moveTo>
                    <a:pt x="44" y="12"/>
                  </a:moveTo>
                  <a:cubicBezTo>
                    <a:pt x="42" y="12"/>
                    <a:pt x="40" y="14"/>
                    <a:pt x="40" y="16"/>
                  </a:cubicBezTo>
                  <a:cubicBezTo>
                    <a:pt x="40" y="18"/>
                    <a:pt x="42" y="20"/>
                    <a:pt x="44" y="20"/>
                  </a:cubicBezTo>
                  <a:cubicBezTo>
                    <a:pt x="46" y="20"/>
                    <a:pt x="48" y="18"/>
                    <a:pt x="48" y="16"/>
                  </a:cubicBezTo>
                  <a:cubicBezTo>
                    <a:pt x="48" y="14"/>
                    <a:pt x="46" y="12"/>
                    <a:pt x="44" y="12"/>
                  </a:cubicBezTo>
                  <a:close/>
                  <a:moveTo>
                    <a:pt x="8" y="24"/>
                  </a:moveTo>
                  <a:cubicBezTo>
                    <a:pt x="8" y="116"/>
                    <a:pt x="8" y="116"/>
                    <a:pt x="8" y="116"/>
                  </a:cubicBezTo>
                  <a:cubicBezTo>
                    <a:pt x="8" y="118"/>
                    <a:pt x="10" y="120"/>
                    <a:pt x="12" y="120"/>
                  </a:cubicBezTo>
                  <a:cubicBezTo>
                    <a:pt x="36" y="120"/>
                    <a:pt x="36" y="120"/>
                    <a:pt x="36" y="120"/>
                  </a:cubicBezTo>
                  <a:cubicBezTo>
                    <a:pt x="40" y="122"/>
                    <a:pt x="43" y="125"/>
                    <a:pt x="44" y="128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4" y="128"/>
                    <a:pt x="0" y="124"/>
                    <a:pt x="0" y="1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6"/>
                    <a:pt x="4" y="12"/>
                    <a:pt x="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0" y="20"/>
                    <a:pt x="8" y="22"/>
                    <a:pt x="8" y="24"/>
                  </a:cubicBezTo>
                  <a:close/>
                  <a:moveTo>
                    <a:pt x="76" y="120"/>
                  </a:moveTo>
                  <a:cubicBezTo>
                    <a:pt x="78" y="120"/>
                    <a:pt x="80" y="118"/>
                    <a:pt x="80" y="116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3" y="100"/>
                    <a:pt x="85" y="98"/>
                    <a:pt x="88" y="96"/>
                  </a:cubicBezTo>
                  <a:cubicBezTo>
                    <a:pt x="88" y="120"/>
                    <a:pt x="88" y="120"/>
                    <a:pt x="88" y="120"/>
                  </a:cubicBezTo>
                  <a:cubicBezTo>
                    <a:pt x="88" y="124"/>
                    <a:pt x="84" y="128"/>
                    <a:pt x="80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61" y="125"/>
                    <a:pt x="63" y="123"/>
                    <a:pt x="65" y="120"/>
                  </a:cubicBezTo>
                  <a:lnTo>
                    <a:pt x="76" y="12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9525">
              <a:noFill/>
              <a:round/>
            </a:ln>
          </p:spPr>
          <p:txBody>
            <a:bodyPr vert="horz" wrap="square" lIns="121888" tIns="60944" rIns="121888" bIns="60944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Freeform 105"/>
          <p:cNvSpPr>
            <a:spLocks noEditPoints="1"/>
          </p:cNvSpPr>
          <p:nvPr/>
        </p:nvSpPr>
        <p:spPr>
          <a:xfrm>
            <a:off x="3141980" y="3324860"/>
            <a:ext cx="465455" cy="463550"/>
          </a:xfrm>
          <a:custGeom>
            <a:avLst/>
            <a:gdLst/>
            <a:ahLst/>
            <a:cxnLst>
              <a:cxn ang="0">
                <a:pos x="271698" y="32738"/>
              </a:cxn>
              <a:cxn ang="0">
                <a:pos x="247184" y="8185"/>
              </a:cxn>
              <a:cxn ang="0">
                <a:pos x="234927" y="8185"/>
              </a:cxn>
              <a:cxn ang="0">
                <a:pos x="232884" y="14323"/>
              </a:cxn>
              <a:cxn ang="0">
                <a:pos x="226756" y="16369"/>
              </a:cxn>
              <a:cxn ang="0">
                <a:pos x="226756" y="16369"/>
              </a:cxn>
              <a:cxn ang="0">
                <a:pos x="165470" y="79800"/>
              </a:cxn>
              <a:cxn ang="0">
                <a:pos x="161385" y="94123"/>
              </a:cxn>
              <a:cxn ang="0">
                <a:pos x="167513" y="102308"/>
              </a:cxn>
              <a:cxn ang="0">
                <a:pos x="167513" y="102308"/>
              </a:cxn>
              <a:cxn ang="0">
                <a:pos x="167513" y="102308"/>
              </a:cxn>
              <a:cxn ang="0">
                <a:pos x="155256" y="116631"/>
              </a:cxn>
              <a:cxn ang="0">
                <a:pos x="110314" y="71615"/>
              </a:cxn>
              <a:cxn ang="0">
                <a:pos x="96014" y="18415"/>
              </a:cxn>
              <a:cxn ang="0">
                <a:pos x="42900" y="4092"/>
              </a:cxn>
              <a:cxn ang="0">
                <a:pos x="73542" y="34785"/>
              </a:cxn>
              <a:cxn ang="0">
                <a:pos x="65371" y="65477"/>
              </a:cxn>
              <a:cxn ang="0">
                <a:pos x="36771" y="73661"/>
              </a:cxn>
              <a:cxn ang="0">
                <a:pos x="6129" y="42969"/>
              </a:cxn>
              <a:cxn ang="0">
                <a:pos x="18386" y="94123"/>
              </a:cxn>
              <a:cxn ang="0">
                <a:pos x="73542" y="108446"/>
              </a:cxn>
              <a:cxn ang="0">
                <a:pos x="73542" y="108446"/>
              </a:cxn>
              <a:cxn ang="0">
                <a:pos x="118485" y="151415"/>
              </a:cxn>
              <a:cxn ang="0">
                <a:pos x="75585" y="194384"/>
              </a:cxn>
              <a:cxn ang="0">
                <a:pos x="73542" y="192338"/>
              </a:cxn>
              <a:cxn ang="0">
                <a:pos x="63328" y="200523"/>
              </a:cxn>
              <a:cxn ang="0">
                <a:pos x="42900" y="233261"/>
              </a:cxn>
              <a:cxn ang="0">
                <a:pos x="46985" y="237354"/>
              </a:cxn>
              <a:cxn ang="0">
                <a:pos x="79671" y="218938"/>
              </a:cxn>
              <a:cxn ang="0">
                <a:pos x="87842" y="206661"/>
              </a:cxn>
              <a:cxn ang="0">
                <a:pos x="85799" y="204615"/>
              </a:cxn>
              <a:cxn ang="0">
                <a:pos x="128699" y="161646"/>
              </a:cxn>
              <a:cxn ang="0">
                <a:pos x="200199" y="233261"/>
              </a:cxn>
              <a:cxn ang="0">
                <a:pos x="218584" y="241446"/>
              </a:cxn>
              <a:cxn ang="0">
                <a:pos x="236970" y="233261"/>
              </a:cxn>
              <a:cxn ang="0">
                <a:pos x="236970" y="198477"/>
              </a:cxn>
              <a:cxn ang="0">
                <a:pos x="163427" y="124815"/>
              </a:cxn>
              <a:cxn ang="0">
                <a:pos x="177727" y="112538"/>
              </a:cxn>
              <a:cxn ang="0">
                <a:pos x="183856" y="118677"/>
              </a:cxn>
              <a:cxn ang="0">
                <a:pos x="200199" y="114585"/>
              </a:cxn>
              <a:cxn ang="0">
                <a:pos x="261484" y="53200"/>
              </a:cxn>
              <a:cxn ang="0">
                <a:pos x="261484" y="51154"/>
              </a:cxn>
              <a:cxn ang="0">
                <a:pos x="261484" y="51154"/>
              </a:cxn>
              <a:cxn ang="0">
                <a:pos x="263527" y="47062"/>
              </a:cxn>
              <a:cxn ang="0">
                <a:pos x="271698" y="45015"/>
              </a:cxn>
              <a:cxn ang="0">
                <a:pos x="271698" y="32738"/>
              </a:cxn>
              <a:cxn ang="0">
                <a:pos x="220627" y="210754"/>
              </a:cxn>
              <a:cxn ang="0">
                <a:pos x="230841" y="218938"/>
              </a:cxn>
              <a:cxn ang="0">
                <a:pos x="220627" y="229169"/>
              </a:cxn>
              <a:cxn ang="0">
                <a:pos x="210413" y="218938"/>
              </a:cxn>
              <a:cxn ang="0">
                <a:pos x="220627" y="210754"/>
              </a:cxn>
              <a:cxn ang="0">
                <a:pos x="185899" y="81846"/>
              </a:cxn>
              <a:cxn ang="0">
                <a:pos x="181813" y="77754"/>
              </a:cxn>
              <a:cxn ang="0">
                <a:pos x="226756" y="32738"/>
              </a:cxn>
              <a:cxn ang="0">
                <a:pos x="230841" y="36831"/>
              </a:cxn>
              <a:cxn ang="0">
                <a:pos x="185899" y="81846"/>
              </a:cxn>
              <a:cxn ang="0">
                <a:pos x="200199" y="98215"/>
              </a:cxn>
              <a:cxn ang="0">
                <a:pos x="196113" y="94123"/>
              </a:cxn>
              <a:cxn ang="0">
                <a:pos x="243098" y="47062"/>
              </a:cxn>
              <a:cxn ang="0">
                <a:pos x="247184" y="51154"/>
              </a:cxn>
              <a:cxn ang="0">
                <a:pos x="200199" y="98215"/>
              </a:cxn>
            </a:cxnLst>
            <a:pathLst>
              <a:path w="134" h="118">
                <a:moveTo>
                  <a:pt x="133" y="16"/>
                </a:moveTo>
                <a:cubicBezTo>
                  <a:pt x="121" y="4"/>
                  <a:pt x="121" y="4"/>
                  <a:pt x="121" y="4"/>
                </a:cubicBezTo>
                <a:cubicBezTo>
                  <a:pt x="119" y="2"/>
                  <a:pt x="117" y="2"/>
                  <a:pt x="115" y="4"/>
                </a:cubicBezTo>
                <a:cubicBezTo>
                  <a:pt x="114" y="5"/>
                  <a:pt x="114" y="6"/>
                  <a:pt x="114" y="7"/>
                </a:cubicBezTo>
                <a:cubicBezTo>
                  <a:pt x="113" y="7"/>
                  <a:pt x="112" y="8"/>
                  <a:pt x="111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81" y="39"/>
                  <a:pt x="81" y="39"/>
                  <a:pt x="81" y="39"/>
                </a:cubicBezTo>
                <a:cubicBezTo>
                  <a:pt x="81" y="41"/>
                  <a:pt x="80" y="44"/>
                  <a:pt x="79" y="46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76" y="57"/>
                  <a:pt x="76" y="57"/>
                  <a:pt x="76" y="57"/>
                </a:cubicBezTo>
                <a:cubicBezTo>
                  <a:pt x="54" y="35"/>
                  <a:pt x="54" y="35"/>
                  <a:pt x="54" y="35"/>
                </a:cubicBezTo>
                <a:cubicBezTo>
                  <a:pt x="56" y="26"/>
                  <a:pt x="54" y="16"/>
                  <a:pt x="47" y="9"/>
                </a:cubicBezTo>
                <a:cubicBezTo>
                  <a:pt x="40" y="2"/>
                  <a:pt x="30" y="0"/>
                  <a:pt x="21" y="2"/>
                </a:cubicBezTo>
                <a:cubicBezTo>
                  <a:pt x="36" y="17"/>
                  <a:pt x="36" y="17"/>
                  <a:pt x="36" y="17"/>
                </a:cubicBezTo>
                <a:cubicBezTo>
                  <a:pt x="32" y="32"/>
                  <a:pt x="32" y="32"/>
                  <a:pt x="32" y="32"/>
                </a:cubicBezTo>
                <a:cubicBezTo>
                  <a:pt x="18" y="36"/>
                  <a:pt x="18" y="36"/>
                  <a:pt x="18" y="36"/>
                </a:cubicBezTo>
                <a:cubicBezTo>
                  <a:pt x="3" y="21"/>
                  <a:pt x="3" y="21"/>
                  <a:pt x="3" y="21"/>
                </a:cubicBezTo>
                <a:cubicBezTo>
                  <a:pt x="0" y="29"/>
                  <a:pt x="2" y="39"/>
                  <a:pt x="9" y="46"/>
                </a:cubicBezTo>
                <a:cubicBezTo>
                  <a:pt x="17" y="53"/>
                  <a:pt x="27" y="56"/>
                  <a:pt x="36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58" y="74"/>
                  <a:pt x="58" y="74"/>
                  <a:pt x="58" y="74"/>
                </a:cubicBezTo>
                <a:cubicBezTo>
                  <a:pt x="37" y="95"/>
                  <a:pt x="37" y="95"/>
                  <a:pt x="37" y="95"/>
                </a:cubicBezTo>
                <a:cubicBezTo>
                  <a:pt x="36" y="94"/>
                  <a:pt x="36" y="94"/>
                  <a:pt x="36" y="94"/>
                </a:cubicBezTo>
                <a:cubicBezTo>
                  <a:pt x="31" y="98"/>
                  <a:pt x="31" y="98"/>
                  <a:pt x="31" y="98"/>
                </a:cubicBezTo>
                <a:cubicBezTo>
                  <a:pt x="21" y="114"/>
                  <a:pt x="21" y="114"/>
                  <a:pt x="21" y="114"/>
                </a:cubicBezTo>
                <a:cubicBezTo>
                  <a:pt x="23" y="116"/>
                  <a:pt x="23" y="116"/>
                  <a:pt x="23" y="116"/>
                </a:cubicBezTo>
                <a:cubicBezTo>
                  <a:pt x="39" y="107"/>
                  <a:pt x="39" y="107"/>
                  <a:pt x="39" y="107"/>
                </a:cubicBezTo>
                <a:cubicBezTo>
                  <a:pt x="43" y="101"/>
                  <a:pt x="43" y="101"/>
                  <a:pt x="43" y="101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63" y="79"/>
                  <a:pt x="63" y="79"/>
                  <a:pt x="63" y="79"/>
                </a:cubicBezTo>
                <a:cubicBezTo>
                  <a:pt x="98" y="114"/>
                  <a:pt x="98" y="114"/>
                  <a:pt x="98" y="114"/>
                </a:cubicBezTo>
                <a:cubicBezTo>
                  <a:pt x="100" y="117"/>
                  <a:pt x="104" y="118"/>
                  <a:pt x="107" y="118"/>
                </a:cubicBezTo>
                <a:cubicBezTo>
                  <a:pt x="110" y="118"/>
                  <a:pt x="113" y="117"/>
                  <a:pt x="116" y="114"/>
                </a:cubicBezTo>
                <a:cubicBezTo>
                  <a:pt x="121" y="109"/>
                  <a:pt x="121" y="102"/>
                  <a:pt x="116" y="97"/>
                </a:cubicBezTo>
                <a:cubicBezTo>
                  <a:pt x="80" y="61"/>
                  <a:pt x="80" y="61"/>
                  <a:pt x="80" y="61"/>
                </a:cubicBezTo>
                <a:cubicBezTo>
                  <a:pt x="87" y="55"/>
                  <a:pt x="87" y="55"/>
                  <a:pt x="87" y="55"/>
                </a:cubicBezTo>
                <a:cubicBezTo>
                  <a:pt x="90" y="58"/>
                  <a:pt x="90" y="58"/>
                  <a:pt x="90" y="58"/>
                </a:cubicBezTo>
                <a:cubicBezTo>
                  <a:pt x="92" y="56"/>
                  <a:pt x="95" y="56"/>
                  <a:pt x="98" y="5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9" y="24"/>
                  <a:pt x="129" y="24"/>
                  <a:pt x="129" y="23"/>
                </a:cubicBezTo>
                <a:cubicBezTo>
                  <a:pt x="130" y="23"/>
                  <a:pt x="132" y="23"/>
                  <a:pt x="133" y="22"/>
                </a:cubicBezTo>
                <a:cubicBezTo>
                  <a:pt x="134" y="20"/>
                  <a:pt x="134" y="17"/>
                  <a:pt x="133" y="16"/>
                </a:cubicBezTo>
                <a:close/>
                <a:moveTo>
                  <a:pt x="108" y="103"/>
                </a:moveTo>
                <a:cubicBezTo>
                  <a:pt x="111" y="103"/>
                  <a:pt x="113" y="105"/>
                  <a:pt x="113" y="107"/>
                </a:cubicBezTo>
                <a:cubicBezTo>
                  <a:pt x="113" y="110"/>
                  <a:pt x="111" y="112"/>
                  <a:pt x="108" y="112"/>
                </a:cubicBezTo>
                <a:cubicBezTo>
                  <a:pt x="105" y="112"/>
                  <a:pt x="103" y="110"/>
                  <a:pt x="103" y="107"/>
                </a:cubicBezTo>
                <a:cubicBezTo>
                  <a:pt x="103" y="105"/>
                  <a:pt x="105" y="103"/>
                  <a:pt x="108" y="103"/>
                </a:cubicBezTo>
                <a:close/>
                <a:moveTo>
                  <a:pt x="91" y="40"/>
                </a:moveTo>
                <a:cubicBezTo>
                  <a:pt x="89" y="38"/>
                  <a:pt x="89" y="38"/>
                  <a:pt x="89" y="38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3" y="18"/>
                  <a:pt x="113" y="18"/>
                  <a:pt x="113" y="18"/>
                </a:cubicBezTo>
                <a:lnTo>
                  <a:pt x="91" y="40"/>
                </a:lnTo>
                <a:close/>
                <a:moveTo>
                  <a:pt x="98" y="48"/>
                </a:moveTo>
                <a:cubicBezTo>
                  <a:pt x="96" y="46"/>
                  <a:pt x="96" y="46"/>
                  <a:pt x="96" y="46"/>
                </a:cubicBezTo>
                <a:cubicBezTo>
                  <a:pt x="119" y="23"/>
                  <a:pt x="119" y="23"/>
                  <a:pt x="119" y="23"/>
                </a:cubicBezTo>
                <a:cubicBezTo>
                  <a:pt x="121" y="25"/>
                  <a:pt x="121" y="25"/>
                  <a:pt x="121" y="25"/>
                </a:cubicBezTo>
                <a:lnTo>
                  <a:pt x="98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grpSp>
        <p:nvGrpSpPr>
          <p:cNvPr id="13" name="Group 23"/>
          <p:cNvGrpSpPr/>
          <p:nvPr/>
        </p:nvGrpSpPr>
        <p:grpSpPr>
          <a:xfrm>
            <a:off x="1779181" y="3371385"/>
            <a:ext cx="465519" cy="405835"/>
            <a:chOff x="7540014" y="4306907"/>
            <a:chExt cx="389342" cy="33942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8" name="Freeform 110"/>
            <p:cNvSpPr/>
            <p:nvPr/>
          </p:nvSpPr>
          <p:spPr bwMode="auto">
            <a:xfrm>
              <a:off x="7799575" y="4409234"/>
              <a:ext cx="102328" cy="102328"/>
            </a:xfrm>
            <a:custGeom>
              <a:avLst/>
              <a:gdLst>
                <a:gd name="T0" fmla="*/ 0 w 41"/>
                <a:gd name="T1" fmla="*/ 39 h 41"/>
                <a:gd name="T2" fmla="*/ 3 w 41"/>
                <a:gd name="T3" fmla="*/ 41 h 41"/>
                <a:gd name="T4" fmla="*/ 41 w 41"/>
                <a:gd name="T5" fmla="*/ 3 h 41"/>
                <a:gd name="T6" fmla="*/ 39 w 41"/>
                <a:gd name="T7" fmla="*/ 0 h 41"/>
                <a:gd name="T8" fmla="*/ 0 w 41"/>
                <a:gd name="T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9"/>
                  </a:moveTo>
                  <a:lnTo>
                    <a:pt x="3" y="41"/>
                  </a:lnTo>
                  <a:lnTo>
                    <a:pt x="41" y="3"/>
                  </a:lnTo>
                  <a:lnTo>
                    <a:pt x="39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Freeform 111"/>
            <p:cNvSpPr/>
            <p:nvPr/>
          </p:nvSpPr>
          <p:spPr bwMode="auto">
            <a:xfrm>
              <a:off x="7777112" y="4381780"/>
              <a:ext cx="109814" cy="114806"/>
            </a:xfrm>
            <a:custGeom>
              <a:avLst/>
              <a:gdLst>
                <a:gd name="T0" fmla="*/ 37 w 44"/>
                <a:gd name="T1" fmla="*/ 0 h 46"/>
                <a:gd name="T2" fmla="*/ 0 w 44"/>
                <a:gd name="T3" fmla="*/ 39 h 46"/>
                <a:gd name="T4" fmla="*/ 6 w 44"/>
                <a:gd name="T5" fmla="*/ 46 h 46"/>
                <a:gd name="T6" fmla="*/ 44 w 44"/>
                <a:gd name="T7" fmla="*/ 8 h 46"/>
                <a:gd name="T8" fmla="*/ 37 w 4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6">
                  <a:moveTo>
                    <a:pt x="37" y="0"/>
                  </a:moveTo>
                  <a:lnTo>
                    <a:pt x="0" y="39"/>
                  </a:lnTo>
                  <a:lnTo>
                    <a:pt x="6" y="46"/>
                  </a:lnTo>
                  <a:lnTo>
                    <a:pt x="44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12"/>
            <p:cNvSpPr/>
            <p:nvPr/>
          </p:nvSpPr>
          <p:spPr bwMode="auto">
            <a:xfrm>
              <a:off x="7757146" y="4366805"/>
              <a:ext cx="104823" cy="104823"/>
            </a:xfrm>
            <a:custGeom>
              <a:avLst/>
              <a:gdLst>
                <a:gd name="T0" fmla="*/ 0 w 42"/>
                <a:gd name="T1" fmla="*/ 38 h 42"/>
                <a:gd name="T2" fmla="*/ 4 w 42"/>
                <a:gd name="T3" fmla="*/ 42 h 42"/>
                <a:gd name="T4" fmla="*/ 42 w 42"/>
                <a:gd name="T5" fmla="*/ 4 h 42"/>
                <a:gd name="T6" fmla="*/ 38 w 42"/>
                <a:gd name="T7" fmla="*/ 0 h 42"/>
                <a:gd name="T8" fmla="*/ 0 w 42"/>
                <a:gd name="T9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0" y="38"/>
                  </a:moveTo>
                  <a:lnTo>
                    <a:pt x="4" y="42"/>
                  </a:lnTo>
                  <a:lnTo>
                    <a:pt x="42" y="4"/>
                  </a:lnTo>
                  <a:lnTo>
                    <a:pt x="38" y="0"/>
                  </a:ln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 113"/>
            <p:cNvSpPr/>
            <p:nvPr/>
          </p:nvSpPr>
          <p:spPr bwMode="auto">
            <a:xfrm>
              <a:off x="7729693" y="4469133"/>
              <a:ext cx="69882" cy="69882"/>
            </a:xfrm>
            <a:custGeom>
              <a:avLst/>
              <a:gdLst>
                <a:gd name="T0" fmla="*/ 28 w 28"/>
                <a:gd name="T1" fmla="*/ 20 h 28"/>
                <a:gd name="T2" fmla="*/ 8 w 28"/>
                <a:gd name="T3" fmla="*/ 0 h 28"/>
                <a:gd name="T4" fmla="*/ 0 w 28"/>
                <a:gd name="T5" fmla="*/ 20 h 28"/>
                <a:gd name="T6" fmla="*/ 9 w 28"/>
                <a:gd name="T7" fmla="*/ 28 h 28"/>
                <a:gd name="T8" fmla="*/ 28 w 28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20"/>
                  </a:moveTo>
                  <a:lnTo>
                    <a:pt x="8" y="0"/>
                  </a:lnTo>
                  <a:lnTo>
                    <a:pt x="0" y="20"/>
                  </a:lnTo>
                  <a:lnTo>
                    <a:pt x="9" y="28"/>
                  </a:lnTo>
                  <a:lnTo>
                    <a:pt x="2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14"/>
            <p:cNvSpPr/>
            <p:nvPr/>
          </p:nvSpPr>
          <p:spPr bwMode="auto">
            <a:xfrm>
              <a:off x="7712222" y="4526535"/>
              <a:ext cx="34941" cy="32446"/>
            </a:xfrm>
            <a:custGeom>
              <a:avLst/>
              <a:gdLst>
                <a:gd name="T0" fmla="*/ 0 w 14"/>
                <a:gd name="T1" fmla="*/ 13 h 13"/>
                <a:gd name="T2" fmla="*/ 14 w 14"/>
                <a:gd name="T3" fmla="*/ 6 h 13"/>
                <a:gd name="T4" fmla="*/ 6 w 14"/>
                <a:gd name="T5" fmla="*/ 0 h 13"/>
                <a:gd name="T6" fmla="*/ 0 w 14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0" y="13"/>
                  </a:moveTo>
                  <a:lnTo>
                    <a:pt x="14" y="6"/>
                  </a:lnTo>
                  <a:lnTo>
                    <a:pt x="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Freeform 115"/>
            <p:cNvSpPr/>
            <p:nvPr/>
          </p:nvSpPr>
          <p:spPr bwMode="auto">
            <a:xfrm>
              <a:off x="7859474" y="4341848"/>
              <a:ext cx="69882" cy="69882"/>
            </a:xfrm>
            <a:custGeom>
              <a:avLst/>
              <a:gdLst>
                <a:gd name="T0" fmla="*/ 7 w 28"/>
                <a:gd name="T1" fmla="*/ 0 h 28"/>
                <a:gd name="T2" fmla="*/ 0 w 28"/>
                <a:gd name="T3" fmla="*/ 8 h 28"/>
                <a:gd name="T4" fmla="*/ 20 w 28"/>
                <a:gd name="T5" fmla="*/ 28 h 28"/>
                <a:gd name="T6" fmla="*/ 28 w 28"/>
                <a:gd name="T7" fmla="*/ 20 h 28"/>
                <a:gd name="T8" fmla="*/ 7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7" y="0"/>
                  </a:moveTo>
                  <a:lnTo>
                    <a:pt x="0" y="8"/>
                  </a:lnTo>
                  <a:lnTo>
                    <a:pt x="20" y="28"/>
                  </a:lnTo>
                  <a:lnTo>
                    <a:pt x="28" y="2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116"/>
            <p:cNvSpPr/>
            <p:nvPr/>
          </p:nvSpPr>
          <p:spPr bwMode="auto">
            <a:xfrm>
              <a:off x="7540014" y="4306907"/>
              <a:ext cx="279527" cy="339426"/>
            </a:xfrm>
            <a:custGeom>
              <a:avLst/>
              <a:gdLst>
                <a:gd name="T0" fmla="*/ 104 w 112"/>
                <a:gd name="T1" fmla="*/ 101 h 136"/>
                <a:gd name="T2" fmla="*/ 83 w 112"/>
                <a:gd name="T3" fmla="*/ 101 h 136"/>
                <a:gd name="T4" fmla="*/ 83 w 112"/>
                <a:gd name="T5" fmla="*/ 129 h 136"/>
                <a:gd name="T6" fmla="*/ 7 w 112"/>
                <a:gd name="T7" fmla="*/ 129 h 136"/>
                <a:gd name="T8" fmla="*/ 7 w 112"/>
                <a:gd name="T9" fmla="*/ 32 h 136"/>
                <a:gd name="T10" fmla="*/ 104 w 112"/>
                <a:gd name="T11" fmla="*/ 32 h 136"/>
                <a:gd name="T12" fmla="*/ 104 w 112"/>
                <a:gd name="T13" fmla="*/ 40 h 136"/>
                <a:gd name="T14" fmla="*/ 112 w 112"/>
                <a:gd name="T15" fmla="*/ 32 h 136"/>
                <a:gd name="T16" fmla="*/ 112 w 112"/>
                <a:gd name="T17" fmla="*/ 6 h 136"/>
                <a:gd name="T18" fmla="*/ 97 w 112"/>
                <a:gd name="T19" fmla="*/ 6 h 136"/>
                <a:gd name="T20" fmla="*/ 97 w 112"/>
                <a:gd name="T21" fmla="*/ 20 h 136"/>
                <a:gd name="T22" fmla="*/ 95 w 112"/>
                <a:gd name="T23" fmla="*/ 20 h 136"/>
                <a:gd name="T24" fmla="*/ 95 w 112"/>
                <a:gd name="T25" fmla="*/ 0 h 136"/>
                <a:gd name="T26" fmla="*/ 89 w 112"/>
                <a:gd name="T27" fmla="*/ 0 h 136"/>
                <a:gd name="T28" fmla="*/ 89 w 112"/>
                <a:gd name="T29" fmla="*/ 20 h 136"/>
                <a:gd name="T30" fmla="*/ 87 w 112"/>
                <a:gd name="T31" fmla="*/ 20 h 136"/>
                <a:gd name="T32" fmla="*/ 87 w 112"/>
                <a:gd name="T33" fmla="*/ 6 h 136"/>
                <a:gd name="T34" fmla="*/ 79 w 112"/>
                <a:gd name="T35" fmla="*/ 6 h 136"/>
                <a:gd name="T36" fmla="*/ 79 w 112"/>
                <a:gd name="T37" fmla="*/ 20 h 136"/>
                <a:gd name="T38" fmla="*/ 76 w 112"/>
                <a:gd name="T39" fmla="*/ 20 h 136"/>
                <a:gd name="T40" fmla="*/ 76 w 112"/>
                <a:gd name="T41" fmla="*/ 0 h 136"/>
                <a:gd name="T42" fmla="*/ 72 w 112"/>
                <a:gd name="T43" fmla="*/ 0 h 136"/>
                <a:gd name="T44" fmla="*/ 72 w 112"/>
                <a:gd name="T45" fmla="*/ 20 h 136"/>
                <a:gd name="T46" fmla="*/ 68 w 112"/>
                <a:gd name="T47" fmla="*/ 20 h 136"/>
                <a:gd name="T48" fmla="*/ 68 w 112"/>
                <a:gd name="T49" fmla="*/ 6 h 136"/>
                <a:gd name="T50" fmla="*/ 60 w 112"/>
                <a:gd name="T51" fmla="*/ 6 h 136"/>
                <a:gd name="T52" fmla="*/ 60 w 112"/>
                <a:gd name="T53" fmla="*/ 20 h 136"/>
                <a:gd name="T54" fmla="*/ 57 w 112"/>
                <a:gd name="T55" fmla="*/ 20 h 136"/>
                <a:gd name="T56" fmla="*/ 57 w 112"/>
                <a:gd name="T57" fmla="*/ 0 h 136"/>
                <a:gd name="T58" fmla="*/ 53 w 112"/>
                <a:gd name="T59" fmla="*/ 0 h 136"/>
                <a:gd name="T60" fmla="*/ 53 w 112"/>
                <a:gd name="T61" fmla="*/ 20 h 136"/>
                <a:gd name="T62" fmla="*/ 51 w 112"/>
                <a:gd name="T63" fmla="*/ 20 h 136"/>
                <a:gd name="T64" fmla="*/ 51 w 112"/>
                <a:gd name="T65" fmla="*/ 6 h 136"/>
                <a:gd name="T66" fmla="*/ 43 w 112"/>
                <a:gd name="T67" fmla="*/ 6 h 136"/>
                <a:gd name="T68" fmla="*/ 43 w 112"/>
                <a:gd name="T69" fmla="*/ 20 h 136"/>
                <a:gd name="T70" fmla="*/ 40 w 112"/>
                <a:gd name="T71" fmla="*/ 20 h 136"/>
                <a:gd name="T72" fmla="*/ 40 w 112"/>
                <a:gd name="T73" fmla="*/ 0 h 136"/>
                <a:gd name="T74" fmla="*/ 35 w 112"/>
                <a:gd name="T75" fmla="*/ 0 h 136"/>
                <a:gd name="T76" fmla="*/ 35 w 112"/>
                <a:gd name="T77" fmla="*/ 20 h 136"/>
                <a:gd name="T78" fmla="*/ 32 w 112"/>
                <a:gd name="T79" fmla="*/ 20 h 136"/>
                <a:gd name="T80" fmla="*/ 32 w 112"/>
                <a:gd name="T81" fmla="*/ 6 h 136"/>
                <a:gd name="T82" fmla="*/ 25 w 112"/>
                <a:gd name="T83" fmla="*/ 6 h 136"/>
                <a:gd name="T84" fmla="*/ 25 w 112"/>
                <a:gd name="T85" fmla="*/ 20 h 136"/>
                <a:gd name="T86" fmla="*/ 23 w 112"/>
                <a:gd name="T87" fmla="*/ 20 h 136"/>
                <a:gd name="T88" fmla="*/ 23 w 112"/>
                <a:gd name="T89" fmla="*/ 0 h 136"/>
                <a:gd name="T90" fmla="*/ 17 w 112"/>
                <a:gd name="T91" fmla="*/ 0 h 136"/>
                <a:gd name="T92" fmla="*/ 17 w 112"/>
                <a:gd name="T93" fmla="*/ 20 h 136"/>
                <a:gd name="T94" fmla="*/ 15 w 112"/>
                <a:gd name="T95" fmla="*/ 20 h 136"/>
                <a:gd name="T96" fmla="*/ 15 w 112"/>
                <a:gd name="T97" fmla="*/ 6 h 136"/>
                <a:gd name="T98" fmla="*/ 0 w 112"/>
                <a:gd name="T99" fmla="*/ 6 h 136"/>
                <a:gd name="T100" fmla="*/ 0 w 112"/>
                <a:gd name="T101" fmla="*/ 24 h 136"/>
                <a:gd name="T102" fmla="*/ 0 w 112"/>
                <a:gd name="T103" fmla="*/ 28 h 136"/>
                <a:gd name="T104" fmla="*/ 0 w 112"/>
                <a:gd name="T105" fmla="*/ 136 h 136"/>
                <a:gd name="T106" fmla="*/ 89 w 112"/>
                <a:gd name="T107" fmla="*/ 136 h 136"/>
                <a:gd name="T108" fmla="*/ 112 w 112"/>
                <a:gd name="T109" fmla="*/ 110 h 136"/>
                <a:gd name="T110" fmla="*/ 112 w 112"/>
                <a:gd name="T111" fmla="*/ 84 h 136"/>
                <a:gd name="T112" fmla="*/ 104 w 112"/>
                <a:gd name="T113" fmla="*/ 92 h 136"/>
                <a:gd name="T114" fmla="*/ 104 w 112"/>
                <a:gd name="T11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36">
                  <a:moveTo>
                    <a:pt x="104" y="101"/>
                  </a:moveTo>
                  <a:lnTo>
                    <a:pt x="83" y="101"/>
                  </a:lnTo>
                  <a:lnTo>
                    <a:pt x="83" y="129"/>
                  </a:lnTo>
                  <a:lnTo>
                    <a:pt x="7" y="129"/>
                  </a:lnTo>
                  <a:lnTo>
                    <a:pt x="7" y="32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12" y="32"/>
                  </a:lnTo>
                  <a:lnTo>
                    <a:pt x="112" y="6"/>
                  </a:lnTo>
                  <a:lnTo>
                    <a:pt x="97" y="6"/>
                  </a:lnTo>
                  <a:lnTo>
                    <a:pt x="97" y="20"/>
                  </a:lnTo>
                  <a:lnTo>
                    <a:pt x="95" y="20"/>
                  </a:lnTo>
                  <a:lnTo>
                    <a:pt x="95" y="0"/>
                  </a:lnTo>
                  <a:lnTo>
                    <a:pt x="89" y="0"/>
                  </a:lnTo>
                  <a:lnTo>
                    <a:pt x="89" y="20"/>
                  </a:lnTo>
                  <a:lnTo>
                    <a:pt x="87" y="20"/>
                  </a:lnTo>
                  <a:lnTo>
                    <a:pt x="87" y="6"/>
                  </a:lnTo>
                  <a:lnTo>
                    <a:pt x="79" y="6"/>
                  </a:lnTo>
                  <a:lnTo>
                    <a:pt x="79" y="20"/>
                  </a:lnTo>
                  <a:lnTo>
                    <a:pt x="76" y="2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72" y="20"/>
                  </a:lnTo>
                  <a:lnTo>
                    <a:pt x="68" y="20"/>
                  </a:lnTo>
                  <a:lnTo>
                    <a:pt x="68" y="6"/>
                  </a:lnTo>
                  <a:lnTo>
                    <a:pt x="60" y="6"/>
                  </a:lnTo>
                  <a:lnTo>
                    <a:pt x="6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53" y="20"/>
                  </a:lnTo>
                  <a:lnTo>
                    <a:pt x="51" y="20"/>
                  </a:lnTo>
                  <a:lnTo>
                    <a:pt x="51" y="6"/>
                  </a:lnTo>
                  <a:lnTo>
                    <a:pt x="43" y="6"/>
                  </a:lnTo>
                  <a:lnTo>
                    <a:pt x="43" y="20"/>
                  </a:lnTo>
                  <a:lnTo>
                    <a:pt x="40" y="2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5" y="20"/>
                  </a:lnTo>
                  <a:lnTo>
                    <a:pt x="32" y="20"/>
                  </a:lnTo>
                  <a:lnTo>
                    <a:pt x="32" y="6"/>
                  </a:lnTo>
                  <a:lnTo>
                    <a:pt x="25" y="6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7" y="20"/>
                  </a:lnTo>
                  <a:lnTo>
                    <a:pt x="15" y="20"/>
                  </a:lnTo>
                  <a:lnTo>
                    <a:pt x="15" y="6"/>
                  </a:lnTo>
                  <a:lnTo>
                    <a:pt x="0" y="6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136"/>
                  </a:lnTo>
                  <a:lnTo>
                    <a:pt x="89" y="136"/>
                  </a:lnTo>
                  <a:lnTo>
                    <a:pt x="112" y="110"/>
                  </a:lnTo>
                  <a:lnTo>
                    <a:pt x="112" y="84"/>
                  </a:lnTo>
                  <a:lnTo>
                    <a:pt x="104" y="92"/>
                  </a:lnTo>
                  <a:lnTo>
                    <a:pt x="104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117"/>
            <p:cNvSpPr>
              <a:spLocks noChangeArrowheads="1"/>
            </p:cNvSpPr>
            <p:nvPr/>
          </p:nvSpPr>
          <p:spPr bwMode="auto">
            <a:xfrm>
              <a:off x="7589930" y="4421713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118"/>
            <p:cNvSpPr>
              <a:spLocks noChangeArrowheads="1"/>
            </p:cNvSpPr>
            <p:nvPr/>
          </p:nvSpPr>
          <p:spPr bwMode="auto">
            <a:xfrm>
              <a:off x="7589930" y="4461645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119"/>
            <p:cNvSpPr>
              <a:spLocks noChangeArrowheads="1"/>
            </p:cNvSpPr>
            <p:nvPr/>
          </p:nvSpPr>
          <p:spPr bwMode="auto">
            <a:xfrm>
              <a:off x="7589930" y="4506569"/>
              <a:ext cx="109814" cy="14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120"/>
            <p:cNvSpPr>
              <a:spLocks noChangeArrowheads="1"/>
            </p:cNvSpPr>
            <p:nvPr/>
          </p:nvSpPr>
          <p:spPr bwMode="auto">
            <a:xfrm>
              <a:off x="7589930" y="4548998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Freeform 13"/>
          <p:cNvSpPr>
            <a:spLocks noEditPoints="1"/>
          </p:cNvSpPr>
          <p:nvPr/>
        </p:nvSpPr>
        <p:spPr bwMode="auto">
          <a:xfrm>
            <a:off x="6684963" y="4537393"/>
            <a:ext cx="276225" cy="365125"/>
          </a:xfrm>
          <a:custGeom>
            <a:avLst/>
            <a:gdLst/>
            <a:ahLst/>
            <a:cxnLst>
              <a:cxn ang="0">
                <a:pos x="97" y="85"/>
              </a:cxn>
              <a:cxn ang="0">
                <a:pos x="54" y="129"/>
              </a:cxn>
              <a:cxn ang="0">
                <a:pos x="21" y="103"/>
              </a:cxn>
              <a:cxn ang="0">
                <a:pos x="42" y="90"/>
              </a:cxn>
              <a:cxn ang="0">
                <a:pos x="52" y="110"/>
              </a:cxn>
              <a:cxn ang="0">
                <a:pos x="95" y="57"/>
              </a:cxn>
              <a:cxn ang="0">
                <a:pos x="97" y="85"/>
              </a:cxn>
              <a:cxn ang="0">
                <a:pos x="80" y="24"/>
              </a:cxn>
              <a:cxn ang="0">
                <a:pos x="76" y="20"/>
              </a:cxn>
              <a:cxn ang="0">
                <a:pos x="60" y="20"/>
              </a:cxn>
              <a:cxn ang="0">
                <a:pos x="60" y="12"/>
              </a:cxn>
              <a:cxn ang="0">
                <a:pos x="80" y="12"/>
              </a:cxn>
              <a:cxn ang="0">
                <a:pos x="88" y="20"/>
              </a:cxn>
              <a:cxn ang="0">
                <a:pos x="88" y="58"/>
              </a:cxn>
              <a:cxn ang="0">
                <a:pos x="80" y="64"/>
              </a:cxn>
              <a:cxn ang="0">
                <a:pos x="80" y="24"/>
              </a:cxn>
              <a:cxn ang="0">
                <a:pos x="68" y="24"/>
              </a:cxn>
              <a:cxn ang="0">
                <a:pos x="72" y="28"/>
              </a:cxn>
              <a:cxn ang="0">
                <a:pos x="72" y="36"/>
              </a:cxn>
              <a:cxn ang="0">
                <a:pos x="16" y="36"/>
              </a:cxn>
              <a:cxn ang="0">
                <a:pos x="16" y="28"/>
              </a:cxn>
              <a:cxn ang="0">
                <a:pos x="20" y="24"/>
              </a:cxn>
              <a:cxn ang="0">
                <a:pos x="32" y="24"/>
              </a:cxn>
              <a:cxn ang="0">
                <a:pos x="32" y="13"/>
              </a:cxn>
              <a:cxn ang="0">
                <a:pos x="44" y="0"/>
              </a:cxn>
              <a:cxn ang="0">
                <a:pos x="56" y="13"/>
              </a:cxn>
              <a:cxn ang="0">
                <a:pos x="56" y="24"/>
              </a:cxn>
              <a:cxn ang="0">
                <a:pos x="68" y="24"/>
              </a:cxn>
              <a:cxn ang="0">
                <a:pos x="44" y="12"/>
              </a:cxn>
              <a:cxn ang="0">
                <a:pos x="40" y="16"/>
              </a:cxn>
              <a:cxn ang="0">
                <a:pos x="44" y="20"/>
              </a:cxn>
              <a:cxn ang="0">
                <a:pos x="48" y="16"/>
              </a:cxn>
              <a:cxn ang="0">
                <a:pos x="44" y="12"/>
              </a:cxn>
              <a:cxn ang="0">
                <a:pos x="8" y="24"/>
              </a:cxn>
              <a:cxn ang="0">
                <a:pos x="8" y="116"/>
              </a:cxn>
              <a:cxn ang="0">
                <a:pos x="12" y="120"/>
              </a:cxn>
              <a:cxn ang="0">
                <a:pos x="36" y="120"/>
              </a:cxn>
              <a:cxn ang="0">
                <a:pos x="44" y="128"/>
              </a:cxn>
              <a:cxn ang="0">
                <a:pos x="8" y="128"/>
              </a:cxn>
              <a:cxn ang="0">
                <a:pos x="0" y="120"/>
              </a:cxn>
              <a:cxn ang="0">
                <a:pos x="0" y="20"/>
              </a:cxn>
              <a:cxn ang="0">
                <a:pos x="8" y="12"/>
              </a:cxn>
              <a:cxn ang="0">
                <a:pos x="28" y="12"/>
              </a:cxn>
              <a:cxn ang="0">
                <a:pos x="28" y="20"/>
              </a:cxn>
              <a:cxn ang="0">
                <a:pos x="12" y="20"/>
              </a:cxn>
              <a:cxn ang="0">
                <a:pos x="8" y="24"/>
              </a:cxn>
              <a:cxn ang="0">
                <a:pos x="76" y="120"/>
              </a:cxn>
              <a:cxn ang="0">
                <a:pos x="80" y="116"/>
              </a:cxn>
              <a:cxn ang="0">
                <a:pos x="80" y="103"/>
              </a:cxn>
              <a:cxn ang="0">
                <a:pos x="88" y="96"/>
              </a:cxn>
              <a:cxn ang="0">
                <a:pos x="88" y="120"/>
              </a:cxn>
              <a:cxn ang="0">
                <a:pos x="80" y="128"/>
              </a:cxn>
              <a:cxn ang="0">
                <a:pos x="59" y="128"/>
              </a:cxn>
              <a:cxn ang="0">
                <a:pos x="65" y="120"/>
              </a:cxn>
              <a:cxn ang="0">
                <a:pos x="76" y="120"/>
              </a:cxn>
            </a:cxnLst>
            <a:rect l="0" t="0" r="r" b="b"/>
            <a:pathLst>
              <a:path w="97" h="129">
                <a:moveTo>
                  <a:pt x="97" y="85"/>
                </a:moveTo>
                <a:cubicBezTo>
                  <a:pt x="85" y="87"/>
                  <a:pt x="61" y="115"/>
                  <a:pt x="54" y="129"/>
                </a:cubicBezTo>
                <a:cubicBezTo>
                  <a:pt x="43" y="116"/>
                  <a:pt x="30" y="106"/>
                  <a:pt x="21" y="103"/>
                </a:cubicBezTo>
                <a:cubicBezTo>
                  <a:pt x="42" y="90"/>
                  <a:pt x="42" y="90"/>
                  <a:pt x="42" y="90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2" y="110"/>
                  <a:pt x="69" y="71"/>
                  <a:pt x="95" y="57"/>
                </a:cubicBezTo>
                <a:cubicBezTo>
                  <a:pt x="95" y="67"/>
                  <a:pt x="92" y="75"/>
                  <a:pt x="97" y="85"/>
                </a:cubicBezTo>
                <a:close/>
                <a:moveTo>
                  <a:pt x="80" y="24"/>
                </a:moveTo>
                <a:cubicBezTo>
                  <a:pt x="80" y="22"/>
                  <a:pt x="78" y="20"/>
                  <a:pt x="76" y="20"/>
                </a:cubicBezTo>
                <a:cubicBezTo>
                  <a:pt x="60" y="20"/>
                  <a:pt x="60" y="20"/>
                  <a:pt x="60" y="20"/>
                </a:cubicBezTo>
                <a:cubicBezTo>
                  <a:pt x="60" y="12"/>
                  <a:pt x="60" y="12"/>
                  <a:pt x="60" y="12"/>
                </a:cubicBezTo>
                <a:cubicBezTo>
                  <a:pt x="80" y="12"/>
                  <a:pt x="80" y="12"/>
                  <a:pt x="80" y="12"/>
                </a:cubicBezTo>
                <a:cubicBezTo>
                  <a:pt x="84" y="12"/>
                  <a:pt x="88" y="16"/>
                  <a:pt x="88" y="20"/>
                </a:cubicBezTo>
                <a:cubicBezTo>
                  <a:pt x="88" y="58"/>
                  <a:pt x="88" y="58"/>
                  <a:pt x="88" y="58"/>
                </a:cubicBezTo>
                <a:cubicBezTo>
                  <a:pt x="83" y="60"/>
                  <a:pt x="80" y="64"/>
                  <a:pt x="80" y="64"/>
                </a:cubicBezTo>
                <a:lnTo>
                  <a:pt x="80" y="24"/>
                </a:lnTo>
                <a:close/>
                <a:moveTo>
                  <a:pt x="68" y="24"/>
                </a:moveTo>
                <a:cubicBezTo>
                  <a:pt x="70" y="24"/>
                  <a:pt x="72" y="26"/>
                  <a:pt x="72" y="28"/>
                </a:cubicBezTo>
                <a:cubicBezTo>
                  <a:pt x="72" y="30"/>
                  <a:pt x="72" y="36"/>
                  <a:pt x="72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6" y="30"/>
                  <a:pt x="16" y="28"/>
                </a:cubicBezTo>
                <a:cubicBezTo>
                  <a:pt x="16" y="26"/>
                  <a:pt x="18" y="24"/>
                  <a:pt x="20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4"/>
                  <a:pt x="32" y="19"/>
                  <a:pt x="32" y="13"/>
                </a:cubicBezTo>
                <a:cubicBezTo>
                  <a:pt x="32" y="6"/>
                  <a:pt x="37" y="0"/>
                  <a:pt x="44" y="0"/>
                </a:cubicBezTo>
                <a:cubicBezTo>
                  <a:pt x="51" y="0"/>
                  <a:pt x="56" y="6"/>
                  <a:pt x="56" y="13"/>
                </a:cubicBezTo>
                <a:cubicBezTo>
                  <a:pt x="56" y="20"/>
                  <a:pt x="56" y="24"/>
                  <a:pt x="56" y="24"/>
                </a:cubicBezTo>
                <a:lnTo>
                  <a:pt x="68" y="24"/>
                </a:lnTo>
                <a:close/>
                <a:moveTo>
                  <a:pt x="44" y="12"/>
                </a:moveTo>
                <a:cubicBezTo>
                  <a:pt x="42" y="12"/>
                  <a:pt x="40" y="14"/>
                  <a:pt x="40" y="16"/>
                </a:cubicBezTo>
                <a:cubicBezTo>
                  <a:pt x="40" y="18"/>
                  <a:pt x="42" y="20"/>
                  <a:pt x="44" y="20"/>
                </a:cubicBezTo>
                <a:cubicBezTo>
                  <a:pt x="46" y="20"/>
                  <a:pt x="48" y="18"/>
                  <a:pt x="48" y="16"/>
                </a:cubicBezTo>
                <a:cubicBezTo>
                  <a:pt x="48" y="14"/>
                  <a:pt x="46" y="12"/>
                  <a:pt x="44" y="12"/>
                </a:cubicBezTo>
                <a:close/>
                <a:moveTo>
                  <a:pt x="8" y="24"/>
                </a:moveTo>
                <a:cubicBezTo>
                  <a:pt x="8" y="116"/>
                  <a:pt x="8" y="116"/>
                  <a:pt x="8" y="116"/>
                </a:cubicBezTo>
                <a:cubicBezTo>
                  <a:pt x="8" y="118"/>
                  <a:pt x="10" y="120"/>
                  <a:pt x="12" y="120"/>
                </a:cubicBezTo>
                <a:cubicBezTo>
                  <a:pt x="36" y="120"/>
                  <a:pt x="36" y="120"/>
                  <a:pt x="36" y="120"/>
                </a:cubicBezTo>
                <a:cubicBezTo>
                  <a:pt x="40" y="122"/>
                  <a:pt x="43" y="125"/>
                  <a:pt x="44" y="128"/>
                </a:cubicBezTo>
                <a:cubicBezTo>
                  <a:pt x="8" y="128"/>
                  <a:pt x="8" y="128"/>
                  <a:pt x="8" y="128"/>
                </a:cubicBezTo>
                <a:cubicBezTo>
                  <a:pt x="4" y="128"/>
                  <a:pt x="0" y="124"/>
                  <a:pt x="0" y="1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6"/>
                  <a:pt x="4" y="12"/>
                  <a:pt x="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20"/>
                  <a:pt x="28" y="20"/>
                  <a:pt x="28" y="20"/>
                </a:cubicBezTo>
                <a:cubicBezTo>
                  <a:pt x="12" y="20"/>
                  <a:pt x="12" y="20"/>
                  <a:pt x="12" y="20"/>
                </a:cubicBezTo>
                <a:cubicBezTo>
                  <a:pt x="10" y="20"/>
                  <a:pt x="8" y="22"/>
                  <a:pt x="8" y="24"/>
                </a:cubicBezTo>
                <a:close/>
                <a:moveTo>
                  <a:pt x="76" y="120"/>
                </a:moveTo>
                <a:cubicBezTo>
                  <a:pt x="78" y="120"/>
                  <a:pt x="80" y="118"/>
                  <a:pt x="80" y="116"/>
                </a:cubicBezTo>
                <a:cubicBezTo>
                  <a:pt x="80" y="103"/>
                  <a:pt x="80" y="103"/>
                  <a:pt x="80" y="103"/>
                </a:cubicBezTo>
                <a:cubicBezTo>
                  <a:pt x="83" y="100"/>
                  <a:pt x="85" y="98"/>
                  <a:pt x="88" y="96"/>
                </a:cubicBezTo>
                <a:cubicBezTo>
                  <a:pt x="88" y="120"/>
                  <a:pt x="88" y="120"/>
                  <a:pt x="88" y="120"/>
                </a:cubicBezTo>
                <a:cubicBezTo>
                  <a:pt x="88" y="124"/>
                  <a:pt x="84" y="128"/>
                  <a:pt x="80" y="128"/>
                </a:cubicBezTo>
                <a:cubicBezTo>
                  <a:pt x="59" y="128"/>
                  <a:pt x="59" y="128"/>
                  <a:pt x="59" y="128"/>
                </a:cubicBezTo>
                <a:cubicBezTo>
                  <a:pt x="61" y="125"/>
                  <a:pt x="63" y="123"/>
                  <a:pt x="65" y="120"/>
                </a:cubicBezTo>
                <a:lnTo>
                  <a:pt x="76" y="120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121888" tIns="60944" rIns="121888" bIns="60944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Freeform 105"/>
          <p:cNvSpPr>
            <a:spLocks noEditPoints="1"/>
          </p:cNvSpPr>
          <p:nvPr/>
        </p:nvSpPr>
        <p:spPr>
          <a:xfrm>
            <a:off x="6657975" y="3531870"/>
            <a:ext cx="321310" cy="297180"/>
          </a:xfrm>
          <a:custGeom>
            <a:avLst/>
            <a:gdLst/>
            <a:ahLst/>
            <a:cxnLst>
              <a:cxn ang="0">
                <a:pos x="271698" y="32738"/>
              </a:cxn>
              <a:cxn ang="0">
                <a:pos x="247184" y="8185"/>
              </a:cxn>
              <a:cxn ang="0">
                <a:pos x="234927" y="8185"/>
              </a:cxn>
              <a:cxn ang="0">
                <a:pos x="232884" y="14323"/>
              </a:cxn>
              <a:cxn ang="0">
                <a:pos x="226756" y="16369"/>
              </a:cxn>
              <a:cxn ang="0">
                <a:pos x="226756" y="16369"/>
              </a:cxn>
              <a:cxn ang="0">
                <a:pos x="165470" y="79800"/>
              </a:cxn>
              <a:cxn ang="0">
                <a:pos x="161385" y="94123"/>
              </a:cxn>
              <a:cxn ang="0">
                <a:pos x="167513" y="102308"/>
              </a:cxn>
              <a:cxn ang="0">
                <a:pos x="167513" y="102308"/>
              </a:cxn>
              <a:cxn ang="0">
                <a:pos x="167513" y="102308"/>
              </a:cxn>
              <a:cxn ang="0">
                <a:pos x="155256" y="116631"/>
              </a:cxn>
              <a:cxn ang="0">
                <a:pos x="110314" y="71615"/>
              </a:cxn>
              <a:cxn ang="0">
                <a:pos x="96014" y="18415"/>
              </a:cxn>
              <a:cxn ang="0">
                <a:pos x="42900" y="4092"/>
              </a:cxn>
              <a:cxn ang="0">
                <a:pos x="73542" y="34785"/>
              </a:cxn>
              <a:cxn ang="0">
                <a:pos x="65371" y="65477"/>
              </a:cxn>
              <a:cxn ang="0">
                <a:pos x="36771" y="73661"/>
              </a:cxn>
              <a:cxn ang="0">
                <a:pos x="6129" y="42969"/>
              </a:cxn>
              <a:cxn ang="0">
                <a:pos x="18386" y="94123"/>
              </a:cxn>
              <a:cxn ang="0">
                <a:pos x="73542" y="108446"/>
              </a:cxn>
              <a:cxn ang="0">
                <a:pos x="73542" y="108446"/>
              </a:cxn>
              <a:cxn ang="0">
                <a:pos x="118485" y="151415"/>
              </a:cxn>
              <a:cxn ang="0">
                <a:pos x="75585" y="194384"/>
              </a:cxn>
              <a:cxn ang="0">
                <a:pos x="73542" y="192338"/>
              </a:cxn>
              <a:cxn ang="0">
                <a:pos x="63328" y="200523"/>
              </a:cxn>
              <a:cxn ang="0">
                <a:pos x="42900" y="233261"/>
              </a:cxn>
              <a:cxn ang="0">
                <a:pos x="46985" y="237354"/>
              </a:cxn>
              <a:cxn ang="0">
                <a:pos x="79671" y="218938"/>
              </a:cxn>
              <a:cxn ang="0">
                <a:pos x="87842" y="206661"/>
              </a:cxn>
              <a:cxn ang="0">
                <a:pos x="85799" y="204615"/>
              </a:cxn>
              <a:cxn ang="0">
                <a:pos x="128699" y="161646"/>
              </a:cxn>
              <a:cxn ang="0">
                <a:pos x="200199" y="233261"/>
              </a:cxn>
              <a:cxn ang="0">
                <a:pos x="218584" y="241446"/>
              </a:cxn>
              <a:cxn ang="0">
                <a:pos x="236970" y="233261"/>
              </a:cxn>
              <a:cxn ang="0">
                <a:pos x="236970" y="198477"/>
              </a:cxn>
              <a:cxn ang="0">
                <a:pos x="163427" y="124815"/>
              </a:cxn>
              <a:cxn ang="0">
                <a:pos x="177727" y="112538"/>
              </a:cxn>
              <a:cxn ang="0">
                <a:pos x="183856" y="118677"/>
              </a:cxn>
              <a:cxn ang="0">
                <a:pos x="200199" y="114585"/>
              </a:cxn>
              <a:cxn ang="0">
                <a:pos x="261484" y="53200"/>
              </a:cxn>
              <a:cxn ang="0">
                <a:pos x="261484" y="51154"/>
              </a:cxn>
              <a:cxn ang="0">
                <a:pos x="261484" y="51154"/>
              </a:cxn>
              <a:cxn ang="0">
                <a:pos x="263527" y="47062"/>
              </a:cxn>
              <a:cxn ang="0">
                <a:pos x="271698" y="45015"/>
              </a:cxn>
              <a:cxn ang="0">
                <a:pos x="271698" y="32738"/>
              </a:cxn>
              <a:cxn ang="0">
                <a:pos x="220627" y="210754"/>
              </a:cxn>
              <a:cxn ang="0">
                <a:pos x="230841" y="218938"/>
              </a:cxn>
              <a:cxn ang="0">
                <a:pos x="220627" y="229169"/>
              </a:cxn>
              <a:cxn ang="0">
                <a:pos x="210413" y="218938"/>
              </a:cxn>
              <a:cxn ang="0">
                <a:pos x="220627" y="210754"/>
              </a:cxn>
              <a:cxn ang="0">
                <a:pos x="185899" y="81846"/>
              </a:cxn>
              <a:cxn ang="0">
                <a:pos x="181813" y="77754"/>
              </a:cxn>
              <a:cxn ang="0">
                <a:pos x="226756" y="32738"/>
              </a:cxn>
              <a:cxn ang="0">
                <a:pos x="230841" y="36831"/>
              </a:cxn>
              <a:cxn ang="0">
                <a:pos x="185899" y="81846"/>
              </a:cxn>
              <a:cxn ang="0">
                <a:pos x="200199" y="98215"/>
              </a:cxn>
              <a:cxn ang="0">
                <a:pos x="196113" y="94123"/>
              </a:cxn>
              <a:cxn ang="0">
                <a:pos x="243098" y="47062"/>
              </a:cxn>
              <a:cxn ang="0">
                <a:pos x="247184" y="51154"/>
              </a:cxn>
              <a:cxn ang="0">
                <a:pos x="200199" y="98215"/>
              </a:cxn>
            </a:cxnLst>
            <a:pathLst>
              <a:path w="134" h="118">
                <a:moveTo>
                  <a:pt x="133" y="16"/>
                </a:moveTo>
                <a:cubicBezTo>
                  <a:pt x="121" y="4"/>
                  <a:pt x="121" y="4"/>
                  <a:pt x="121" y="4"/>
                </a:cubicBezTo>
                <a:cubicBezTo>
                  <a:pt x="119" y="2"/>
                  <a:pt x="117" y="2"/>
                  <a:pt x="115" y="4"/>
                </a:cubicBezTo>
                <a:cubicBezTo>
                  <a:pt x="114" y="5"/>
                  <a:pt x="114" y="6"/>
                  <a:pt x="114" y="7"/>
                </a:cubicBezTo>
                <a:cubicBezTo>
                  <a:pt x="113" y="7"/>
                  <a:pt x="112" y="8"/>
                  <a:pt x="111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81" y="39"/>
                  <a:pt x="81" y="39"/>
                  <a:pt x="81" y="39"/>
                </a:cubicBezTo>
                <a:cubicBezTo>
                  <a:pt x="81" y="41"/>
                  <a:pt x="80" y="44"/>
                  <a:pt x="79" y="46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76" y="57"/>
                  <a:pt x="76" y="57"/>
                  <a:pt x="76" y="57"/>
                </a:cubicBezTo>
                <a:cubicBezTo>
                  <a:pt x="54" y="35"/>
                  <a:pt x="54" y="35"/>
                  <a:pt x="54" y="35"/>
                </a:cubicBezTo>
                <a:cubicBezTo>
                  <a:pt x="56" y="26"/>
                  <a:pt x="54" y="16"/>
                  <a:pt x="47" y="9"/>
                </a:cubicBezTo>
                <a:cubicBezTo>
                  <a:pt x="40" y="2"/>
                  <a:pt x="30" y="0"/>
                  <a:pt x="21" y="2"/>
                </a:cubicBezTo>
                <a:cubicBezTo>
                  <a:pt x="36" y="17"/>
                  <a:pt x="36" y="17"/>
                  <a:pt x="36" y="17"/>
                </a:cubicBezTo>
                <a:cubicBezTo>
                  <a:pt x="32" y="32"/>
                  <a:pt x="32" y="32"/>
                  <a:pt x="32" y="32"/>
                </a:cubicBezTo>
                <a:cubicBezTo>
                  <a:pt x="18" y="36"/>
                  <a:pt x="18" y="36"/>
                  <a:pt x="18" y="36"/>
                </a:cubicBezTo>
                <a:cubicBezTo>
                  <a:pt x="3" y="21"/>
                  <a:pt x="3" y="21"/>
                  <a:pt x="3" y="21"/>
                </a:cubicBezTo>
                <a:cubicBezTo>
                  <a:pt x="0" y="29"/>
                  <a:pt x="2" y="39"/>
                  <a:pt x="9" y="46"/>
                </a:cubicBezTo>
                <a:cubicBezTo>
                  <a:pt x="17" y="53"/>
                  <a:pt x="27" y="56"/>
                  <a:pt x="36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58" y="74"/>
                  <a:pt x="58" y="74"/>
                  <a:pt x="58" y="74"/>
                </a:cubicBezTo>
                <a:cubicBezTo>
                  <a:pt x="37" y="95"/>
                  <a:pt x="37" y="95"/>
                  <a:pt x="37" y="95"/>
                </a:cubicBezTo>
                <a:cubicBezTo>
                  <a:pt x="36" y="94"/>
                  <a:pt x="36" y="94"/>
                  <a:pt x="36" y="94"/>
                </a:cubicBezTo>
                <a:cubicBezTo>
                  <a:pt x="31" y="98"/>
                  <a:pt x="31" y="98"/>
                  <a:pt x="31" y="98"/>
                </a:cubicBezTo>
                <a:cubicBezTo>
                  <a:pt x="21" y="114"/>
                  <a:pt x="21" y="114"/>
                  <a:pt x="21" y="114"/>
                </a:cubicBezTo>
                <a:cubicBezTo>
                  <a:pt x="23" y="116"/>
                  <a:pt x="23" y="116"/>
                  <a:pt x="23" y="116"/>
                </a:cubicBezTo>
                <a:cubicBezTo>
                  <a:pt x="39" y="107"/>
                  <a:pt x="39" y="107"/>
                  <a:pt x="39" y="107"/>
                </a:cubicBezTo>
                <a:cubicBezTo>
                  <a:pt x="43" y="101"/>
                  <a:pt x="43" y="101"/>
                  <a:pt x="43" y="101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63" y="79"/>
                  <a:pt x="63" y="79"/>
                  <a:pt x="63" y="79"/>
                </a:cubicBezTo>
                <a:cubicBezTo>
                  <a:pt x="98" y="114"/>
                  <a:pt x="98" y="114"/>
                  <a:pt x="98" y="114"/>
                </a:cubicBezTo>
                <a:cubicBezTo>
                  <a:pt x="100" y="117"/>
                  <a:pt x="104" y="118"/>
                  <a:pt x="107" y="118"/>
                </a:cubicBezTo>
                <a:cubicBezTo>
                  <a:pt x="110" y="118"/>
                  <a:pt x="113" y="117"/>
                  <a:pt x="116" y="114"/>
                </a:cubicBezTo>
                <a:cubicBezTo>
                  <a:pt x="121" y="109"/>
                  <a:pt x="121" y="102"/>
                  <a:pt x="116" y="97"/>
                </a:cubicBezTo>
                <a:cubicBezTo>
                  <a:pt x="80" y="61"/>
                  <a:pt x="80" y="61"/>
                  <a:pt x="80" y="61"/>
                </a:cubicBezTo>
                <a:cubicBezTo>
                  <a:pt x="87" y="55"/>
                  <a:pt x="87" y="55"/>
                  <a:pt x="87" y="55"/>
                </a:cubicBezTo>
                <a:cubicBezTo>
                  <a:pt x="90" y="58"/>
                  <a:pt x="90" y="58"/>
                  <a:pt x="90" y="58"/>
                </a:cubicBezTo>
                <a:cubicBezTo>
                  <a:pt x="92" y="56"/>
                  <a:pt x="95" y="56"/>
                  <a:pt x="98" y="5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9" y="24"/>
                  <a:pt x="129" y="24"/>
                  <a:pt x="129" y="23"/>
                </a:cubicBezTo>
                <a:cubicBezTo>
                  <a:pt x="130" y="23"/>
                  <a:pt x="132" y="23"/>
                  <a:pt x="133" y="22"/>
                </a:cubicBezTo>
                <a:cubicBezTo>
                  <a:pt x="134" y="20"/>
                  <a:pt x="134" y="17"/>
                  <a:pt x="133" y="16"/>
                </a:cubicBezTo>
                <a:close/>
                <a:moveTo>
                  <a:pt x="108" y="103"/>
                </a:moveTo>
                <a:cubicBezTo>
                  <a:pt x="111" y="103"/>
                  <a:pt x="113" y="105"/>
                  <a:pt x="113" y="107"/>
                </a:cubicBezTo>
                <a:cubicBezTo>
                  <a:pt x="113" y="110"/>
                  <a:pt x="111" y="112"/>
                  <a:pt x="108" y="112"/>
                </a:cubicBezTo>
                <a:cubicBezTo>
                  <a:pt x="105" y="112"/>
                  <a:pt x="103" y="110"/>
                  <a:pt x="103" y="107"/>
                </a:cubicBezTo>
                <a:cubicBezTo>
                  <a:pt x="103" y="105"/>
                  <a:pt x="105" y="103"/>
                  <a:pt x="108" y="103"/>
                </a:cubicBezTo>
                <a:close/>
                <a:moveTo>
                  <a:pt x="91" y="40"/>
                </a:moveTo>
                <a:cubicBezTo>
                  <a:pt x="89" y="38"/>
                  <a:pt x="89" y="38"/>
                  <a:pt x="89" y="38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3" y="18"/>
                  <a:pt x="113" y="18"/>
                  <a:pt x="113" y="18"/>
                </a:cubicBezTo>
                <a:lnTo>
                  <a:pt x="91" y="40"/>
                </a:lnTo>
                <a:close/>
                <a:moveTo>
                  <a:pt x="98" y="48"/>
                </a:moveTo>
                <a:cubicBezTo>
                  <a:pt x="96" y="46"/>
                  <a:pt x="96" y="46"/>
                  <a:pt x="96" y="46"/>
                </a:cubicBezTo>
                <a:cubicBezTo>
                  <a:pt x="119" y="23"/>
                  <a:pt x="119" y="23"/>
                  <a:pt x="119" y="23"/>
                </a:cubicBezTo>
                <a:cubicBezTo>
                  <a:pt x="121" y="25"/>
                  <a:pt x="121" y="25"/>
                  <a:pt x="121" y="25"/>
                </a:cubicBezTo>
                <a:lnTo>
                  <a:pt x="98" y="4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grpSp>
        <p:nvGrpSpPr>
          <p:cNvPr id="33" name="Group 23"/>
          <p:cNvGrpSpPr/>
          <p:nvPr/>
        </p:nvGrpSpPr>
        <p:grpSpPr>
          <a:xfrm>
            <a:off x="6675755" y="2418080"/>
            <a:ext cx="395605" cy="358140"/>
            <a:chOff x="7540014" y="4306907"/>
            <a:chExt cx="389342" cy="33942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5" name="Freeform 110"/>
            <p:cNvSpPr/>
            <p:nvPr/>
          </p:nvSpPr>
          <p:spPr bwMode="auto">
            <a:xfrm>
              <a:off x="7799575" y="4409234"/>
              <a:ext cx="102328" cy="102328"/>
            </a:xfrm>
            <a:custGeom>
              <a:avLst/>
              <a:gdLst>
                <a:gd name="T0" fmla="*/ 0 w 41"/>
                <a:gd name="T1" fmla="*/ 39 h 41"/>
                <a:gd name="T2" fmla="*/ 3 w 41"/>
                <a:gd name="T3" fmla="*/ 41 h 41"/>
                <a:gd name="T4" fmla="*/ 41 w 41"/>
                <a:gd name="T5" fmla="*/ 3 h 41"/>
                <a:gd name="T6" fmla="*/ 39 w 41"/>
                <a:gd name="T7" fmla="*/ 0 h 41"/>
                <a:gd name="T8" fmla="*/ 0 w 41"/>
                <a:gd name="T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9"/>
                  </a:moveTo>
                  <a:lnTo>
                    <a:pt x="3" y="41"/>
                  </a:lnTo>
                  <a:lnTo>
                    <a:pt x="41" y="3"/>
                  </a:lnTo>
                  <a:lnTo>
                    <a:pt x="39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Freeform 111"/>
            <p:cNvSpPr/>
            <p:nvPr/>
          </p:nvSpPr>
          <p:spPr bwMode="auto">
            <a:xfrm>
              <a:off x="7777112" y="4381780"/>
              <a:ext cx="109814" cy="114806"/>
            </a:xfrm>
            <a:custGeom>
              <a:avLst/>
              <a:gdLst>
                <a:gd name="T0" fmla="*/ 37 w 44"/>
                <a:gd name="T1" fmla="*/ 0 h 46"/>
                <a:gd name="T2" fmla="*/ 0 w 44"/>
                <a:gd name="T3" fmla="*/ 39 h 46"/>
                <a:gd name="T4" fmla="*/ 6 w 44"/>
                <a:gd name="T5" fmla="*/ 46 h 46"/>
                <a:gd name="T6" fmla="*/ 44 w 44"/>
                <a:gd name="T7" fmla="*/ 8 h 46"/>
                <a:gd name="T8" fmla="*/ 37 w 4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6">
                  <a:moveTo>
                    <a:pt x="37" y="0"/>
                  </a:moveTo>
                  <a:lnTo>
                    <a:pt x="0" y="39"/>
                  </a:lnTo>
                  <a:lnTo>
                    <a:pt x="6" y="46"/>
                  </a:lnTo>
                  <a:lnTo>
                    <a:pt x="44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112"/>
            <p:cNvSpPr/>
            <p:nvPr/>
          </p:nvSpPr>
          <p:spPr bwMode="auto">
            <a:xfrm>
              <a:off x="7757146" y="4366805"/>
              <a:ext cx="104823" cy="104823"/>
            </a:xfrm>
            <a:custGeom>
              <a:avLst/>
              <a:gdLst>
                <a:gd name="T0" fmla="*/ 0 w 42"/>
                <a:gd name="T1" fmla="*/ 38 h 42"/>
                <a:gd name="T2" fmla="*/ 4 w 42"/>
                <a:gd name="T3" fmla="*/ 42 h 42"/>
                <a:gd name="T4" fmla="*/ 42 w 42"/>
                <a:gd name="T5" fmla="*/ 4 h 42"/>
                <a:gd name="T6" fmla="*/ 38 w 42"/>
                <a:gd name="T7" fmla="*/ 0 h 42"/>
                <a:gd name="T8" fmla="*/ 0 w 42"/>
                <a:gd name="T9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0" y="38"/>
                  </a:moveTo>
                  <a:lnTo>
                    <a:pt x="4" y="42"/>
                  </a:lnTo>
                  <a:lnTo>
                    <a:pt x="42" y="4"/>
                  </a:lnTo>
                  <a:lnTo>
                    <a:pt x="38" y="0"/>
                  </a:ln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113"/>
            <p:cNvSpPr/>
            <p:nvPr/>
          </p:nvSpPr>
          <p:spPr bwMode="auto">
            <a:xfrm>
              <a:off x="7729693" y="4469133"/>
              <a:ext cx="69882" cy="69882"/>
            </a:xfrm>
            <a:custGeom>
              <a:avLst/>
              <a:gdLst>
                <a:gd name="T0" fmla="*/ 28 w 28"/>
                <a:gd name="T1" fmla="*/ 20 h 28"/>
                <a:gd name="T2" fmla="*/ 8 w 28"/>
                <a:gd name="T3" fmla="*/ 0 h 28"/>
                <a:gd name="T4" fmla="*/ 0 w 28"/>
                <a:gd name="T5" fmla="*/ 20 h 28"/>
                <a:gd name="T6" fmla="*/ 9 w 28"/>
                <a:gd name="T7" fmla="*/ 28 h 28"/>
                <a:gd name="T8" fmla="*/ 28 w 28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20"/>
                  </a:moveTo>
                  <a:lnTo>
                    <a:pt x="8" y="0"/>
                  </a:lnTo>
                  <a:lnTo>
                    <a:pt x="0" y="20"/>
                  </a:lnTo>
                  <a:lnTo>
                    <a:pt x="9" y="28"/>
                  </a:lnTo>
                  <a:lnTo>
                    <a:pt x="2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114"/>
            <p:cNvSpPr/>
            <p:nvPr/>
          </p:nvSpPr>
          <p:spPr bwMode="auto">
            <a:xfrm>
              <a:off x="7712222" y="4526535"/>
              <a:ext cx="34941" cy="32446"/>
            </a:xfrm>
            <a:custGeom>
              <a:avLst/>
              <a:gdLst>
                <a:gd name="T0" fmla="*/ 0 w 14"/>
                <a:gd name="T1" fmla="*/ 13 h 13"/>
                <a:gd name="T2" fmla="*/ 14 w 14"/>
                <a:gd name="T3" fmla="*/ 6 h 13"/>
                <a:gd name="T4" fmla="*/ 6 w 14"/>
                <a:gd name="T5" fmla="*/ 0 h 13"/>
                <a:gd name="T6" fmla="*/ 0 w 14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0" y="13"/>
                  </a:moveTo>
                  <a:lnTo>
                    <a:pt x="14" y="6"/>
                  </a:lnTo>
                  <a:lnTo>
                    <a:pt x="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115"/>
            <p:cNvSpPr/>
            <p:nvPr/>
          </p:nvSpPr>
          <p:spPr bwMode="auto">
            <a:xfrm>
              <a:off x="7859474" y="4341848"/>
              <a:ext cx="69882" cy="69882"/>
            </a:xfrm>
            <a:custGeom>
              <a:avLst/>
              <a:gdLst>
                <a:gd name="T0" fmla="*/ 7 w 28"/>
                <a:gd name="T1" fmla="*/ 0 h 28"/>
                <a:gd name="T2" fmla="*/ 0 w 28"/>
                <a:gd name="T3" fmla="*/ 8 h 28"/>
                <a:gd name="T4" fmla="*/ 20 w 28"/>
                <a:gd name="T5" fmla="*/ 28 h 28"/>
                <a:gd name="T6" fmla="*/ 28 w 28"/>
                <a:gd name="T7" fmla="*/ 20 h 28"/>
                <a:gd name="T8" fmla="*/ 7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7" y="0"/>
                  </a:moveTo>
                  <a:lnTo>
                    <a:pt x="0" y="8"/>
                  </a:lnTo>
                  <a:lnTo>
                    <a:pt x="20" y="28"/>
                  </a:lnTo>
                  <a:lnTo>
                    <a:pt x="28" y="2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Freeform 116"/>
            <p:cNvSpPr/>
            <p:nvPr/>
          </p:nvSpPr>
          <p:spPr bwMode="auto">
            <a:xfrm>
              <a:off x="7540014" y="4306907"/>
              <a:ext cx="279527" cy="339426"/>
            </a:xfrm>
            <a:custGeom>
              <a:avLst/>
              <a:gdLst>
                <a:gd name="T0" fmla="*/ 104 w 112"/>
                <a:gd name="T1" fmla="*/ 101 h 136"/>
                <a:gd name="T2" fmla="*/ 83 w 112"/>
                <a:gd name="T3" fmla="*/ 101 h 136"/>
                <a:gd name="T4" fmla="*/ 83 w 112"/>
                <a:gd name="T5" fmla="*/ 129 h 136"/>
                <a:gd name="T6" fmla="*/ 7 w 112"/>
                <a:gd name="T7" fmla="*/ 129 h 136"/>
                <a:gd name="T8" fmla="*/ 7 w 112"/>
                <a:gd name="T9" fmla="*/ 32 h 136"/>
                <a:gd name="T10" fmla="*/ 104 w 112"/>
                <a:gd name="T11" fmla="*/ 32 h 136"/>
                <a:gd name="T12" fmla="*/ 104 w 112"/>
                <a:gd name="T13" fmla="*/ 40 h 136"/>
                <a:gd name="T14" fmla="*/ 112 w 112"/>
                <a:gd name="T15" fmla="*/ 32 h 136"/>
                <a:gd name="T16" fmla="*/ 112 w 112"/>
                <a:gd name="T17" fmla="*/ 6 h 136"/>
                <a:gd name="T18" fmla="*/ 97 w 112"/>
                <a:gd name="T19" fmla="*/ 6 h 136"/>
                <a:gd name="T20" fmla="*/ 97 w 112"/>
                <a:gd name="T21" fmla="*/ 20 h 136"/>
                <a:gd name="T22" fmla="*/ 95 w 112"/>
                <a:gd name="T23" fmla="*/ 20 h 136"/>
                <a:gd name="T24" fmla="*/ 95 w 112"/>
                <a:gd name="T25" fmla="*/ 0 h 136"/>
                <a:gd name="T26" fmla="*/ 89 w 112"/>
                <a:gd name="T27" fmla="*/ 0 h 136"/>
                <a:gd name="T28" fmla="*/ 89 w 112"/>
                <a:gd name="T29" fmla="*/ 20 h 136"/>
                <a:gd name="T30" fmla="*/ 87 w 112"/>
                <a:gd name="T31" fmla="*/ 20 h 136"/>
                <a:gd name="T32" fmla="*/ 87 w 112"/>
                <a:gd name="T33" fmla="*/ 6 h 136"/>
                <a:gd name="T34" fmla="*/ 79 w 112"/>
                <a:gd name="T35" fmla="*/ 6 h 136"/>
                <a:gd name="T36" fmla="*/ 79 w 112"/>
                <a:gd name="T37" fmla="*/ 20 h 136"/>
                <a:gd name="T38" fmla="*/ 76 w 112"/>
                <a:gd name="T39" fmla="*/ 20 h 136"/>
                <a:gd name="T40" fmla="*/ 76 w 112"/>
                <a:gd name="T41" fmla="*/ 0 h 136"/>
                <a:gd name="T42" fmla="*/ 72 w 112"/>
                <a:gd name="T43" fmla="*/ 0 h 136"/>
                <a:gd name="T44" fmla="*/ 72 w 112"/>
                <a:gd name="T45" fmla="*/ 20 h 136"/>
                <a:gd name="T46" fmla="*/ 68 w 112"/>
                <a:gd name="T47" fmla="*/ 20 h 136"/>
                <a:gd name="T48" fmla="*/ 68 w 112"/>
                <a:gd name="T49" fmla="*/ 6 h 136"/>
                <a:gd name="T50" fmla="*/ 60 w 112"/>
                <a:gd name="T51" fmla="*/ 6 h 136"/>
                <a:gd name="T52" fmla="*/ 60 w 112"/>
                <a:gd name="T53" fmla="*/ 20 h 136"/>
                <a:gd name="T54" fmla="*/ 57 w 112"/>
                <a:gd name="T55" fmla="*/ 20 h 136"/>
                <a:gd name="T56" fmla="*/ 57 w 112"/>
                <a:gd name="T57" fmla="*/ 0 h 136"/>
                <a:gd name="T58" fmla="*/ 53 w 112"/>
                <a:gd name="T59" fmla="*/ 0 h 136"/>
                <a:gd name="T60" fmla="*/ 53 w 112"/>
                <a:gd name="T61" fmla="*/ 20 h 136"/>
                <a:gd name="T62" fmla="*/ 51 w 112"/>
                <a:gd name="T63" fmla="*/ 20 h 136"/>
                <a:gd name="T64" fmla="*/ 51 w 112"/>
                <a:gd name="T65" fmla="*/ 6 h 136"/>
                <a:gd name="T66" fmla="*/ 43 w 112"/>
                <a:gd name="T67" fmla="*/ 6 h 136"/>
                <a:gd name="T68" fmla="*/ 43 w 112"/>
                <a:gd name="T69" fmla="*/ 20 h 136"/>
                <a:gd name="T70" fmla="*/ 40 w 112"/>
                <a:gd name="T71" fmla="*/ 20 h 136"/>
                <a:gd name="T72" fmla="*/ 40 w 112"/>
                <a:gd name="T73" fmla="*/ 0 h 136"/>
                <a:gd name="T74" fmla="*/ 35 w 112"/>
                <a:gd name="T75" fmla="*/ 0 h 136"/>
                <a:gd name="T76" fmla="*/ 35 w 112"/>
                <a:gd name="T77" fmla="*/ 20 h 136"/>
                <a:gd name="T78" fmla="*/ 32 w 112"/>
                <a:gd name="T79" fmla="*/ 20 h 136"/>
                <a:gd name="T80" fmla="*/ 32 w 112"/>
                <a:gd name="T81" fmla="*/ 6 h 136"/>
                <a:gd name="T82" fmla="*/ 25 w 112"/>
                <a:gd name="T83" fmla="*/ 6 h 136"/>
                <a:gd name="T84" fmla="*/ 25 w 112"/>
                <a:gd name="T85" fmla="*/ 20 h 136"/>
                <a:gd name="T86" fmla="*/ 23 w 112"/>
                <a:gd name="T87" fmla="*/ 20 h 136"/>
                <a:gd name="T88" fmla="*/ 23 w 112"/>
                <a:gd name="T89" fmla="*/ 0 h 136"/>
                <a:gd name="T90" fmla="*/ 17 w 112"/>
                <a:gd name="T91" fmla="*/ 0 h 136"/>
                <a:gd name="T92" fmla="*/ 17 w 112"/>
                <a:gd name="T93" fmla="*/ 20 h 136"/>
                <a:gd name="T94" fmla="*/ 15 w 112"/>
                <a:gd name="T95" fmla="*/ 20 h 136"/>
                <a:gd name="T96" fmla="*/ 15 w 112"/>
                <a:gd name="T97" fmla="*/ 6 h 136"/>
                <a:gd name="T98" fmla="*/ 0 w 112"/>
                <a:gd name="T99" fmla="*/ 6 h 136"/>
                <a:gd name="T100" fmla="*/ 0 w 112"/>
                <a:gd name="T101" fmla="*/ 24 h 136"/>
                <a:gd name="T102" fmla="*/ 0 w 112"/>
                <a:gd name="T103" fmla="*/ 28 h 136"/>
                <a:gd name="T104" fmla="*/ 0 w 112"/>
                <a:gd name="T105" fmla="*/ 136 h 136"/>
                <a:gd name="T106" fmla="*/ 89 w 112"/>
                <a:gd name="T107" fmla="*/ 136 h 136"/>
                <a:gd name="T108" fmla="*/ 112 w 112"/>
                <a:gd name="T109" fmla="*/ 110 h 136"/>
                <a:gd name="T110" fmla="*/ 112 w 112"/>
                <a:gd name="T111" fmla="*/ 84 h 136"/>
                <a:gd name="T112" fmla="*/ 104 w 112"/>
                <a:gd name="T113" fmla="*/ 92 h 136"/>
                <a:gd name="T114" fmla="*/ 104 w 112"/>
                <a:gd name="T11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36">
                  <a:moveTo>
                    <a:pt x="104" y="101"/>
                  </a:moveTo>
                  <a:lnTo>
                    <a:pt x="83" y="101"/>
                  </a:lnTo>
                  <a:lnTo>
                    <a:pt x="83" y="129"/>
                  </a:lnTo>
                  <a:lnTo>
                    <a:pt x="7" y="129"/>
                  </a:lnTo>
                  <a:lnTo>
                    <a:pt x="7" y="32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12" y="32"/>
                  </a:lnTo>
                  <a:lnTo>
                    <a:pt x="112" y="6"/>
                  </a:lnTo>
                  <a:lnTo>
                    <a:pt x="97" y="6"/>
                  </a:lnTo>
                  <a:lnTo>
                    <a:pt x="97" y="20"/>
                  </a:lnTo>
                  <a:lnTo>
                    <a:pt x="95" y="20"/>
                  </a:lnTo>
                  <a:lnTo>
                    <a:pt x="95" y="0"/>
                  </a:lnTo>
                  <a:lnTo>
                    <a:pt x="89" y="0"/>
                  </a:lnTo>
                  <a:lnTo>
                    <a:pt x="89" y="20"/>
                  </a:lnTo>
                  <a:lnTo>
                    <a:pt x="87" y="20"/>
                  </a:lnTo>
                  <a:lnTo>
                    <a:pt x="87" y="6"/>
                  </a:lnTo>
                  <a:lnTo>
                    <a:pt x="79" y="6"/>
                  </a:lnTo>
                  <a:lnTo>
                    <a:pt x="79" y="20"/>
                  </a:lnTo>
                  <a:lnTo>
                    <a:pt x="76" y="2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72" y="20"/>
                  </a:lnTo>
                  <a:lnTo>
                    <a:pt x="68" y="20"/>
                  </a:lnTo>
                  <a:lnTo>
                    <a:pt x="68" y="6"/>
                  </a:lnTo>
                  <a:lnTo>
                    <a:pt x="60" y="6"/>
                  </a:lnTo>
                  <a:lnTo>
                    <a:pt x="6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53" y="20"/>
                  </a:lnTo>
                  <a:lnTo>
                    <a:pt x="51" y="20"/>
                  </a:lnTo>
                  <a:lnTo>
                    <a:pt x="51" y="6"/>
                  </a:lnTo>
                  <a:lnTo>
                    <a:pt x="43" y="6"/>
                  </a:lnTo>
                  <a:lnTo>
                    <a:pt x="43" y="20"/>
                  </a:lnTo>
                  <a:lnTo>
                    <a:pt x="40" y="2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5" y="20"/>
                  </a:lnTo>
                  <a:lnTo>
                    <a:pt x="32" y="20"/>
                  </a:lnTo>
                  <a:lnTo>
                    <a:pt x="32" y="6"/>
                  </a:lnTo>
                  <a:lnTo>
                    <a:pt x="25" y="6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7" y="20"/>
                  </a:lnTo>
                  <a:lnTo>
                    <a:pt x="15" y="20"/>
                  </a:lnTo>
                  <a:lnTo>
                    <a:pt x="15" y="6"/>
                  </a:lnTo>
                  <a:lnTo>
                    <a:pt x="0" y="6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136"/>
                  </a:lnTo>
                  <a:lnTo>
                    <a:pt x="89" y="136"/>
                  </a:lnTo>
                  <a:lnTo>
                    <a:pt x="112" y="110"/>
                  </a:lnTo>
                  <a:lnTo>
                    <a:pt x="112" y="84"/>
                  </a:lnTo>
                  <a:lnTo>
                    <a:pt x="104" y="92"/>
                  </a:lnTo>
                  <a:lnTo>
                    <a:pt x="104" y="10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117"/>
            <p:cNvSpPr>
              <a:spLocks noChangeArrowheads="1"/>
            </p:cNvSpPr>
            <p:nvPr/>
          </p:nvSpPr>
          <p:spPr bwMode="auto">
            <a:xfrm>
              <a:off x="7589930" y="4421713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118"/>
            <p:cNvSpPr>
              <a:spLocks noChangeArrowheads="1"/>
            </p:cNvSpPr>
            <p:nvPr/>
          </p:nvSpPr>
          <p:spPr bwMode="auto">
            <a:xfrm>
              <a:off x="7589930" y="4461645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119"/>
            <p:cNvSpPr>
              <a:spLocks noChangeArrowheads="1"/>
            </p:cNvSpPr>
            <p:nvPr/>
          </p:nvSpPr>
          <p:spPr bwMode="auto">
            <a:xfrm>
              <a:off x="7589930" y="4506569"/>
              <a:ext cx="109814" cy="14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120"/>
            <p:cNvSpPr>
              <a:spLocks noChangeArrowheads="1"/>
            </p:cNvSpPr>
            <p:nvPr/>
          </p:nvSpPr>
          <p:spPr bwMode="auto">
            <a:xfrm>
              <a:off x="7589930" y="4548998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文本框 3"/>
          <p:cNvSpPr txBox="1"/>
          <p:nvPr/>
        </p:nvSpPr>
        <p:spPr>
          <a:xfrm>
            <a:off x="228600" y="190500"/>
            <a:ext cx="2654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Dataset</a:t>
            </a:r>
            <a:endParaRPr lang="en-US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31" name="AutoShape 15"/>
          <p:cNvSpPr/>
          <p:nvPr/>
        </p:nvSpPr>
        <p:spPr>
          <a:xfrm>
            <a:off x="536575" y="753745"/>
            <a:ext cx="2176145" cy="337185"/>
          </a:xfrm>
          <a:prstGeom prst="roundRect">
            <a:avLst>
              <a:gd name="adj" fmla="val 26315"/>
            </a:avLst>
          </a:prstGeom>
          <a:solidFill>
            <a:srgbClr val="FFC000"/>
          </a:solidFill>
          <a:ln w="9525">
            <a:noFill/>
          </a:ln>
        </p:spPr>
        <p:txBody>
          <a:bodyPr lIns="0" tIns="0" rIns="0" bIns="0" anchor="t" anchorCtr="0"/>
          <a:p>
            <a:pPr algn="ctr">
              <a:buFont typeface="Arial" panose="020B0604020202020204" pitchFamily="34" charset="0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charset="0"/>
                <a:ea typeface="ヒラギノ角ゴ ProN W3"/>
                <a:cs typeface="Times New Roman" panose="02020603050405020304" charset="0"/>
                <a:sym typeface="Gill Sans"/>
              </a:rPr>
              <a:t>Employees:-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charset="0"/>
              <a:ea typeface="ヒラギノ角ゴ ProN W3"/>
              <a:cs typeface="Times New Roman" panose="02020603050405020304" charset="0"/>
              <a:sym typeface="Gill San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54985" y="753745"/>
            <a:ext cx="3841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ヒラギノ角ゴ ProN W3"/>
                <a:cs typeface="Times New Roman" panose="02020603050405020304" charset="0"/>
                <a:sym typeface="Gill Sans"/>
              </a:rPr>
              <a:t>1,470 Emp</a:t>
            </a:r>
            <a:endParaRPr lang="en-US" sz="1600"/>
          </a:p>
        </p:txBody>
      </p:sp>
      <p:sp>
        <p:nvSpPr>
          <p:cNvPr id="3" name="AutoShape 15"/>
          <p:cNvSpPr/>
          <p:nvPr/>
        </p:nvSpPr>
        <p:spPr>
          <a:xfrm>
            <a:off x="535940" y="1270635"/>
            <a:ext cx="2176145" cy="299720"/>
          </a:xfrm>
          <a:prstGeom prst="roundRect">
            <a:avLst>
              <a:gd name="adj" fmla="val 26315"/>
            </a:avLst>
          </a:prstGeom>
          <a:solidFill>
            <a:srgbClr val="FFC000"/>
          </a:solidFill>
          <a:ln w="9525">
            <a:noFill/>
          </a:ln>
        </p:spPr>
        <p:txBody>
          <a:bodyPr lIns="0" tIns="0" rIns="0" bIns="0" anchor="t" anchorCtr="0"/>
          <a:p>
            <a:pPr algn="ctr">
              <a:buFont typeface="Arial" panose="020B0604020202020204" pitchFamily="34" charset="0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charset="0"/>
                <a:ea typeface="ヒラギノ角ゴ ProN W3"/>
                <a:cs typeface="Times New Roman" panose="02020603050405020304" charset="0"/>
                <a:sym typeface="Gill Sans"/>
              </a:rPr>
              <a:t>Key Columns:-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charset="0"/>
              <a:ea typeface="ヒラギノ角ゴ ProN W3"/>
              <a:cs typeface="Times New Roman" panose="02020603050405020304" charset="0"/>
              <a:sym typeface="Gill Sans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54985" y="1270635"/>
            <a:ext cx="887158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Business Travel → Employee Travel (Rarely, Frequently, Non-Travel).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Education → Educational Level (1 = Below College, 2 = College, 3 = Bachelor's, 4 = Master's,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5 = Doctor).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Age → Employee's Age.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Gender → Sex (Male, Female).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Monthly Income → Monthly Salary.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Attendance → Resignations (Yes / No).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Department → Functional Department (Sales, R&amp;D, HR).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JobRole → Job Title.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MaritalStatus → Marital Status.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OverTime → Overtime (Yes / No).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5"/>
          <p:cNvSpPr/>
          <p:nvPr/>
        </p:nvSpPr>
        <p:spPr>
          <a:xfrm>
            <a:off x="536575" y="6388100"/>
            <a:ext cx="2176145" cy="299720"/>
          </a:xfrm>
          <a:prstGeom prst="roundRect">
            <a:avLst>
              <a:gd name="adj" fmla="val 26315"/>
            </a:avLst>
          </a:prstGeom>
          <a:solidFill>
            <a:srgbClr val="FFC000"/>
          </a:solidFill>
          <a:ln w="9525">
            <a:noFill/>
          </a:ln>
        </p:spPr>
        <p:txBody>
          <a:bodyPr lIns="0" tIns="0" rIns="0" bIns="0" anchor="t" anchorCtr="0"/>
          <a:p>
            <a:pPr algn="ctr">
              <a:buFont typeface="Arial" panose="020B0604020202020204" pitchFamily="34" charset="0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charset="0"/>
                <a:ea typeface="ヒラギノ角ゴ ProN W3"/>
                <a:cs typeface="Times New Roman" panose="02020603050405020304" charset="0"/>
                <a:sym typeface="Gill Sans"/>
              </a:rPr>
              <a:t>Dataset Source:- 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charset="0"/>
              <a:ea typeface="ヒラギノ角ゴ ProN W3"/>
              <a:cs typeface="Times New Roman" panose="02020603050405020304" charset="0"/>
              <a:sym typeface="Gill Sans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054985" y="63881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HR Analysis Dataset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文本框 3"/>
          <p:cNvSpPr txBox="1"/>
          <p:nvPr/>
        </p:nvSpPr>
        <p:spPr>
          <a:xfrm>
            <a:off x="228600" y="190500"/>
            <a:ext cx="2654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Core KPIs</a:t>
            </a:r>
            <a:endParaRPr lang="en-US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环形箭头 5"/>
          <p:cNvSpPr/>
          <p:nvPr/>
        </p:nvSpPr>
        <p:spPr>
          <a:xfrm>
            <a:off x="4468813" y="2260600"/>
            <a:ext cx="2946400" cy="2947988"/>
          </a:xfrm>
          <a:prstGeom prst="circularArrow">
            <a:avLst>
              <a:gd name="adj1" fmla="val 5198"/>
              <a:gd name="adj2" fmla="val 335764"/>
              <a:gd name="adj3" fmla="val 21293849"/>
              <a:gd name="adj4" fmla="val 19765707"/>
              <a:gd name="adj5" fmla="val 6064"/>
            </a:avLst>
          </a:pr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环形箭头 6"/>
          <p:cNvSpPr/>
          <p:nvPr/>
        </p:nvSpPr>
        <p:spPr>
          <a:xfrm>
            <a:off x="4519613" y="2301875"/>
            <a:ext cx="2946400" cy="2947988"/>
          </a:xfrm>
          <a:prstGeom prst="circularArrow">
            <a:avLst>
              <a:gd name="adj1" fmla="val 5198"/>
              <a:gd name="adj2" fmla="val 335764"/>
              <a:gd name="adj3" fmla="val 4015327"/>
              <a:gd name="adj4" fmla="val 2252855"/>
              <a:gd name="adj5" fmla="val 6064"/>
            </a:avLst>
          </a:pr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环形箭头 7"/>
          <p:cNvSpPr/>
          <p:nvPr/>
        </p:nvSpPr>
        <p:spPr>
          <a:xfrm>
            <a:off x="4519613" y="2301875"/>
            <a:ext cx="2946400" cy="2947988"/>
          </a:xfrm>
          <a:prstGeom prst="circularArrow">
            <a:avLst>
              <a:gd name="adj1" fmla="val 5198"/>
              <a:gd name="adj2" fmla="val 335764"/>
              <a:gd name="adj3" fmla="val 8211381"/>
              <a:gd name="adj4" fmla="val 6448909"/>
              <a:gd name="adj5" fmla="val 6064"/>
            </a:avLst>
          </a:pr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环形箭头 8"/>
          <p:cNvSpPr/>
          <p:nvPr/>
        </p:nvSpPr>
        <p:spPr>
          <a:xfrm>
            <a:off x="4519613" y="2301875"/>
            <a:ext cx="2946400" cy="2947988"/>
          </a:xfrm>
          <a:prstGeom prst="circularArrow">
            <a:avLst>
              <a:gd name="adj1" fmla="val 5198"/>
              <a:gd name="adj2" fmla="val 335764"/>
              <a:gd name="adj3" fmla="val 12298529"/>
              <a:gd name="adj4" fmla="val 10770387"/>
              <a:gd name="adj5" fmla="val 6064"/>
            </a:avLst>
          </a:pr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环形箭头 9"/>
          <p:cNvSpPr/>
          <p:nvPr/>
        </p:nvSpPr>
        <p:spPr>
          <a:xfrm>
            <a:off x="4519613" y="2301875"/>
            <a:ext cx="2946400" cy="2947988"/>
          </a:xfrm>
          <a:prstGeom prst="circularArrow">
            <a:avLst>
              <a:gd name="adj1" fmla="val 5198"/>
              <a:gd name="adj2" fmla="val 335764"/>
              <a:gd name="adj3" fmla="val 16866314"/>
              <a:gd name="adj4" fmla="val 15197922"/>
              <a:gd name="adj5" fmla="val 6064"/>
            </a:avLst>
          </a:pr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0248" name="组合 2"/>
          <p:cNvGrpSpPr/>
          <p:nvPr/>
        </p:nvGrpSpPr>
        <p:grpSpPr>
          <a:xfrm>
            <a:off x="7008813" y="2055813"/>
            <a:ext cx="957262" cy="306387"/>
            <a:chOff x="7008120" y="2056237"/>
            <a:chExt cx="957830" cy="306309"/>
          </a:xfrm>
        </p:grpSpPr>
        <p:cxnSp>
          <p:nvCxnSpPr>
            <p:cNvPr id="12" name="Straight Connector 11"/>
            <p:cNvCxnSpPr/>
            <p:nvPr/>
          </p:nvCxnSpPr>
          <p:spPr>
            <a:xfrm rot="5400000" flipH="1" flipV="1">
              <a:off x="7008114" y="2057819"/>
              <a:ext cx="304720" cy="304721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3"/>
            <p:cNvCxnSpPr/>
            <p:nvPr/>
          </p:nvCxnSpPr>
          <p:spPr>
            <a:xfrm>
              <a:off x="7308779" y="2056237"/>
              <a:ext cx="657171" cy="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51" name="组合 1"/>
          <p:cNvGrpSpPr/>
          <p:nvPr/>
        </p:nvGrpSpPr>
        <p:grpSpPr>
          <a:xfrm>
            <a:off x="3717925" y="2082800"/>
            <a:ext cx="1193800" cy="381000"/>
            <a:chOff x="3717233" y="2083216"/>
            <a:chExt cx="1194414" cy="380900"/>
          </a:xfrm>
        </p:grpSpPr>
        <p:cxnSp>
          <p:nvCxnSpPr>
            <p:cNvPr id="15" name="Straight Connector 17"/>
            <p:cNvCxnSpPr/>
            <p:nvPr/>
          </p:nvCxnSpPr>
          <p:spPr>
            <a:xfrm rot="16200000" flipV="1">
              <a:off x="4568837" y="2121306"/>
              <a:ext cx="380900" cy="30472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8"/>
            <p:cNvCxnSpPr/>
            <p:nvPr/>
          </p:nvCxnSpPr>
          <p:spPr>
            <a:xfrm flipV="1">
              <a:off x="3717233" y="2095823"/>
              <a:ext cx="906613" cy="1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54" name="组合 57"/>
          <p:cNvGrpSpPr/>
          <p:nvPr/>
        </p:nvGrpSpPr>
        <p:grpSpPr>
          <a:xfrm>
            <a:off x="7450138" y="4495800"/>
            <a:ext cx="674687" cy="306388"/>
            <a:chOff x="7450104" y="4495588"/>
            <a:chExt cx="675324" cy="306309"/>
          </a:xfrm>
        </p:grpSpPr>
        <p:cxnSp>
          <p:nvCxnSpPr>
            <p:cNvPr id="18" name="Straight Connector 22"/>
            <p:cNvCxnSpPr/>
            <p:nvPr/>
          </p:nvCxnSpPr>
          <p:spPr>
            <a:xfrm>
              <a:off x="7653250" y="4800309"/>
              <a:ext cx="472178" cy="1588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26"/>
            <p:cNvCxnSpPr/>
            <p:nvPr/>
          </p:nvCxnSpPr>
          <p:spPr>
            <a:xfrm rot="16200000" flipH="1">
              <a:off x="7399310" y="4546369"/>
              <a:ext cx="304723" cy="203148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57" name="组合 58"/>
          <p:cNvGrpSpPr/>
          <p:nvPr/>
        </p:nvGrpSpPr>
        <p:grpSpPr>
          <a:xfrm>
            <a:off x="3749675" y="4416425"/>
            <a:ext cx="739775" cy="384175"/>
            <a:chOff x="3749640" y="4416555"/>
            <a:chExt cx="739455" cy="383755"/>
          </a:xfrm>
        </p:grpSpPr>
        <p:cxnSp>
          <p:nvCxnSpPr>
            <p:cNvPr id="21" name="Straight Connector 24"/>
            <p:cNvCxnSpPr/>
            <p:nvPr/>
          </p:nvCxnSpPr>
          <p:spPr>
            <a:xfrm>
              <a:off x="3749640" y="4798722"/>
              <a:ext cx="507867" cy="1588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8"/>
            <p:cNvCxnSpPr/>
            <p:nvPr/>
          </p:nvCxnSpPr>
          <p:spPr>
            <a:xfrm rot="5400000">
              <a:off x="4177216" y="4486843"/>
              <a:ext cx="382167" cy="241577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任意多边形 23"/>
          <p:cNvSpPr/>
          <p:nvPr/>
        </p:nvSpPr>
        <p:spPr>
          <a:xfrm>
            <a:off x="5599113" y="4691063"/>
            <a:ext cx="785813" cy="785813"/>
          </a:xfrm>
          <a:custGeom>
            <a:avLst/>
            <a:gdLst>
              <a:gd name="connsiteX0" fmla="*/ 0 w 785607"/>
              <a:gd name="connsiteY0" fmla="*/ 0 h 785607"/>
              <a:gd name="connsiteX1" fmla="*/ 785607 w 785607"/>
              <a:gd name="connsiteY1" fmla="*/ 0 h 785607"/>
              <a:gd name="connsiteX2" fmla="*/ 785607 w 785607"/>
              <a:gd name="connsiteY2" fmla="*/ 785607 h 785607"/>
              <a:gd name="connsiteX3" fmla="*/ 0 w 785607"/>
              <a:gd name="connsiteY3" fmla="*/ 785607 h 785607"/>
              <a:gd name="connsiteX4" fmla="*/ 0 w 785607"/>
              <a:gd name="connsiteY4" fmla="*/ 0 h 78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607" h="785607">
                <a:moveTo>
                  <a:pt x="0" y="0"/>
                </a:moveTo>
                <a:lnTo>
                  <a:pt x="785607" y="0"/>
                </a:lnTo>
                <a:lnTo>
                  <a:pt x="785607" y="785607"/>
                </a:lnTo>
                <a:lnTo>
                  <a:pt x="0" y="7856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" tIns="1270" rIns="1270" bIns="1270" numCol="1" spcCol="1270" anchor="ctr" anchorCtr="0">
            <a:noAutofit/>
          </a:bodyPr>
          <a:lstStyle/>
          <a:p>
            <a:pPr marL="0" marR="0" lvl="0" indent="0" algn="ctr" defTabSz="44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sz="1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.</a:t>
            </a:r>
            <a:endParaRPr kumimoji="0" lang="en-US" sz="4700" b="0" i="0" u="none" strike="noStrike" kern="1200" cap="none" spc="0" normalizeH="0" baseline="0" noProof="0">
              <a:ln>
                <a:noFill/>
              </a:ln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5" name="Oval 99"/>
          <p:cNvSpPr/>
          <p:nvPr/>
        </p:nvSpPr>
        <p:spPr>
          <a:xfrm>
            <a:off x="5711825" y="4699000"/>
            <a:ext cx="609600" cy="6096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843713" y="3787775"/>
            <a:ext cx="785813" cy="784225"/>
          </a:xfrm>
          <a:custGeom>
            <a:avLst/>
            <a:gdLst>
              <a:gd name="connsiteX0" fmla="*/ 0 w 785607"/>
              <a:gd name="connsiteY0" fmla="*/ 0 h 785607"/>
              <a:gd name="connsiteX1" fmla="*/ 785607 w 785607"/>
              <a:gd name="connsiteY1" fmla="*/ 0 h 785607"/>
              <a:gd name="connsiteX2" fmla="*/ 785607 w 785607"/>
              <a:gd name="connsiteY2" fmla="*/ 785607 h 785607"/>
              <a:gd name="connsiteX3" fmla="*/ 0 w 785607"/>
              <a:gd name="connsiteY3" fmla="*/ 785607 h 785607"/>
              <a:gd name="connsiteX4" fmla="*/ 0 w 785607"/>
              <a:gd name="connsiteY4" fmla="*/ 0 h 78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607" h="785607">
                <a:moveTo>
                  <a:pt x="0" y="0"/>
                </a:moveTo>
                <a:lnTo>
                  <a:pt x="785607" y="0"/>
                </a:lnTo>
                <a:lnTo>
                  <a:pt x="785607" y="785607"/>
                </a:lnTo>
                <a:lnTo>
                  <a:pt x="0" y="7856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" tIns="1270" rIns="1270" bIns="1270" numCol="1" spcCol="1270" anchor="ctr" anchorCtr="0">
            <a:noAutofit/>
          </a:bodyPr>
          <a:lstStyle/>
          <a:p>
            <a:pPr marL="0" marR="0" lvl="0" indent="0" algn="ctr" defTabSz="44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sz="1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.</a:t>
            </a:r>
            <a:endParaRPr kumimoji="0" lang="en-US" sz="4700" b="0" i="0" u="none" strike="noStrike" kern="1200" cap="none" spc="0" normalizeH="0" baseline="0" noProof="0">
              <a:ln>
                <a:noFill/>
              </a:ln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9" name="Oval 98"/>
          <p:cNvSpPr/>
          <p:nvPr/>
        </p:nvSpPr>
        <p:spPr>
          <a:xfrm>
            <a:off x="6907213" y="3886200"/>
            <a:ext cx="608013" cy="6096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AutoShape 11"/>
          <p:cNvSpPr>
            <a:spLocks noChangeAspect="1" noChangeArrowheads="1" noTextEdit="1"/>
          </p:cNvSpPr>
          <p:nvPr/>
        </p:nvSpPr>
        <p:spPr bwMode="auto">
          <a:xfrm>
            <a:off x="7016750" y="3987800"/>
            <a:ext cx="393700" cy="393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888" tIns="60944" rIns="121888" bIns="60944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4356100" y="3787775"/>
            <a:ext cx="785813" cy="784225"/>
          </a:xfrm>
          <a:custGeom>
            <a:avLst/>
            <a:gdLst>
              <a:gd name="connsiteX0" fmla="*/ 0 w 785607"/>
              <a:gd name="connsiteY0" fmla="*/ 0 h 785607"/>
              <a:gd name="connsiteX1" fmla="*/ 785607 w 785607"/>
              <a:gd name="connsiteY1" fmla="*/ 0 h 785607"/>
              <a:gd name="connsiteX2" fmla="*/ 785607 w 785607"/>
              <a:gd name="connsiteY2" fmla="*/ 785607 h 785607"/>
              <a:gd name="connsiteX3" fmla="*/ 0 w 785607"/>
              <a:gd name="connsiteY3" fmla="*/ 785607 h 785607"/>
              <a:gd name="connsiteX4" fmla="*/ 0 w 785607"/>
              <a:gd name="connsiteY4" fmla="*/ 0 h 78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607" h="785607">
                <a:moveTo>
                  <a:pt x="0" y="0"/>
                </a:moveTo>
                <a:lnTo>
                  <a:pt x="785607" y="0"/>
                </a:lnTo>
                <a:lnTo>
                  <a:pt x="785607" y="785607"/>
                </a:lnTo>
                <a:lnTo>
                  <a:pt x="0" y="7856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" tIns="1270" rIns="1270" bIns="1270" numCol="1" spcCol="1270" anchor="ctr" anchorCtr="0">
            <a:noAutofit/>
          </a:bodyPr>
          <a:lstStyle/>
          <a:p>
            <a:pPr marL="0" marR="0" lvl="0" indent="0" algn="ctr" defTabSz="44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sz="1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.</a:t>
            </a:r>
            <a:endParaRPr kumimoji="0" lang="en-US" sz="4700" b="0" i="0" u="none" strike="noStrike" kern="1200" cap="none" spc="0" normalizeH="0" baseline="0" noProof="0">
              <a:ln>
                <a:noFill/>
              </a:ln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4" name="Oval 100"/>
          <p:cNvSpPr/>
          <p:nvPr/>
        </p:nvSpPr>
        <p:spPr>
          <a:xfrm>
            <a:off x="4468813" y="3886200"/>
            <a:ext cx="609600" cy="6096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AutoShape 15"/>
          <p:cNvSpPr>
            <a:spLocks noChangeAspect="1" noChangeArrowheads="1" noTextEdit="1"/>
          </p:cNvSpPr>
          <p:nvPr/>
        </p:nvSpPr>
        <p:spPr bwMode="auto">
          <a:xfrm>
            <a:off x="4525963" y="3948113"/>
            <a:ext cx="450850" cy="5476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888" tIns="60944" rIns="121888" bIns="60944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6367463" y="2325688"/>
            <a:ext cx="785813" cy="785813"/>
          </a:xfrm>
          <a:custGeom>
            <a:avLst/>
            <a:gdLst>
              <a:gd name="connsiteX0" fmla="*/ 0 w 785607"/>
              <a:gd name="connsiteY0" fmla="*/ 0 h 785607"/>
              <a:gd name="connsiteX1" fmla="*/ 785607 w 785607"/>
              <a:gd name="connsiteY1" fmla="*/ 0 h 785607"/>
              <a:gd name="connsiteX2" fmla="*/ 785607 w 785607"/>
              <a:gd name="connsiteY2" fmla="*/ 785607 h 785607"/>
              <a:gd name="connsiteX3" fmla="*/ 0 w 785607"/>
              <a:gd name="connsiteY3" fmla="*/ 785607 h 785607"/>
              <a:gd name="connsiteX4" fmla="*/ 0 w 785607"/>
              <a:gd name="connsiteY4" fmla="*/ 0 h 78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607" h="785607">
                <a:moveTo>
                  <a:pt x="0" y="0"/>
                </a:moveTo>
                <a:lnTo>
                  <a:pt x="785607" y="0"/>
                </a:lnTo>
                <a:lnTo>
                  <a:pt x="785607" y="785607"/>
                </a:lnTo>
                <a:lnTo>
                  <a:pt x="0" y="7856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" tIns="1270" rIns="1270" bIns="1270" numCol="1" spcCol="1270" anchor="ctr" anchorCtr="0">
            <a:noAutofit/>
          </a:bodyPr>
          <a:lstStyle/>
          <a:p>
            <a:pPr marL="0" marR="0" lvl="0" indent="0" algn="ctr" defTabSz="44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sz="1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.</a:t>
            </a:r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9" name="Oval 97"/>
          <p:cNvSpPr/>
          <p:nvPr/>
        </p:nvSpPr>
        <p:spPr>
          <a:xfrm>
            <a:off x="6500813" y="2362200"/>
            <a:ext cx="609600" cy="6096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4830763" y="2325688"/>
            <a:ext cx="785813" cy="785813"/>
          </a:xfrm>
          <a:custGeom>
            <a:avLst/>
            <a:gdLst>
              <a:gd name="connsiteX0" fmla="*/ 0 w 785607"/>
              <a:gd name="connsiteY0" fmla="*/ 0 h 785607"/>
              <a:gd name="connsiteX1" fmla="*/ 785607 w 785607"/>
              <a:gd name="connsiteY1" fmla="*/ 0 h 785607"/>
              <a:gd name="connsiteX2" fmla="*/ 785607 w 785607"/>
              <a:gd name="connsiteY2" fmla="*/ 785607 h 785607"/>
              <a:gd name="connsiteX3" fmla="*/ 0 w 785607"/>
              <a:gd name="connsiteY3" fmla="*/ 785607 h 785607"/>
              <a:gd name="connsiteX4" fmla="*/ 0 w 785607"/>
              <a:gd name="connsiteY4" fmla="*/ 0 h 78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607" h="785607">
                <a:moveTo>
                  <a:pt x="0" y="0"/>
                </a:moveTo>
                <a:lnTo>
                  <a:pt x="785607" y="0"/>
                </a:lnTo>
                <a:lnTo>
                  <a:pt x="785607" y="785607"/>
                </a:lnTo>
                <a:lnTo>
                  <a:pt x="0" y="7856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" tIns="1270" rIns="1270" bIns="1270" numCol="1" spcCol="1270" anchor="ctr" anchorCtr="0">
            <a:noAutofit/>
          </a:bodyPr>
          <a:lstStyle/>
          <a:p>
            <a:pPr marL="0" marR="0" lvl="0" indent="0" algn="ctr" defTabSz="44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sz="1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.</a:t>
            </a:r>
            <a:endParaRPr kumimoji="0" lang="en-US" sz="4700" b="0" i="0" u="none" strike="noStrike" kern="1200" cap="none" spc="0" normalizeH="0" baseline="0" noProof="0">
              <a:ln>
                <a:noFill/>
              </a:ln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3" name="Oval 101"/>
          <p:cNvSpPr/>
          <p:nvPr/>
        </p:nvSpPr>
        <p:spPr>
          <a:xfrm>
            <a:off x="4875213" y="2362200"/>
            <a:ext cx="609600" cy="6096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AutoShape 27"/>
          <p:cNvSpPr>
            <a:spLocks noChangeAspect="1" noChangeArrowheads="1" noTextEdit="1"/>
          </p:cNvSpPr>
          <p:nvPr/>
        </p:nvSpPr>
        <p:spPr bwMode="auto">
          <a:xfrm>
            <a:off x="4919663" y="2413000"/>
            <a:ext cx="434975" cy="506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888" tIns="60944" rIns="121888" bIns="60944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78" name="TextBox 10"/>
          <p:cNvSpPr txBox="1"/>
          <p:nvPr/>
        </p:nvSpPr>
        <p:spPr>
          <a:xfrm>
            <a:off x="1808163" y="1927225"/>
            <a:ext cx="19097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en-US" sz="18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Total Employees</a:t>
            </a:r>
            <a:endParaRPr lang="en-US" altLang="en-US" sz="18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279" name="TextBox 11"/>
          <p:cNvSpPr txBox="1"/>
          <p:nvPr/>
        </p:nvSpPr>
        <p:spPr>
          <a:xfrm>
            <a:off x="2091690" y="2260600"/>
            <a:ext cx="117602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1,470</a:t>
            </a:r>
            <a:r>
              <a:rPr lang="ar-EG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Emp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280" name="TextBox 10"/>
          <p:cNvSpPr txBox="1"/>
          <p:nvPr/>
        </p:nvSpPr>
        <p:spPr>
          <a:xfrm>
            <a:off x="1806575" y="4606925"/>
            <a:ext cx="1908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en-US" sz="18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Average Monthly Income</a:t>
            </a:r>
            <a:endParaRPr lang="en-US" altLang="en-US" sz="18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281" name="TextBox 11"/>
          <p:cNvSpPr txBox="1"/>
          <p:nvPr/>
        </p:nvSpPr>
        <p:spPr>
          <a:xfrm>
            <a:off x="2211705" y="5270500"/>
            <a:ext cx="2322513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Total:- 6,500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282" name="TextBox 10"/>
          <p:cNvSpPr txBox="1"/>
          <p:nvPr/>
        </p:nvSpPr>
        <p:spPr>
          <a:xfrm>
            <a:off x="7767320" y="1865630"/>
            <a:ext cx="19097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/>
            <a:r>
              <a:rPr lang="en-US" altLang="en-US" sz="18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Attrition Rate</a:t>
            </a:r>
            <a:endParaRPr lang="en-US" altLang="en-US" sz="18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283" name="TextBox 11"/>
          <p:cNvSpPr txBox="1"/>
          <p:nvPr/>
        </p:nvSpPr>
        <p:spPr>
          <a:xfrm>
            <a:off x="7994968" y="2233613"/>
            <a:ext cx="2363787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16% (237 employees out of 1,470 original)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284" name="TextBox 10"/>
          <p:cNvSpPr txBox="1"/>
          <p:nvPr/>
        </p:nvSpPr>
        <p:spPr>
          <a:xfrm>
            <a:off x="7686993" y="4606925"/>
            <a:ext cx="19097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/>
            <a:r>
              <a:rPr lang="en-US" altLang="en-US" sz="18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Average Age</a:t>
            </a:r>
            <a:endParaRPr lang="en-US" altLang="en-US" sz="18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285" name="TextBox 11"/>
          <p:cNvSpPr txBox="1"/>
          <p:nvPr/>
        </p:nvSpPr>
        <p:spPr>
          <a:xfrm>
            <a:off x="8542338" y="4975225"/>
            <a:ext cx="2366962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 sz="1600" dirty="0">
                <a:solidFill>
                  <a:srgbClr val="000000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37 Year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291465" y="845820"/>
            <a:ext cx="4064000" cy="5869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    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    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    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    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313" name="文本框 3"/>
          <p:cNvSpPr txBox="1"/>
          <p:nvPr/>
        </p:nvSpPr>
        <p:spPr>
          <a:xfrm>
            <a:off x="228600" y="190500"/>
            <a:ext cx="38811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Cleaning by Python:- 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035" y="3383280"/>
            <a:ext cx="7008495" cy="1828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35" y="5212080"/>
            <a:ext cx="7007860" cy="14325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035" y="845820"/>
            <a:ext cx="7008495" cy="2537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文本框 3"/>
          <p:cNvSpPr txBox="1"/>
          <p:nvPr/>
        </p:nvSpPr>
        <p:spPr>
          <a:xfrm>
            <a:off x="228600" y="190500"/>
            <a:ext cx="49161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Power BI Designing:- 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39" name="Group 75"/>
          <p:cNvGrpSpPr/>
          <p:nvPr/>
        </p:nvGrpSpPr>
        <p:grpSpPr>
          <a:xfrm rot="16200000">
            <a:off x="3157220" y="-2001520"/>
            <a:ext cx="5756275" cy="11299825"/>
            <a:chOff x="8099434" y="2121218"/>
            <a:chExt cx="1322388" cy="1878013"/>
          </a:xfrm>
        </p:grpSpPr>
        <p:sp>
          <p:nvSpPr>
            <p:cNvPr id="14340" name="Freeform 33"/>
            <p:cNvSpPr/>
            <p:nvPr/>
          </p:nvSpPr>
          <p:spPr>
            <a:xfrm>
              <a:off x="8099434" y="2121218"/>
              <a:ext cx="1322388" cy="1878013"/>
            </a:xfrm>
            <a:custGeom>
              <a:avLst/>
              <a:gdLst/>
              <a:ahLst/>
              <a:cxnLst>
                <a:cxn ang="0">
                  <a:pos x="1322388" y="1798638"/>
                </a:cxn>
                <a:cxn ang="0">
                  <a:pos x="1244694" y="1878013"/>
                </a:cxn>
                <a:cxn ang="0">
                  <a:pos x="79280" y="1878013"/>
                </a:cxn>
                <a:cxn ang="0">
                  <a:pos x="0" y="1798638"/>
                </a:cxn>
                <a:cxn ang="0">
                  <a:pos x="0" y="77788"/>
                </a:cxn>
                <a:cxn ang="0">
                  <a:pos x="79280" y="0"/>
                </a:cxn>
                <a:cxn ang="0">
                  <a:pos x="1244694" y="0"/>
                </a:cxn>
                <a:cxn ang="0">
                  <a:pos x="1322388" y="77788"/>
                </a:cxn>
                <a:cxn ang="0">
                  <a:pos x="1322388" y="1798638"/>
                </a:cxn>
              </a:cxnLst>
              <a:pathLst>
                <a:path w="834" h="1183">
                  <a:moveTo>
                    <a:pt x="834" y="1133"/>
                  </a:moveTo>
                  <a:cubicBezTo>
                    <a:pt x="834" y="1160"/>
                    <a:pt x="812" y="1183"/>
                    <a:pt x="785" y="1183"/>
                  </a:cubicBezTo>
                  <a:cubicBezTo>
                    <a:pt x="50" y="1183"/>
                    <a:pt x="50" y="1183"/>
                    <a:pt x="50" y="1183"/>
                  </a:cubicBezTo>
                  <a:cubicBezTo>
                    <a:pt x="22" y="1183"/>
                    <a:pt x="0" y="1160"/>
                    <a:pt x="0" y="113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812" y="0"/>
                    <a:pt x="834" y="22"/>
                    <a:pt x="834" y="49"/>
                  </a:cubicBezTo>
                  <a:cubicBezTo>
                    <a:pt x="834" y="1133"/>
                    <a:pt x="834" y="1133"/>
                    <a:pt x="834" y="1133"/>
                  </a:cubicBezTo>
                </a:path>
              </a:pathLst>
            </a:custGeom>
            <a:solidFill>
              <a:srgbClr val="333333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4341" name="Freeform 34"/>
            <p:cNvSpPr/>
            <p:nvPr/>
          </p:nvSpPr>
          <p:spPr>
            <a:xfrm>
              <a:off x="8107372" y="2127568"/>
              <a:ext cx="1308100" cy="1863725"/>
            </a:xfrm>
            <a:custGeom>
              <a:avLst/>
              <a:gdLst/>
              <a:ahLst/>
              <a:cxnLst>
                <a:cxn ang="0">
                  <a:pos x="71351" y="1863725"/>
                </a:cxn>
                <a:cxn ang="0">
                  <a:pos x="0" y="1792288"/>
                </a:cxn>
                <a:cxn ang="0">
                  <a:pos x="0" y="71438"/>
                </a:cxn>
                <a:cxn ang="0">
                  <a:pos x="71351" y="0"/>
                </a:cxn>
                <a:cxn ang="0">
                  <a:pos x="1236749" y="0"/>
                </a:cxn>
                <a:cxn ang="0">
                  <a:pos x="1308100" y="71438"/>
                </a:cxn>
                <a:cxn ang="0">
                  <a:pos x="1308100" y="1792288"/>
                </a:cxn>
                <a:cxn ang="0">
                  <a:pos x="1236749" y="1863725"/>
                </a:cxn>
                <a:cxn ang="0">
                  <a:pos x="71351" y="1863725"/>
                </a:cxn>
              </a:cxnLst>
              <a:pathLst>
                <a:path w="825" h="1174">
                  <a:moveTo>
                    <a:pt x="45" y="1174"/>
                  </a:moveTo>
                  <a:cubicBezTo>
                    <a:pt x="20" y="1174"/>
                    <a:pt x="0" y="1154"/>
                    <a:pt x="0" y="112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05" y="0"/>
                    <a:pt x="825" y="21"/>
                    <a:pt x="825" y="45"/>
                  </a:cubicBezTo>
                  <a:cubicBezTo>
                    <a:pt x="825" y="1129"/>
                    <a:pt x="825" y="1129"/>
                    <a:pt x="825" y="1129"/>
                  </a:cubicBezTo>
                  <a:cubicBezTo>
                    <a:pt x="825" y="1154"/>
                    <a:pt x="805" y="1174"/>
                    <a:pt x="780" y="1174"/>
                  </a:cubicBezTo>
                  <a:cubicBezTo>
                    <a:pt x="45" y="1174"/>
                    <a:pt x="45" y="1174"/>
                    <a:pt x="45" y="1174"/>
                  </a:cubicBezTo>
                </a:path>
              </a:pathLst>
            </a:custGeom>
            <a:solidFill>
              <a:srgbClr val="181818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4342" name="Oval 35"/>
            <p:cNvSpPr/>
            <p:nvPr/>
          </p:nvSpPr>
          <p:spPr>
            <a:xfrm>
              <a:off x="8748722" y="2197418"/>
              <a:ext cx="23813" cy="23813"/>
            </a:xfrm>
            <a:prstGeom prst="ellipse">
              <a:avLst/>
            </a:prstGeom>
            <a:solidFill>
              <a:srgbClr val="2C2C2C"/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43" name="Oval 36"/>
            <p:cNvSpPr/>
            <p:nvPr/>
          </p:nvSpPr>
          <p:spPr>
            <a:xfrm>
              <a:off x="8748722" y="2195831"/>
              <a:ext cx="23813" cy="23813"/>
            </a:xfrm>
            <a:prstGeom prst="ellipse">
              <a:avLst/>
            </a:prstGeom>
            <a:solidFill>
              <a:srgbClr val="0A0A0A"/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44" name="Oval 37"/>
            <p:cNvSpPr/>
            <p:nvPr/>
          </p:nvSpPr>
          <p:spPr>
            <a:xfrm>
              <a:off x="8753484" y="2200593"/>
              <a:ext cx="14288" cy="14288"/>
            </a:xfrm>
            <a:prstGeom prst="ellipse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45" name="Oval 38"/>
            <p:cNvSpPr/>
            <p:nvPr/>
          </p:nvSpPr>
          <p:spPr>
            <a:xfrm>
              <a:off x="8756659" y="2203768"/>
              <a:ext cx="7938" cy="7938"/>
            </a:xfrm>
            <a:prstGeom prst="ellipse">
              <a:avLst/>
            </a:prstGeom>
            <a:solidFill>
              <a:srgbClr val="2C99B4"/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46" name="Freeform 39"/>
            <p:cNvSpPr/>
            <p:nvPr/>
          </p:nvSpPr>
          <p:spPr>
            <a:xfrm>
              <a:off x="8759834" y="2206943"/>
              <a:ext cx="1588" cy="1588"/>
            </a:xfrm>
            <a:custGeom>
              <a:avLst/>
              <a:gdLst/>
              <a:ahLst/>
              <a:cxnLst>
                <a:cxn ang="0">
                  <a:pos x="1588" y="0"/>
                </a:cxn>
                <a:cxn ang="0">
                  <a:pos x="1588" y="1588"/>
                </a:cxn>
                <a:cxn ang="0">
                  <a:pos x="0" y="0"/>
                </a:cxn>
                <a:cxn ang="0">
                  <a:pos x="1588" y="0"/>
                </a:cxn>
                <a:cxn ang="0">
                  <a:pos x="1588" y="0"/>
                </a:cxn>
              </a:cxnLst>
              <a:pathLst>
                <a:path w="1" h="1">
                  <a:moveTo>
                    <a:pt x="1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4347" name="Rectangle 40"/>
            <p:cNvSpPr/>
            <p:nvPr/>
          </p:nvSpPr>
          <p:spPr>
            <a:xfrm>
              <a:off x="8723322" y="2203768"/>
              <a:ext cx="11113" cy="11113"/>
            </a:xfrm>
            <a:prstGeom prst="rect">
              <a:avLst/>
            </a:prstGeom>
            <a:solidFill>
              <a:srgbClr val="464646"/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48" name="Rectangle 41"/>
            <p:cNvSpPr/>
            <p:nvPr/>
          </p:nvSpPr>
          <p:spPr>
            <a:xfrm>
              <a:off x="8178809" y="2278381"/>
              <a:ext cx="1165225" cy="1554163"/>
            </a:xfrm>
            <a:prstGeom prst="rect">
              <a:avLst/>
            </a:prstGeom>
            <a:solidFill>
              <a:srgbClr val="0C0D11"/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49" name="Rectangle 42"/>
            <p:cNvSpPr/>
            <p:nvPr/>
          </p:nvSpPr>
          <p:spPr>
            <a:xfrm>
              <a:off x="8185159" y="2284731"/>
              <a:ext cx="1152525" cy="154146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50" name="Oval 43"/>
            <p:cNvSpPr/>
            <p:nvPr/>
          </p:nvSpPr>
          <p:spPr>
            <a:xfrm>
              <a:off x="8712209" y="3865881"/>
              <a:ext cx="98425" cy="100013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anchor="t" anchorCtr="0"/>
            <a:p>
              <a:endParaRPr lang="id-ID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51" name="Freeform 44"/>
            <p:cNvSpPr/>
            <p:nvPr/>
          </p:nvSpPr>
          <p:spPr>
            <a:xfrm>
              <a:off x="8736022" y="3889693"/>
              <a:ext cx="50800" cy="50800"/>
            </a:xfrm>
            <a:custGeom>
              <a:avLst/>
              <a:gdLst/>
              <a:ahLst/>
              <a:cxnLst>
                <a:cxn ang="0">
                  <a:pos x="47625" y="33338"/>
                </a:cxn>
                <a:cxn ang="0">
                  <a:pos x="44450" y="33338"/>
                </a:cxn>
                <a:cxn ang="0">
                  <a:pos x="33338" y="44450"/>
                </a:cxn>
                <a:cxn ang="0">
                  <a:pos x="17463" y="44450"/>
                </a:cxn>
                <a:cxn ang="0">
                  <a:pos x="6350" y="33338"/>
                </a:cxn>
                <a:cxn ang="0">
                  <a:pos x="6350" y="17463"/>
                </a:cxn>
                <a:cxn ang="0">
                  <a:pos x="17463" y="6350"/>
                </a:cxn>
                <a:cxn ang="0">
                  <a:pos x="33338" y="6350"/>
                </a:cxn>
                <a:cxn ang="0">
                  <a:pos x="44450" y="17463"/>
                </a:cxn>
                <a:cxn ang="0">
                  <a:pos x="44450" y="33338"/>
                </a:cxn>
                <a:cxn ang="0">
                  <a:pos x="47625" y="33338"/>
                </a:cxn>
                <a:cxn ang="0">
                  <a:pos x="50800" y="33338"/>
                </a:cxn>
                <a:cxn ang="0">
                  <a:pos x="50800" y="17463"/>
                </a:cxn>
                <a:cxn ang="0">
                  <a:pos x="33338" y="0"/>
                </a:cxn>
                <a:cxn ang="0">
                  <a:pos x="17463" y="0"/>
                </a:cxn>
                <a:cxn ang="0">
                  <a:pos x="0" y="17463"/>
                </a:cxn>
                <a:cxn ang="0">
                  <a:pos x="0" y="33338"/>
                </a:cxn>
                <a:cxn ang="0">
                  <a:pos x="17463" y="50800"/>
                </a:cxn>
                <a:cxn ang="0">
                  <a:pos x="33338" y="50800"/>
                </a:cxn>
                <a:cxn ang="0">
                  <a:pos x="50800" y="33338"/>
                </a:cxn>
                <a:cxn ang="0">
                  <a:pos x="47625" y="33338"/>
                </a:cxn>
              </a:cxnLst>
              <a:pathLst>
                <a:path w="32" h="32">
                  <a:moveTo>
                    <a:pt x="30" y="21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8" y="25"/>
                    <a:pt x="25" y="28"/>
                    <a:pt x="2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7" y="28"/>
                    <a:pt x="4" y="25"/>
                    <a:pt x="4" y="2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5" y="4"/>
                    <a:pt x="28" y="7"/>
                    <a:pt x="28" y="1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5"/>
                    <a:pt x="28" y="0"/>
                    <a:pt x="2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8"/>
                    <a:pt x="5" y="32"/>
                    <a:pt x="11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8" y="32"/>
                    <a:pt x="32" y="28"/>
                    <a:pt x="32" y="21"/>
                  </a:cubicBezTo>
                  <a:lnTo>
                    <a:pt x="30" y="21"/>
                  </a:lnTo>
                  <a:close/>
                </a:path>
              </a:pathLst>
            </a:custGeom>
            <a:solidFill>
              <a:srgbClr val="181818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945" y="1252855"/>
            <a:ext cx="9178290" cy="76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45" y="2014855"/>
            <a:ext cx="56388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155" y="2015490"/>
            <a:ext cx="3131820" cy="2590165"/>
          </a:xfrm>
          <a:prstGeom prst="rect">
            <a:avLst/>
          </a:prstGeom>
        </p:spPr>
      </p:pic>
      <p:sp>
        <p:nvSpPr>
          <p:cNvPr id="12" name="AutoShape 15"/>
          <p:cNvSpPr/>
          <p:nvPr/>
        </p:nvSpPr>
        <p:spPr>
          <a:xfrm>
            <a:off x="1464945" y="5138420"/>
            <a:ext cx="2848610" cy="349885"/>
          </a:xfrm>
          <a:prstGeom prst="roundRect">
            <a:avLst>
              <a:gd name="adj" fmla="val 26315"/>
            </a:avLst>
          </a:prstGeom>
          <a:solidFill>
            <a:srgbClr val="FFC000"/>
          </a:solidFill>
          <a:ln w="9525">
            <a:noFill/>
          </a:ln>
        </p:spPr>
        <p:txBody>
          <a:bodyPr lIns="0" tIns="0" rIns="0" bIns="0" anchor="t" anchorCtr="0"/>
          <a:p>
            <a:pPr algn="ctr">
              <a:buFont typeface="Arial" panose="020B0604020202020204" pitchFamily="34" charset="0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charset="0"/>
                <a:ea typeface="ヒラギノ角ゴ ProN W3"/>
                <a:cs typeface="Times New Roman" panose="02020603050405020304" charset="0"/>
                <a:sym typeface="Gill Sans"/>
              </a:rPr>
              <a:t>Continue in full Dashboard</a:t>
            </a:r>
            <a:endParaRPr lang="en-US" altLang="en-US" sz="1800" b="1" dirty="0">
              <a:solidFill>
                <a:srgbClr val="000000"/>
              </a:solidFill>
              <a:latin typeface="Times New Roman" panose="02020603050405020304" charset="0"/>
              <a:ea typeface="ヒラギノ角ゴ ProN W3"/>
              <a:cs typeface="Times New Roman" panose="02020603050405020304" charset="0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文本框 3"/>
          <p:cNvSpPr txBox="1"/>
          <p:nvPr/>
        </p:nvSpPr>
        <p:spPr>
          <a:xfrm>
            <a:off x="228600" y="190500"/>
            <a:ext cx="2654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Conclusion:-</a:t>
            </a:r>
            <a:endParaRPr lang="ar-EG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Oval 18"/>
          <p:cNvSpPr/>
          <p:nvPr/>
        </p:nvSpPr>
        <p:spPr>
          <a:xfrm>
            <a:off x="5437505" y="2753360"/>
            <a:ext cx="1156970" cy="1153160"/>
          </a:xfrm>
          <a:prstGeom prst="ellipse">
            <a:avLst/>
          </a:prstGeom>
          <a:solidFill>
            <a:schemeClr val="bg2"/>
          </a:solidFill>
          <a:ln w="9525">
            <a:noFill/>
          </a:ln>
        </p:spPr>
        <p:txBody>
          <a:bodyPr anchor="ctr" anchorCtr="0"/>
          <a:p>
            <a:pPr algn="ctr"/>
            <a:endParaRPr lang="id-ID" altLang="zh-CN" sz="1600" dirty="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Oval 19"/>
          <p:cNvSpPr>
            <a:spLocks noChangeArrowheads="1"/>
          </p:cNvSpPr>
          <p:nvPr/>
        </p:nvSpPr>
        <p:spPr bwMode="auto">
          <a:xfrm>
            <a:off x="5516880" y="2834005"/>
            <a:ext cx="1012825" cy="97917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HR Result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417" name="Rectangle 23"/>
          <p:cNvSpPr/>
          <p:nvPr/>
        </p:nvSpPr>
        <p:spPr>
          <a:xfrm>
            <a:off x="6530975" y="2422525"/>
            <a:ext cx="358775" cy="357188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ctr" anchorCtr="0"/>
          <a:p>
            <a:pPr algn="ctr"/>
            <a:endParaRPr lang="id-ID" altLang="zh-CN" sz="1600" dirty="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17418" name="Freeform 24"/>
          <p:cNvSpPr/>
          <p:nvPr/>
        </p:nvSpPr>
        <p:spPr>
          <a:xfrm>
            <a:off x="6383338" y="1762125"/>
            <a:ext cx="1166812" cy="1166813"/>
          </a:xfrm>
          <a:custGeom>
            <a:avLst/>
            <a:gdLst/>
            <a:ahLst/>
            <a:cxnLst>
              <a:cxn ang="0">
                <a:pos x="957687" y="957687"/>
              </a:cxn>
              <a:cxn ang="0">
                <a:pos x="207115" y="957687"/>
              </a:cxn>
              <a:cxn ang="0">
                <a:pos x="207115" y="207115"/>
              </a:cxn>
              <a:cxn ang="0">
                <a:pos x="957687" y="207115"/>
              </a:cxn>
              <a:cxn ang="0">
                <a:pos x="957687" y="957687"/>
              </a:cxn>
            </a:cxnLst>
            <a:pathLst>
              <a:path w="659" h="659">
                <a:moveTo>
                  <a:pt x="541" y="541"/>
                </a:moveTo>
                <a:cubicBezTo>
                  <a:pt x="424" y="659"/>
                  <a:pt x="234" y="659"/>
                  <a:pt x="117" y="541"/>
                </a:cubicBezTo>
                <a:cubicBezTo>
                  <a:pt x="0" y="424"/>
                  <a:pt x="0" y="234"/>
                  <a:pt x="117" y="117"/>
                </a:cubicBezTo>
                <a:cubicBezTo>
                  <a:pt x="234" y="0"/>
                  <a:pt x="424" y="0"/>
                  <a:pt x="541" y="117"/>
                </a:cubicBezTo>
                <a:cubicBezTo>
                  <a:pt x="659" y="234"/>
                  <a:pt x="659" y="424"/>
                  <a:pt x="541" y="541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4" name="Freeform 25"/>
          <p:cNvSpPr/>
          <p:nvPr/>
        </p:nvSpPr>
        <p:spPr bwMode="auto">
          <a:xfrm>
            <a:off x="6477000" y="1854200"/>
            <a:ext cx="979488" cy="979488"/>
          </a:xfrm>
          <a:custGeom>
            <a:avLst/>
            <a:gdLst>
              <a:gd name="T0" fmla="*/ 455 w 553"/>
              <a:gd name="T1" fmla="*/ 454 h 553"/>
              <a:gd name="T2" fmla="*/ 98 w 553"/>
              <a:gd name="T3" fmla="*/ 454 h 553"/>
              <a:gd name="T4" fmla="*/ 98 w 553"/>
              <a:gd name="T5" fmla="*/ 98 h 553"/>
              <a:gd name="T6" fmla="*/ 455 w 553"/>
              <a:gd name="T7" fmla="*/ 98 h 553"/>
              <a:gd name="T8" fmla="*/ 455 w 553"/>
              <a:gd name="T9" fmla="*/ 454 h 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553">
                <a:moveTo>
                  <a:pt x="455" y="454"/>
                </a:moveTo>
                <a:cubicBezTo>
                  <a:pt x="356" y="553"/>
                  <a:pt x="197" y="553"/>
                  <a:pt x="98" y="454"/>
                </a:cubicBezTo>
                <a:cubicBezTo>
                  <a:pt x="0" y="356"/>
                  <a:pt x="0" y="196"/>
                  <a:pt x="98" y="98"/>
                </a:cubicBezTo>
                <a:cubicBezTo>
                  <a:pt x="197" y="0"/>
                  <a:pt x="356" y="0"/>
                  <a:pt x="455" y="98"/>
                </a:cubicBezTo>
                <a:cubicBezTo>
                  <a:pt x="553" y="196"/>
                  <a:pt x="553" y="356"/>
                  <a:pt x="455" y="45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Attrition Rate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420" name="Rectangle 26"/>
          <p:cNvSpPr/>
          <p:nvPr/>
        </p:nvSpPr>
        <p:spPr>
          <a:xfrm>
            <a:off x="5080000" y="3873500"/>
            <a:ext cx="357188" cy="357188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ctr" anchorCtr="0"/>
          <a:p>
            <a:pPr algn="ctr"/>
            <a:endParaRPr lang="id-ID" altLang="zh-CN" sz="1600" dirty="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17421" name="Freeform 27"/>
          <p:cNvSpPr/>
          <p:nvPr/>
        </p:nvSpPr>
        <p:spPr>
          <a:xfrm>
            <a:off x="4418013" y="3725863"/>
            <a:ext cx="1166812" cy="1165225"/>
          </a:xfrm>
          <a:custGeom>
            <a:avLst/>
            <a:gdLst/>
            <a:ahLst/>
            <a:cxnLst>
              <a:cxn ang="0">
                <a:pos x="208886" y="207113"/>
              </a:cxn>
              <a:cxn ang="0">
                <a:pos x="959458" y="207113"/>
              </a:cxn>
              <a:cxn ang="0">
                <a:pos x="959458" y="957676"/>
              </a:cxn>
              <a:cxn ang="0">
                <a:pos x="208886" y="957676"/>
              </a:cxn>
              <a:cxn ang="0">
                <a:pos x="208886" y="207113"/>
              </a:cxn>
            </a:cxnLst>
            <a:pathLst>
              <a:path w="659" h="658">
                <a:moveTo>
                  <a:pt x="118" y="117"/>
                </a:moveTo>
                <a:cubicBezTo>
                  <a:pt x="235" y="0"/>
                  <a:pt x="425" y="0"/>
                  <a:pt x="542" y="117"/>
                </a:cubicBezTo>
                <a:cubicBezTo>
                  <a:pt x="659" y="234"/>
                  <a:pt x="659" y="424"/>
                  <a:pt x="542" y="541"/>
                </a:cubicBezTo>
                <a:cubicBezTo>
                  <a:pt x="425" y="658"/>
                  <a:pt x="235" y="658"/>
                  <a:pt x="118" y="541"/>
                </a:cubicBezTo>
                <a:cubicBezTo>
                  <a:pt x="0" y="424"/>
                  <a:pt x="0" y="234"/>
                  <a:pt x="118" y="117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" name="Freeform 28"/>
          <p:cNvSpPr/>
          <p:nvPr/>
        </p:nvSpPr>
        <p:spPr bwMode="auto">
          <a:xfrm>
            <a:off x="4513263" y="3819525"/>
            <a:ext cx="977900" cy="981075"/>
          </a:xfrm>
          <a:custGeom>
            <a:avLst/>
            <a:gdLst>
              <a:gd name="T0" fmla="*/ 98 w 553"/>
              <a:gd name="T1" fmla="*/ 99 h 554"/>
              <a:gd name="T2" fmla="*/ 455 w 553"/>
              <a:gd name="T3" fmla="*/ 99 h 554"/>
              <a:gd name="T4" fmla="*/ 455 w 553"/>
              <a:gd name="T5" fmla="*/ 455 h 554"/>
              <a:gd name="T6" fmla="*/ 98 w 553"/>
              <a:gd name="T7" fmla="*/ 455 h 554"/>
              <a:gd name="T8" fmla="*/ 98 w 553"/>
              <a:gd name="T9" fmla="*/ 99 h 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554">
                <a:moveTo>
                  <a:pt x="98" y="99"/>
                </a:moveTo>
                <a:cubicBezTo>
                  <a:pt x="197" y="0"/>
                  <a:pt x="356" y="0"/>
                  <a:pt x="455" y="99"/>
                </a:cubicBezTo>
                <a:cubicBezTo>
                  <a:pt x="553" y="197"/>
                  <a:pt x="553" y="357"/>
                  <a:pt x="455" y="455"/>
                </a:cubicBezTo>
                <a:cubicBezTo>
                  <a:pt x="356" y="554"/>
                  <a:pt x="197" y="554"/>
                  <a:pt x="98" y="455"/>
                </a:cubicBezTo>
                <a:cubicBezTo>
                  <a:pt x="0" y="357"/>
                  <a:pt x="0" y="197"/>
                  <a:pt x="98" y="99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OverTime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423" name="Freeform 29"/>
          <p:cNvSpPr/>
          <p:nvPr/>
        </p:nvSpPr>
        <p:spPr>
          <a:xfrm>
            <a:off x="6757988" y="3073400"/>
            <a:ext cx="504825" cy="506413"/>
          </a:xfrm>
          <a:custGeom>
            <a:avLst/>
            <a:gdLst/>
            <a:ahLst/>
            <a:cxnLst>
              <a:cxn ang="0">
                <a:pos x="0" y="253293"/>
              </a:cxn>
              <a:cxn ang="0">
                <a:pos x="253293" y="0"/>
              </a:cxn>
              <a:cxn ang="0">
                <a:pos x="504802" y="253293"/>
              </a:cxn>
              <a:cxn ang="0">
                <a:pos x="253293" y="506585"/>
              </a:cxn>
              <a:cxn ang="0">
                <a:pos x="0" y="253293"/>
              </a:cxn>
            </a:cxnLst>
            <a:pathLst>
              <a:path w="283" h="284">
                <a:moveTo>
                  <a:pt x="0" y="142"/>
                </a:moveTo>
                <a:lnTo>
                  <a:pt x="142" y="0"/>
                </a:lnTo>
                <a:lnTo>
                  <a:pt x="283" y="142"/>
                </a:lnTo>
                <a:lnTo>
                  <a:pt x="142" y="284"/>
                </a:lnTo>
                <a:lnTo>
                  <a:pt x="0" y="142"/>
                </a:ln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24" name="Oval 30"/>
          <p:cNvSpPr/>
          <p:nvPr/>
        </p:nvSpPr>
        <p:spPr>
          <a:xfrm>
            <a:off x="6842125" y="2795588"/>
            <a:ext cx="1062038" cy="1062037"/>
          </a:xfrm>
          <a:prstGeom prst="ellipse">
            <a:avLst/>
          </a:prstGeom>
          <a:solidFill>
            <a:schemeClr val="bg2"/>
          </a:solidFill>
          <a:ln w="9525">
            <a:noFill/>
          </a:ln>
        </p:spPr>
        <p:txBody>
          <a:bodyPr anchor="ctr" anchorCtr="0"/>
          <a:p>
            <a:pPr algn="ctr"/>
            <a:endParaRPr lang="id-ID" altLang="zh-CN" sz="1600" dirty="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20" name="Oval 31"/>
          <p:cNvSpPr>
            <a:spLocks noChangeArrowheads="1"/>
          </p:cNvSpPr>
          <p:nvPr/>
        </p:nvSpPr>
        <p:spPr bwMode="auto">
          <a:xfrm>
            <a:off x="6926263" y="2881313"/>
            <a:ext cx="892175" cy="8905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Business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Travel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426" name="Freeform 32"/>
          <p:cNvSpPr/>
          <p:nvPr/>
        </p:nvSpPr>
        <p:spPr>
          <a:xfrm>
            <a:off x="4776788" y="3073400"/>
            <a:ext cx="504825" cy="506413"/>
          </a:xfrm>
          <a:custGeom>
            <a:avLst/>
            <a:gdLst/>
            <a:ahLst/>
            <a:cxnLst>
              <a:cxn ang="0">
                <a:pos x="504802" y="253293"/>
              </a:cxn>
              <a:cxn ang="0">
                <a:pos x="251509" y="506585"/>
              </a:cxn>
              <a:cxn ang="0">
                <a:pos x="0" y="253293"/>
              </a:cxn>
              <a:cxn ang="0">
                <a:pos x="251509" y="0"/>
              </a:cxn>
              <a:cxn ang="0">
                <a:pos x="504802" y="253293"/>
              </a:cxn>
            </a:cxnLst>
            <a:pathLst>
              <a:path w="283" h="284">
                <a:moveTo>
                  <a:pt x="283" y="142"/>
                </a:moveTo>
                <a:lnTo>
                  <a:pt x="141" y="284"/>
                </a:lnTo>
                <a:lnTo>
                  <a:pt x="0" y="142"/>
                </a:lnTo>
                <a:lnTo>
                  <a:pt x="141" y="0"/>
                </a:lnTo>
                <a:lnTo>
                  <a:pt x="283" y="142"/>
                </a:ln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27" name="Oval 33"/>
          <p:cNvSpPr/>
          <p:nvPr/>
        </p:nvSpPr>
        <p:spPr>
          <a:xfrm>
            <a:off x="4135438" y="2795588"/>
            <a:ext cx="1062037" cy="1062037"/>
          </a:xfrm>
          <a:prstGeom prst="ellipse">
            <a:avLst/>
          </a:prstGeom>
          <a:solidFill>
            <a:schemeClr val="bg2"/>
          </a:solidFill>
          <a:ln w="9525">
            <a:noFill/>
          </a:ln>
        </p:spPr>
        <p:txBody>
          <a:bodyPr anchor="ctr" anchorCtr="0"/>
          <a:p>
            <a:pPr algn="ctr"/>
            <a:endParaRPr lang="id-ID" altLang="zh-CN" sz="1600" dirty="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23" name="Oval 34"/>
          <p:cNvSpPr>
            <a:spLocks noChangeArrowheads="1"/>
          </p:cNvSpPr>
          <p:nvPr/>
        </p:nvSpPr>
        <p:spPr bwMode="auto">
          <a:xfrm>
            <a:off x="4219575" y="2881313"/>
            <a:ext cx="892175" cy="8905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Department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429" name="Rectangle 47"/>
          <p:cNvSpPr/>
          <p:nvPr/>
        </p:nvSpPr>
        <p:spPr>
          <a:xfrm>
            <a:off x="6530975" y="3873500"/>
            <a:ext cx="358775" cy="357188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ctr" anchorCtr="0"/>
          <a:p>
            <a:pPr algn="ctr"/>
            <a:endParaRPr lang="id-ID" altLang="zh-CN" sz="1600" dirty="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17430" name="Freeform 48"/>
          <p:cNvSpPr/>
          <p:nvPr/>
        </p:nvSpPr>
        <p:spPr>
          <a:xfrm>
            <a:off x="6383338" y="3725863"/>
            <a:ext cx="1166812" cy="1165225"/>
          </a:xfrm>
          <a:custGeom>
            <a:avLst/>
            <a:gdLst/>
            <a:ahLst/>
            <a:cxnLst>
              <a:cxn ang="0">
                <a:pos x="207115" y="957676"/>
              </a:cxn>
              <a:cxn ang="0">
                <a:pos x="207115" y="207113"/>
              </a:cxn>
              <a:cxn ang="0">
                <a:pos x="957687" y="207113"/>
              </a:cxn>
              <a:cxn ang="0">
                <a:pos x="957687" y="957676"/>
              </a:cxn>
              <a:cxn ang="0">
                <a:pos x="207115" y="957676"/>
              </a:cxn>
            </a:cxnLst>
            <a:pathLst>
              <a:path w="659" h="658">
                <a:moveTo>
                  <a:pt x="117" y="541"/>
                </a:moveTo>
                <a:cubicBezTo>
                  <a:pt x="0" y="424"/>
                  <a:pt x="0" y="234"/>
                  <a:pt x="117" y="117"/>
                </a:cubicBezTo>
                <a:cubicBezTo>
                  <a:pt x="234" y="0"/>
                  <a:pt x="424" y="0"/>
                  <a:pt x="541" y="117"/>
                </a:cubicBezTo>
                <a:cubicBezTo>
                  <a:pt x="659" y="234"/>
                  <a:pt x="659" y="424"/>
                  <a:pt x="541" y="541"/>
                </a:cubicBezTo>
                <a:cubicBezTo>
                  <a:pt x="424" y="658"/>
                  <a:pt x="234" y="658"/>
                  <a:pt x="117" y="541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6" name="Freeform 49"/>
          <p:cNvSpPr/>
          <p:nvPr/>
        </p:nvSpPr>
        <p:spPr bwMode="auto">
          <a:xfrm>
            <a:off x="6477000" y="3819525"/>
            <a:ext cx="979488" cy="981075"/>
          </a:xfrm>
          <a:custGeom>
            <a:avLst/>
            <a:gdLst>
              <a:gd name="T0" fmla="*/ 98 w 553"/>
              <a:gd name="T1" fmla="*/ 455 h 554"/>
              <a:gd name="T2" fmla="*/ 98 w 553"/>
              <a:gd name="T3" fmla="*/ 99 h 554"/>
              <a:gd name="T4" fmla="*/ 455 w 553"/>
              <a:gd name="T5" fmla="*/ 99 h 554"/>
              <a:gd name="T6" fmla="*/ 455 w 553"/>
              <a:gd name="T7" fmla="*/ 455 h 554"/>
              <a:gd name="T8" fmla="*/ 98 w 553"/>
              <a:gd name="T9" fmla="*/ 455 h 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554">
                <a:moveTo>
                  <a:pt x="98" y="455"/>
                </a:moveTo>
                <a:cubicBezTo>
                  <a:pt x="0" y="357"/>
                  <a:pt x="0" y="197"/>
                  <a:pt x="98" y="99"/>
                </a:cubicBezTo>
                <a:cubicBezTo>
                  <a:pt x="197" y="0"/>
                  <a:pt x="356" y="0"/>
                  <a:pt x="455" y="99"/>
                </a:cubicBezTo>
                <a:cubicBezTo>
                  <a:pt x="553" y="197"/>
                  <a:pt x="553" y="357"/>
                  <a:pt x="455" y="455"/>
                </a:cubicBezTo>
                <a:cubicBezTo>
                  <a:pt x="356" y="554"/>
                  <a:pt x="197" y="554"/>
                  <a:pt x="98" y="455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Age Group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432" name="Rectangle 50"/>
          <p:cNvSpPr/>
          <p:nvPr/>
        </p:nvSpPr>
        <p:spPr>
          <a:xfrm>
            <a:off x="5080000" y="2422525"/>
            <a:ext cx="357188" cy="357188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anchor="ctr" anchorCtr="0"/>
          <a:p>
            <a:pPr algn="ctr"/>
            <a:endParaRPr lang="id-ID" altLang="zh-CN" sz="1600" dirty="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17433" name="Freeform 51"/>
          <p:cNvSpPr/>
          <p:nvPr/>
        </p:nvSpPr>
        <p:spPr>
          <a:xfrm>
            <a:off x="4418013" y="1762125"/>
            <a:ext cx="1166812" cy="1166813"/>
          </a:xfrm>
          <a:custGeom>
            <a:avLst/>
            <a:gdLst/>
            <a:ahLst/>
            <a:cxnLst>
              <a:cxn ang="0">
                <a:pos x="959458" y="207115"/>
              </a:cxn>
              <a:cxn ang="0">
                <a:pos x="959458" y="957687"/>
              </a:cxn>
              <a:cxn ang="0">
                <a:pos x="208886" y="957687"/>
              </a:cxn>
              <a:cxn ang="0">
                <a:pos x="208886" y="207115"/>
              </a:cxn>
              <a:cxn ang="0">
                <a:pos x="959458" y="207115"/>
              </a:cxn>
            </a:cxnLst>
            <a:pathLst>
              <a:path w="659" h="659">
                <a:moveTo>
                  <a:pt x="542" y="117"/>
                </a:moveTo>
                <a:cubicBezTo>
                  <a:pt x="659" y="234"/>
                  <a:pt x="659" y="424"/>
                  <a:pt x="542" y="541"/>
                </a:cubicBezTo>
                <a:cubicBezTo>
                  <a:pt x="425" y="659"/>
                  <a:pt x="235" y="659"/>
                  <a:pt x="118" y="541"/>
                </a:cubicBezTo>
                <a:cubicBezTo>
                  <a:pt x="0" y="424"/>
                  <a:pt x="0" y="234"/>
                  <a:pt x="118" y="117"/>
                </a:cubicBezTo>
                <a:cubicBezTo>
                  <a:pt x="235" y="0"/>
                  <a:pt x="425" y="0"/>
                  <a:pt x="542" y="117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9" name="Freeform 52"/>
          <p:cNvSpPr/>
          <p:nvPr/>
        </p:nvSpPr>
        <p:spPr bwMode="auto">
          <a:xfrm>
            <a:off x="4513263" y="1854200"/>
            <a:ext cx="977900" cy="979488"/>
          </a:xfrm>
          <a:custGeom>
            <a:avLst/>
            <a:gdLst>
              <a:gd name="T0" fmla="*/ 455 w 553"/>
              <a:gd name="T1" fmla="*/ 98 h 553"/>
              <a:gd name="T2" fmla="*/ 455 w 553"/>
              <a:gd name="T3" fmla="*/ 454 h 553"/>
              <a:gd name="T4" fmla="*/ 98 w 553"/>
              <a:gd name="T5" fmla="*/ 454 h 553"/>
              <a:gd name="T6" fmla="*/ 98 w 553"/>
              <a:gd name="T7" fmla="*/ 98 h 553"/>
              <a:gd name="T8" fmla="*/ 455 w 553"/>
              <a:gd name="T9" fmla="*/ 98 h 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553">
                <a:moveTo>
                  <a:pt x="455" y="98"/>
                </a:moveTo>
                <a:cubicBezTo>
                  <a:pt x="553" y="196"/>
                  <a:pt x="553" y="356"/>
                  <a:pt x="455" y="454"/>
                </a:cubicBezTo>
                <a:cubicBezTo>
                  <a:pt x="356" y="553"/>
                  <a:pt x="197" y="553"/>
                  <a:pt x="98" y="454"/>
                </a:cubicBezTo>
                <a:cubicBezTo>
                  <a:pt x="0" y="356"/>
                  <a:pt x="0" y="196"/>
                  <a:pt x="98" y="98"/>
                </a:cubicBezTo>
                <a:cubicBezTo>
                  <a:pt x="197" y="0"/>
                  <a:pt x="356" y="0"/>
                  <a:pt x="455" y="98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1200" b="1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Average Income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7436" name="TextBox 35"/>
          <p:cNvSpPr txBox="1"/>
          <p:nvPr/>
        </p:nvSpPr>
        <p:spPr>
          <a:xfrm>
            <a:off x="7618413" y="1814513"/>
            <a:ext cx="3252787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Gill Sans"/>
              </a:rPr>
              <a:t>The total turnover rate is approximately 16% of all employees.</a:t>
            </a:r>
            <a:endParaRPr lang="en-US" altLang="en-US" sz="16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Gill Sans"/>
            </a:endParaRPr>
          </a:p>
        </p:txBody>
      </p:sp>
      <p:sp>
        <p:nvSpPr>
          <p:cNvPr id="17437" name="TextBox 35"/>
          <p:cNvSpPr txBox="1"/>
          <p:nvPr/>
        </p:nvSpPr>
        <p:spPr>
          <a:xfrm>
            <a:off x="7910513" y="2921000"/>
            <a:ext cx="32512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Gill Sans"/>
              </a:rPr>
              <a:t>Most employees travel infrequently for work purposes (rarely travel ≈ 70%).</a:t>
            </a:r>
            <a:endParaRPr lang="en-US" altLang="en-US" sz="16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Gill Sans"/>
            </a:endParaRPr>
          </a:p>
        </p:txBody>
      </p:sp>
      <p:sp>
        <p:nvSpPr>
          <p:cNvPr id="17438" name="TextBox 35"/>
          <p:cNvSpPr txBox="1"/>
          <p:nvPr/>
        </p:nvSpPr>
        <p:spPr>
          <a:xfrm>
            <a:off x="7618413" y="4029075"/>
            <a:ext cx="3252787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Gill Sans"/>
              </a:rPr>
              <a:t>The age group between 25 and 35 is the most likely to resign.</a:t>
            </a:r>
            <a:endParaRPr lang="en-US" altLang="en-US" sz="16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Gill Sans"/>
            </a:endParaRPr>
          </a:p>
        </p:txBody>
      </p:sp>
      <p:sp>
        <p:nvSpPr>
          <p:cNvPr id="17439" name="TextBox 35"/>
          <p:cNvSpPr txBox="1"/>
          <p:nvPr/>
        </p:nvSpPr>
        <p:spPr>
          <a:xfrm>
            <a:off x="968058" y="4063683"/>
            <a:ext cx="3251200" cy="1076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Gill Sans"/>
              </a:rPr>
              <a:t>Overtime has a clear impact on resignations, as employees who work overtime are more likely to leave the company.</a:t>
            </a:r>
            <a:endParaRPr lang="en-US" altLang="en-US" sz="16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Gill Sans"/>
            </a:endParaRPr>
          </a:p>
        </p:txBody>
      </p:sp>
      <p:sp>
        <p:nvSpPr>
          <p:cNvPr id="17440" name="TextBox 35"/>
          <p:cNvSpPr txBox="1"/>
          <p:nvPr/>
        </p:nvSpPr>
        <p:spPr>
          <a:xfrm>
            <a:off x="776288" y="2944813"/>
            <a:ext cx="3252787" cy="1076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Gill Sans"/>
              </a:rPr>
              <a:t>The highest rate is found in the sales department, followed by the advanced research (R&amp;D) department.</a:t>
            </a:r>
            <a:endParaRPr lang="en-US" altLang="en-US" sz="16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Gill Sans"/>
            </a:endParaRPr>
          </a:p>
        </p:txBody>
      </p:sp>
      <p:sp>
        <p:nvSpPr>
          <p:cNvPr id="17441" name="TextBox 35"/>
          <p:cNvSpPr txBox="1"/>
          <p:nvPr/>
        </p:nvSpPr>
        <p:spPr>
          <a:xfrm>
            <a:off x="1077913" y="1814513"/>
            <a:ext cx="32512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600" b="1" dirty="0">
                <a:solidFill>
                  <a:srgbClr val="262626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Gill Sans"/>
              </a:rPr>
              <a:t>The average monthly income is approximately $6,500, with significant variation across jobs.</a:t>
            </a:r>
            <a:endParaRPr lang="en-US" altLang="en-US" sz="1600" b="1" dirty="0">
              <a:solidFill>
                <a:srgbClr val="262626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195263"/>
            <a:ext cx="109538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3" name="Freeform 2007"/>
          <p:cNvSpPr>
            <a:spLocks noEditPoints="1"/>
          </p:cNvSpPr>
          <p:nvPr/>
        </p:nvSpPr>
        <p:spPr>
          <a:xfrm rot="10800000">
            <a:off x="5281613" y="1839913"/>
            <a:ext cx="3979862" cy="2743200"/>
          </a:xfrm>
          <a:custGeom>
            <a:avLst/>
            <a:gdLst/>
            <a:ahLst/>
            <a:cxnLst>
              <a:cxn ang="0">
                <a:pos x="3737642" y="144337"/>
              </a:cxn>
              <a:cxn ang="0">
                <a:pos x="3505421" y="277571"/>
              </a:cxn>
              <a:cxn ang="0">
                <a:pos x="3295317" y="222057"/>
              </a:cxn>
              <a:cxn ang="0">
                <a:pos x="3505421" y="954846"/>
              </a:cxn>
              <a:cxn ang="0">
                <a:pos x="3140504" y="233160"/>
              </a:cxn>
              <a:cxn ang="0">
                <a:pos x="3129445" y="643966"/>
              </a:cxn>
              <a:cxn ang="0">
                <a:pos x="2841935" y="222057"/>
              </a:cxn>
              <a:cxn ang="0">
                <a:pos x="2963574" y="832714"/>
              </a:cxn>
              <a:cxn ang="0">
                <a:pos x="2565482" y="166543"/>
              </a:cxn>
              <a:cxn ang="0">
                <a:pos x="2665005" y="899332"/>
              </a:cxn>
              <a:cxn ang="0">
                <a:pos x="2200564" y="88823"/>
              </a:cxn>
              <a:cxn ang="0">
                <a:pos x="2089983" y="111029"/>
              </a:cxn>
              <a:cxn ang="0">
                <a:pos x="1868821" y="144337"/>
              </a:cxn>
              <a:cxn ang="0">
                <a:pos x="1658717" y="177646"/>
              </a:cxn>
              <a:cxn ang="0">
                <a:pos x="1470729" y="88823"/>
              </a:cxn>
              <a:cxn ang="0">
                <a:pos x="1481787" y="466320"/>
              </a:cxn>
              <a:cxn ang="0">
                <a:pos x="1304857" y="388600"/>
              </a:cxn>
              <a:cxn ang="0">
                <a:pos x="1083695" y="355291"/>
              </a:cxn>
              <a:cxn ang="0">
                <a:pos x="884649" y="444114"/>
              </a:cxn>
              <a:cxn ang="0">
                <a:pos x="1072637" y="965949"/>
              </a:cxn>
              <a:cxn ang="0">
                <a:pos x="729835" y="599554"/>
              </a:cxn>
              <a:cxn ang="0">
                <a:pos x="685603" y="721686"/>
              </a:cxn>
              <a:cxn ang="0">
                <a:pos x="541847" y="799406"/>
              </a:cxn>
              <a:cxn ang="0">
                <a:pos x="387034" y="866023"/>
              </a:cxn>
              <a:cxn ang="0">
                <a:pos x="287511" y="999257"/>
              </a:cxn>
              <a:cxn ang="0">
                <a:pos x="287511" y="1498886"/>
              </a:cxn>
              <a:cxn ang="0">
                <a:pos x="44232" y="1287932"/>
              </a:cxn>
              <a:cxn ang="0">
                <a:pos x="55291" y="1787560"/>
              </a:cxn>
              <a:cxn ang="0">
                <a:pos x="154814" y="1609914"/>
              </a:cxn>
              <a:cxn ang="0">
                <a:pos x="398092" y="2409320"/>
              </a:cxn>
              <a:cxn ang="0">
                <a:pos x="486557" y="1787560"/>
              </a:cxn>
              <a:cxn ang="0">
                <a:pos x="851475" y="2487040"/>
              </a:cxn>
              <a:cxn ang="0">
                <a:pos x="840416" y="2054029"/>
              </a:cxn>
              <a:cxn ang="0">
                <a:pos x="1172160" y="2720200"/>
              </a:cxn>
              <a:cxn ang="0">
                <a:pos x="1194276" y="2176160"/>
              </a:cxn>
              <a:cxn ang="0">
                <a:pos x="1371206" y="2642480"/>
              </a:cxn>
              <a:cxn ang="0">
                <a:pos x="1404380" y="2187263"/>
              </a:cxn>
              <a:cxn ang="0">
                <a:pos x="1603426" y="2553657"/>
              </a:cxn>
              <a:cxn ang="0">
                <a:pos x="1758240" y="2620275"/>
              </a:cxn>
              <a:cxn ang="0">
                <a:pos x="1901995" y="2520349"/>
              </a:cxn>
              <a:cxn ang="0">
                <a:pos x="1968344" y="2264983"/>
              </a:cxn>
              <a:cxn ang="0">
                <a:pos x="2112099" y="2487040"/>
              </a:cxn>
              <a:cxn ang="0">
                <a:pos x="2311145" y="2531452"/>
              </a:cxn>
              <a:cxn ang="0">
                <a:pos x="2377494" y="2387115"/>
              </a:cxn>
              <a:cxn ang="0">
                <a:pos x="2554424" y="2320497"/>
              </a:cxn>
              <a:cxn ang="0">
                <a:pos x="2665005" y="2498143"/>
              </a:cxn>
              <a:cxn ang="0">
                <a:pos x="2775586" y="2409320"/>
              </a:cxn>
              <a:cxn ang="0">
                <a:pos x="2875109" y="2165057"/>
              </a:cxn>
              <a:cxn ang="0">
                <a:pos x="3029922" y="2165057"/>
              </a:cxn>
              <a:cxn ang="0">
                <a:pos x="3029922" y="1632120"/>
              </a:cxn>
              <a:cxn ang="0">
                <a:pos x="3074155" y="1709840"/>
              </a:cxn>
              <a:cxn ang="0">
                <a:pos x="3306375" y="1820869"/>
              </a:cxn>
              <a:cxn ang="0">
                <a:pos x="3394840" y="1521092"/>
              </a:cxn>
              <a:cxn ang="0">
                <a:pos x="3317433" y="866023"/>
              </a:cxn>
              <a:cxn ang="0">
                <a:pos x="3627060" y="1299034"/>
              </a:cxn>
              <a:cxn ang="0">
                <a:pos x="3748700" y="1199109"/>
              </a:cxn>
              <a:cxn ang="0">
                <a:pos x="3627060" y="377497"/>
              </a:cxn>
              <a:cxn ang="0">
                <a:pos x="3815048" y="410806"/>
              </a:cxn>
              <a:cxn ang="0">
                <a:pos x="3980920" y="199851"/>
              </a:cxn>
              <a:cxn ang="0">
                <a:pos x="1636600" y="1687634"/>
              </a:cxn>
            </a:cxnLst>
            <a:pathLst>
              <a:path w="360" h="247">
                <a:moveTo>
                  <a:pt x="359" y="15"/>
                </a:moveTo>
                <a:lnTo>
                  <a:pt x="359" y="15"/>
                </a:lnTo>
                <a:lnTo>
                  <a:pt x="354" y="10"/>
                </a:lnTo>
                <a:lnTo>
                  <a:pt x="348" y="5"/>
                </a:lnTo>
                <a:lnTo>
                  <a:pt x="348" y="5"/>
                </a:lnTo>
                <a:lnTo>
                  <a:pt x="345" y="4"/>
                </a:lnTo>
                <a:lnTo>
                  <a:pt x="343" y="5"/>
                </a:lnTo>
                <a:lnTo>
                  <a:pt x="343" y="5"/>
                </a:lnTo>
                <a:lnTo>
                  <a:pt x="339" y="8"/>
                </a:lnTo>
                <a:lnTo>
                  <a:pt x="338" y="13"/>
                </a:lnTo>
                <a:lnTo>
                  <a:pt x="335" y="21"/>
                </a:lnTo>
                <a:lnTo>
                  <a:pt x="335" y="21"/>
                </a:lnTo>
                <a:lnTo>
                  <a:pt x="331" y="19"/>
                </a:lnTo>
                <a:lnTo>
                  <a:pt x="327" y="16"/>
                </a:lnTo>
                <a:lnTo>
                  <a:pt x="327" y="16"/>
                </a:lnTo>
                <a:lnTo>
                  <a:pt x="323" y="18"/>
                </a:lnTo>
                <a:lnTo>
                  <a:pt x="320" y="19"/>
                </a:lnTo>
                <a:lnTo>
                  <a:pt x="318" y="21"/>
                </a:lnTo>
                <a:lnTo>
                  <a:pt x="317" y="25"/>
                </a:lnTo>
                <a:lnTo>
                  <a:pt x="317" y="25"/>
                </a:lnTo>
                <a:lnTo>
                  <a:pt x="317" y="29"/>
                </a:lnTo>
                <a:lnTo>
                  <a:pt x="317" y="29"/>
                </a:lnTo>
                <a:lnTo>
                  <a:pt x="313" y="24"/>
                </a:lnTo>
                <a:lnTo>
                  <a:pt x="309" y="19"/>
                </a:lnTo>
                <a:lnTo>
                  <a:pt x="309" y="19"/>
                </a:lnTo>
                <a:lnTo>
                  <a:pt x="307" y="16"/>
                </a:lnTo>
                <a:lnTo>
                  <a:pt x="304" y="16"/>
                </a:lnTo>
                <a:lnTo>
                  <a:pt x="302" y="16"/>
                </a:lnTo>
                <a:lnTo>
                  <a:pt x="299" y="18"/>
                </a:lnTo>
                <a:lnTo>
                  <a:pt x="298" y="20"/>
                </a:lnTo>
                <a:lnTo>
                  <a:pt x="297" y="21"/>
                </a:lnTo>
                <a:lnTo>
                  <a:pt x="297" y="24"/>
                </a:lnTo>
                <a:lnTo>
                  <a:pt x="298" y="26"/>
                </a:lnTo>
                <a:lnTo>
                  <a:pt x="298" y="26"/>
                </a:lnTo>
                <a:lnTo>
                  <a:pt x="303" y="35"/>
                </a:lnTo>
                <a:lnTo>
                  <a:pt x="307" y="45"/>
                </a:lnTo>
                <a:lnTo>
                  <a:pt x="312" y="65"/>
                </a:lnTo>
                <a:lnTo>
                  <a:pt x="312" y="65"/>
                </a:lnTo>
                <a:lnTo>
                  <a:pt x="314" y="75"/>
                </a:lnTo>
                <a:lnTo>
                  <a:pt x="317" y="86"/>
                </a:lnTo>
                <a:lnTo>
                  <a:pt x="317" y="86"/>
                </a:lnTo>
                <a:lnTo>
                  <a:pt x="317" y="85"/>
                </a:lnTo>
                <a:lnTo>
                  <a:pt x="317" y="85"/>
                </a:lnTo>
                <a:lnTo>
                  <a:pt x="307" y="57"/>
                </a:lnTo>
                <a:lnTo>
                  <a:pt x="307" y="57"/>
                </a:lnTo>
                <a:lnTo>
                  <a:pt x="303" y="47"/>
                </a:lnTo>
                <a:lnTo>
                  <a:pt x="298" y="37"/>
                </a:lnTo>
                <a:lnTo>
                  <a:pt x="292" y="29"/>
                </a:lnTo>
                <a:lnTo>
                  <a:pt x="284" y="21"/>
                </a:lnTo>
                <a:lnTo>
                  <a:pt x="284" y="21"/>
                </a:lnTo>
                <a:lnTo>
                  <a:pt x="282" y="20"/>
                </a:lnTo>
                <a:lnTo>
                  <a:pt x="279" y="21"/>
                </a:lnTo>
                <a:lnTo>
                  <a:pt x="277" y="23"/>
                </a:lnTo>
                <a:lnTo>
                  <a:pt x="276" y="24"/>
                </a:lnTo>
                <a:lnTo>
                  <a:pt x="276" y="24"/>
                </a:lnTo>
                <a:lnTo>
                  <a:pt x="274" y="27"/>
                </a:lnTo>
                <a:lnTo>
                  <a:pt x="274" y="31"/>
                </a:lnTo>
                <a:lnTo>
                  <a:pt x="276" y="41"/>
                </a:lnTo>
                <a:lnTo>
                  <a:pt x="283" y="58"/>
                </a:lnTo>
                <a:lnTo>
                  <a:pt x="283" y="58"/>
                </a:lnTo>
                <a:lnTo>
                  <a:pt x="292" y="92"/>
                </a:lnTo>
                <a:lnTo>
                  <a:pt x="292" y="92"/>
                </a:lnTo>
                <a:lnTo>
                  <a:pt x="286" y="78"/>
                </a:lnTo>
                <a:lnTo>
                  <a:pt x="286" y="78"/>
                </a:lnTo>
                <a:lnTo>
                  <a:pt x="274" y="50"/>
                </a:lnTo>
                <a:lnTo>
                  <a:pt x="268" y="35"/>
                </a:lnTo>
                <a:lnTo>
                  <a:pt x="261" y="23"/>
                </a:lnTo>
                <a:lnTo>
                  <a:pt x="261" y="23"/>
                </a:lnTo>
                <a:lnTo>
                  <a:pt x="258" y="20"/>
                </a:lnTo>
                <a:lnTo>
                  <a:pt x="257" y="20"/>
                </a:lnTo>
                <a:lnTo>
                  <a:pt x="253" y="20"/>
                </a:lnTo>
                <a:lnTo>
                  <a:pt x="251" y="23"/>
                </a:lnTo>
                <a:lnTo>
                  <a:pt x="250" y="24"/>
                </a:lnTo>
                <a:lnTo>
                  <a:pt x="250" y="26"/>
                </a:lnTo>
                <a:lnTo>
                  <a:pt x="250" y="26"/>
                </a:lnTo>
                <a:lnTo>
                  <a:pt x="252" y="34"/>
                </a:lnTo>
                <a:lnTo>
                  <a:pt x="256" y="41"/>
                </a:lnTo>
                <a:lnTo>
                  <a:pt x="261" y="55"/>
                </a:lnTo>
                <a:lnTo>
                  <a:pt x="261" y="55"/>
                </a:lnTo>
                <a:lnTo>
                  <a:pt x="268" y="75"/>
                </a:lnTo>
                <a:lnTo>
                  <a:pt x="274" y="94"/>
                </a:lnTo>
                <a:lnTo>
                  <a:pt x="274" y="94"/>
                </a:lnTo>
                <a:lnTo>
                  <a:pt x="279" y="118"/>
                </a:lnTo>
                <a:lnTo>
                  <a:pt x="279" y="118"/>
                </a:lnTo>
                <a:lnTo>
                  <a:pt x="273" y="99"/>
                </a:lnTo>
                <a:lnTo>
                  <a:pt x="273" y="99"/>
                </a:lnTo>
                <a:lnTo>
                  <a:pt x="255" y="56"/>
                </a:lnTo>
                <a:lnTo>
                  <a:pt x="245" y="35"/>
                </a:lnTo>
                <a:lnTo>
                  <a:pt x="238" y="25"/>
                </a:lnTo>
                <a:lnTo>
                  <a:pt x="232" y="15"/>
                </a:lnTo>
                <a:lnTo>
                  <a:pt x="232" y="15"/>
                </a:lnTo>
                <a:lnTo>
                  <a:pt x="231" y="13"/>
                </a:lnTo>
                <a:lnTo>
                  <a:pt x="229" y="13"/>
                </a:lnTo>
                <a:lnTo>
                  <a:pt x="225" y="13"/>
                </a:lnTo>
                <a:lnTo>
                  <a:pt x="222" y="15"/>
                </a:lnTo>
                <a:lnTo>
                  <a:pt x="221" y="16"/>
                </a:lnTo>
                <a:lnTo>
                  <a:pt x="221" y="19"/>
                </a:lnTo>
                <a:lnTo>
                  <a:pt x="221" y="19"/>
                </a:lnTo>
                <a:lnTo>
                  <a:pt x="241" y="81"/>
                </a:lnTo>
                <a:lnTo>
                  <a:pt x="241" y="81"/>
                </a:lnTo>
                <a:lnTo>
                  <a:pt x="229" y="49"/>
                </a:lnTo>
                <a:lnTo>
                  <a:pt x="229" y="49"/>
                </a:lnTo>
                <a:lnTo>
                  <a:pt x="220" y="27"/>
                </a:lnTo>
                <a:lnTo>
                  <a:pt x="215" y="18"/>
                </a:lnTo>
                <a:lnTo>
                  <a:pt x="209" y="9"/>
                </a:lnTo>
                <a:lnTo>
                  <a:pt x="209" y="9"/>
                </a:lnTo>
                <a:lnTo>
                  <a:pt x="207" y="8"/>
                </a:lnTo>
                <a:lnTo>
                  <a:pt x="205" y="6"/>
                </a:lnTo>
                <a:lnTo>
                  <a:pt x="201" y="6"/>
                </a:lnTo>
                <a:lnTo>
                  <a:pt x="199" y="8"/>
                </a:lnTo>
                <a:lnTo>
                  <a:pt x="198" y="9"/>
                </a:lnTo>
                <a:lnTo>
                  <a:pt x="198" y="11"/>
                </a:lnTo>
                <a:lnTo>
                  <a:pt x="198" y="14"/>
                </a:lnTo>
                <a:lnTo>
                  <a:pt x="198" y="14"/>
                </a:lnTo>
                <a:lnTo>
                  <a:pt x="204" y="31"/>
                </a:lnTo>
                <a:lnTo>
                  <a:pt x="204" y="31"/>
                </a:lnTo>
                <a:lnTo>
                  <a:pt x="194" y="14"/>
                </a:lnTo>
                <a:lnTo>
                  <a:pt x="194" y="14"/>
                </a:lnTo>
                <a:lnTo>
                  <a:pt x="191" y="11"/>
                </a:lnTo>
                <a:lnTo>
                  <a:pt x="189" y="10"/>
                </a:lnTo>
                <a:lnTo>
                  <a:pt x="185" y="11"/>
                </a:lnTo>
                <a:lnTo>
                  <a:pt x="184" y="15"/>
                </a:lnTo>
                <a:lnTo>
                  <a:pt x="184" y="15"/>
                </a:lnTo>
                <a:lnTo>
                  <a:pt x="179" y="9"/>
                </a:lnTo>
                <a:lnTo>
                  <a:pt x="179" y="9"/>
                </a:lnTo>
                <a:lnTo>
                  <a:pt x="176" y="8"/>
                </a:lnTo>
                <a:lnTo>
                  <a:pt x="173" y="6"/>
                </a:lnTo>
                <a:lnTo>
                  <a:pt x="169" y="9"/>
                </a:lnTo>
                <a:lnTo>
                  <a:pt x="169" y="10"/>
                </a:lnTo>
                <a:lnTo>
                  <a:pt x="169" y="13"/>
                </a:lnTo>
                <a:lnTo>
                  <a:pt x="169" y="13"/>
                </a:lnTo>
                <a:lnTo>
                  <a:pt x="164" y="6"/>
                </a:lnTo>
                <a:lnTo>
                  <a:pt x="159" y="1"/>
                </a:lnTo>
                <a:lnTo>
                  <a:pt x="159" y="1"/>
                </a:lnTo>
                <a:lnTo>
                  <a:pt x="155" y="0"/>
                </a:lnTo>
                <a:lnTo>
                  <a:pt x="152" y="3"/>
                </a:lnTo>
                <a:lnTo>
                  <a:pt x="152" y="3"/>
                </a:lnTo>
                <a:lnTo>
                  <a:pt x="150" y="5"/>
                </a:lnTo>
                <a:lnTo>
                  <a:pt x="149" y="8"/>
                </a:lnTo>
                <a:lnTo>
                  <a:pt x="150" y="16"/>
                </a:lnTo>
                <a:lnTo>
                  <a:pt x="154" y="30"/>
                </a:lnTo>
                <a:lnTo>
                  <a:pt x="154" y="30"/>
                </a:lnTo>
                <a:lnTo>
                  <a:pt x="157" y="36"/>
                </a:lnTo>
                <a:lnTo>
                  <a:pt x="157" y="36"/>
                </a:lnTo>
                <a:lnTo>
                  <a:pt x="149" y="20"/>
                </a:lnTo>
                <a:lnTo>
                  <a:pt x="144" y="14"/>
                </a:lnTo>
                <a:lnTo>
                  <a:pt x="139" y="8"/>
                </a:lnTo>
                <a:lnTo>
                  <a:pt x="139" y="8"/>
                </a:lnTo>
                <a:lnTo>
                  <a:pt x="136" y="8"/>
                </a:lnTo>
                <a:lnTo>
                  <a:pt x="133" y="8"/>
                </a:lnTo>
                <a:lnTo>
                  <a:pt x="133" y="8"/>
                </a:lnTo>
                <a:lnTo>
                  <a:pt x="132" y="9"/>
                </a:lnTo>
                <a:lnTo>
                  <a:pt x="132" y="9"/>
                </a:lnTo>
                <a:lnTo>
                  <a:pt x="129" y="11"/>
                </a:lnTo>
                <a:lnTo>
                  <a:pt x="128" y="15"/>
                </a:lnTo>
                <a:lnTo>
                  <a:pt x="128" y="15"/>
                </a:lnTo>
                <a:lnTo>
                  <a:pt x="132" y="30"/>
                </a:lnTo>
                <a:lnTo>
                  <a:pt x="137" y="44"/>
                </a:lnTo>
                <a:lnTo>
                  <a:pt x="137" y="44"/>
                </a:lnTo>
                <a:lnTo>
                  <a:pt x="134" y="42"/>
                </a:lnTo>
                <a:lnTo>
                  <a:pt x="134" y="42"/>
                </a:lnTo>
                <a:lnTo>
                  <a:pt x="132" y="41"/>
                </a:lnTo>
                <a:lnTo>
                  <a:pt x="131" y="40"/>
                </a:lnTo>
                <a:lnTo>
                  <a:pt x="128" y="41"/>
                </a:lnTo>
                <a:lnTo>
                  <a:pt x="127" y="42"/>
                </a:lnTo>
                <a:lnTo>
                  <a:pt x="126" y="42"/>
                </a:lnTo>
                <a:lnTo>
                  <a:pt x="126" y="42"/>
                </a:lnTo>
                <a:lnTo>
                  <a:pt x="121" y="36"/>
                </a:lnTo>
                <a:lnTo>
                  <a:pt x="121" y="36"/>
                </a:lnTo>
                <a:lnTo>
                  <a:pt x="118" y="35"/>
                </a:lnTo>
                <a:lnTo>
                  <a:pt x="116" y="35"/>
                </a:lnTo>
                <a:lnTo>
                  <a:pt x="113" y="35"/>
                </a:lnTo>
                <a:lnTo>
                  <a:pt x="111" y="37"/>
                </a:lnTo>
                <a:lnTo>
                  <a:pt x="111" y="37"/>
                </a:lnTo>
                <a:lnTo>
                  <a:pt x="108" y="35"/>
                </a:lnTo>
                <a:lnTo>
                  <a:pt x="106" y="32"/>
                </a:lnTo>
                <a:lnTo>
                  <a:pt x="106" y="32"/>
                </a:lnTo>
                <a:lnTo>
                  <a:pt x="103" y="31"/>
                </a:lnTo>
                <a:lnTo>
                  <a:pt x="101" y="32"/>
                </a:lnTo>
                <a:lnTo>
                  <a:pt x="98" y="32"/>
                </a:lnTo>
                <a:lnTo>
                  <a:pt x="97" y="35"/>
                </a:lnTo>
                <a:lnTo>
                  <a:pt x="97" y="35"/>
                </a:lnTo>
                <a:lnTo>
                  <a:pt x="96" y="40"/>
                </a:lnTo>
                <a:lnTo>
                  <a:pt x="96" y="40"/>
                </a:lnTo>
                <a:lnTo>
                  <a:pt x="88" y="34"/>
                </a:lnTo>
                <a:lnTo>
                  <a:pt x="88" y="34"/>
                </a:lnTo>
                <a:lnTo>
                  <a:pt x="85" y="32"/>
                </a:lnTo>
                <a:lnTo>
                  <a:pt x="82" y="34"/>
                </a:lnTo>
                <a:lnTo>
                  <a:pt x="80" y="36"/>
                </a:lnTo>
                <a:lnTo>
                  <a:pt x="80" y="40"/>
                </a:lnTo>
                <a:lnTo>
                  <a:pt x="80" y="40"/>
                </a:lnTo>
                <a:lnTo>
                  <a:pt x="83" y="51"/>
                </a:lnTo>
                <a:lnTo>
                  <a:pt x="87" y="61"/>
                </a:lnTo>
                <a:lnTo>
                  <a:pt x="96" y="81"/>
                </a:lnTo>
                <a:lnTo>
                  <a:pt x="96" y="81"/>
                </a:lnTo>
                <a:lnTo>
                  <a:pt x="103" y="99"/>
                </a:lnTo>
                <a:lnTo>
                  <a:pt x="111" y="119"/>
                </a:lnTo>
                <a:lnTo>
                  <a:pt x="111" y="119"/>
                </a:lnTo>
                <a:lnTo>
                  <a:pt x="97" y="87"/>
                </a:lnTo>
                <a:lnTo>
                  <a:pt x="97" y="87"/>
                </a:lnTo>
                <a:lnTo>
                  <a:pt x="88" y="65"/>
                </a:lnTo>
                <a:lnTo>
                  <a:pt x="82" y="54"/>
                </a:lnTo>
                <a:lnTo>
                  <a:pt x="79" y="50"/>
                </a:lnTo>
                <a:lnTo>
                  <a:pt x="74" y="47"/>
                </a:lnTo>
                <a:lnTo>
                  <a:pt x="74" y="47"/>
                </a:lnTo>
                <a:lnTo>
                  <a:pt x="71" y="47"/>
                </a:lnTo>
                <a:lnTo>
                  <a:pt x="69" y="49"/>
                </a:lnTo>
                <a:lnTo>
                  <a:pt x="67" y="51"/>
                </a:lnTo>
                <a:lnTo>
                  <a:pt x="66" y="54"/>
                </a:lnTo>
                <a:lnTo>
                  <a:pt x="66" y="54"/>
                </a:lnTo>
                <a:lnTo>
                  <a:pt x="67" y="62"/>
                </a:lnTo>
                <a:lnTo>
                  <a:pt x="71" y="71"/>
                </a:lnTo>
                <a:lnTo>
                  <a:pt x="77" y="88"/>
                </a:lnTo>
                <a:lnTo>
                  <a:pt x="77" y="88"/>
                </a:lnTo>
                <a:lnTo>
                  <a:pt x="83" y="103"/>
                </a:lnTo>
                <a:lnTo>
                  <a:pt x="83" y="103"/>
                </a:lnTo>
                <a:lnTo>
                  <a:pt x="75" y="88"/>
                </a:lnTo>
                <a:lnTo>
                  <a:pt x="75" y="88"/>
                </a:lnTo>
                <a:lnTo>
                  <a:pt x="67" y="72"/>
                </a:lnTo>
                <a:lnTo>
                  <a:pt x="62" y="65"/>
                </a:lnTo>
                <a:lnTo>
                  <a:pt x="57" y="58"/>
                </a:lnTo>
                <a:lnTo>
                  <a:pt x="57" y="58"/>
                </a:lnTo>
                <a:lnTo>
                  <a:pt x="55" y="57"/>
                </a:lnTo>
                <a:lnTo>
                  <a:pt x="54" y="56"/>
                </a:lnTo>
                <a:lnTo>
                  <a:pt x="51" y="57"/>
                </a:lnTo>
                <a:lnTo>
                  <a:pt x="49" y="58"/>
                </a:lnTo>
                <a:lnTo>
                  <a:pt x="49" y="58"/>
                </a:lnTo>
                <a:lnTo>
                  <a:pt x="48" y="61"/>
                </a:lnTo>
                <a:lnTo>
                  <a:pt x="48" y="65"/>
                </a:lnTo>
                <a:lnTo>
                  <a:pt x="49" y="72"/>
                </a:lnTo>
                <a:lnTo>
                  <a:pt x="49" y="72"/>
                </a:lnTo>
                <a:lnTo>
                  <a:pt x="46" y="75"/>
                </a:lnTo>
                <a:lnTo>
                  <a:pt x="44" y="78"/>
                </a:lnTo>
                <a:lnTo>
                  <a:pt x="44" y="78"/>
                </a:lnTo>
                <a:lnTo>
                  <a:pt x="45" y="81"/>
                </a:lnTo>
                <a:lnTo>
                  <a:pt x="45" y="81"/>
                </a:lnTo>
                <a:lnTo>
                  <a:pt x="41" y="78"/>
                </a:lnTo>
                <a:lnTo>
                  <a:pt x="38" y="77"/>
                </a:lnTo>
                <a:lnTo>
                  <a:pt x="38" y="77"/>
                </a:lnTo>
                <a:lnTo>
                  <a:pt x="35" y="78"/>
                </a:lnTo>
                <a:lnTo>
                  <a:pt x="34" y="80"/>
                </a:lnTo>
                <a:lnTo>
                  <a:pt x="33" y="83"/>
                </a:lnTo>
                <a:lnTo>
                  <a:pt x="33" y="83"/>
                </a:lnTo>
                <a:lnTo>
                  <a:pt x="33" y="87"/>
                </a:lnTo>
                <a:lnTo>
                  <a:pt x="33" y="91"/>
                </a:lnTo>
                <a:lnTo>
                  <a:pt x="33" y="91"/>
                </a:lnTo>
                <a:lnTo>
                  <a:pt x="33" y="91"/>
                </a:lnTo>
                <a:lnTo>
                  <a:pt x="31" y="90"/>
                </a:lnTo>
                <a:lnTo>
                  <a:pt x="29" y="90"/>
                </a:lnTo>
                <a:lnTo>
                  <a:pt x="26" y="90"/>
                </a:lnTo>
                <a:lnTo>
                  <a:pt x="24" y="91"/>
                </a:lnTo>
                <a:lnTo>
                  <a:pt x="24" y="91"/>
                </a:lnTo>
                <a:lnTo>
                  <a:pt x="23" y="94"/>
                </a:lnTo>
                <a:lnTo>
                  <a:pt x="22" y="97"/>
                </a:lnTo>
                <a:lnTo>
                  <a:pt x="23" y="103"/>
                </a:lnTo>
                <a:lnTo>
                  <a:pt x="23" y="103"/>
                </a:lnTo>
                <a:lnTo>
                  <a:pt x="26" y="133"/>
                </a:lnTo>
                <a:lnTo>
                  <a:pt x="26" y="133"/>
                </a:lnTo>
                <a:lnTo>
                  <a:pt x="26" y="135"/>
                </a:lnTo>
                <a:lnTo>
                  <a:pt x="26" y="135"/>
                </a:lnTo>
                <a:lnTo>
                  <a:pt x="22" y="124"/>
                </a:lnTo>
                <a:lnTo>
                  <a:pt x="15" y="114"/>
                </a:lnTo>
                <a:lnTo>
                  <a:pt x="15" y="114"/>
                </a:lnTo>
                <a:lnTo>
                  <a:pt x="14" y="113"/>
                </a:lnTo>
                <a:lnTo>
                  <a:pt x="12" y="112"/>
                </a:lnTo>
                <a:lnTo>
                  <a:pt x="9" y="112"/>
                </a:lnTo>
                <a:lnTo>
                  <a:pt x="8" y="113"/>
                </a:lnTo>
                <a:lnTo>
                  <a:pt x="8" y="113"/>
                </a:lnTo>
                <a:lnTo>
                  <a:pt x="5" y="114"/>
                </a:lnTo>
                <a:lnTo>
                  <a:pt x="4" y="116"/>
                </a:lnTo>
                <a:lnTo>
                  <a:pt x="4" y="116"/>
                </a:lnTo>
                <a:lnTo>
                  <a:pt x="3" y="122"/>
                </a:lnTo>
                <a:lnTo>
                  <a:pt x="2" y="128"/>
                </a:lnTo>
                <a:lnTo>
                  <a:pt x="2" y="134"/>
                </a:lnTo>
                <a:lnTo>
                  <a:pt x="2" y="140"/>
                </a:lnTo>
                <a:lnTo>
                  <a:pt x="2" y="140"/>
                </a:lnTo>
                <a:lnTo>
                  <a:pt x="0" y="145"/>
                </a:lnTo>
                <a:lnTo>
                  <a:pt x="2" y="152"/>
                </a:lnTo>
                <a:lnTo>
                  <a:pt x="3" y="157"/>
                </a:lnTo>
                <a:lnTo>
                  <a:pt x="5" y="161"/>
                </a:lnTo>
                <a:lnTo>
                  <a:pt x="5" y="161"/>
                </a:lnTo>
                <a:lnTo>
                  <a:pt x="8" y="163"/>
                </a:lnTo>
                <a:lnTo>
                  <a:pt x="10" y="161"/>
                </a:lnTo>
                <a:lnTo>
                  <a:pt x="10" y="161"/>
                </a:lnTo>
                <a:lnTo>
                  <a:pt x="13" y="158"/>
                </a:lnTo>
                <a:lnTo>
                  <a:pt x="13" y="153"/>
                </a:lnTo>
                <a:lnTo>
                  <a:pt x="12" y="144"/>
                </a:lnTo>
                <a:lnTo>
                  <a:pt x="12" y="144"/>
                </a:lnTo>
                <a:lnTo>
                  <a:pt x="12" y="144"/>
                </a:lnTo>
                <a:lnTo>
                  <a:pt x="14" y="145"/>
                </a:lnTo>
                <a:lnTo>
                  <a:pt x="14" y="145"/>
                </a:lnTo>
                <a:lnTo>
                  <a:pt x="15" y="147"/>
                </a:lnTo>
                <a:lnTo>
                  <a:pt x="18" y="147"/>
                </a:lnTo>
                <a:lnTo>
                  <a:pt x="18" y="147"/>
                </a:lnTo>
                <a:lnTo>
                  <a:pt x="19" y="152"/>
                </a:lnTo>
                <a:lnTo>
                  <a:pt x="19" y="152"/>
                </a:lnTo>
                <a:lnTo>
                  <a:pt x="28" y="183"/>
                </a:lnTo>
                <a:lnTo>
                  <a:pt x="35" y="215"/>
                </a:lnTo>
                <a:lnTo>
                  <a:pt x="35" y="215"/>
                </a:lnTo>
                <a:lnTo>
                  <a:pt x="36" y="217"/>
                </a:lnTo>
                <a:lnTo>
                  <a:pt x="38" y="219"/>
                </a:lnTo>
                <a:lnTo>
                  <a:pt x="41" y="220"/>
                </a:lnTo>
                <a:lnTo>
                  <a:pt x="45" y="217"/>
                </a:lnTo>
                <a:lnTo>
                  <a:pt x="46" y="216"/>
                </a:lnTo>
                <a:lnTo>
                  <a:pt x="46" y="214"/>
                </a:lnTo>
                <a:lnTo>
                  <a:pt x="46" y="214"/>
                </a:lnTo>
                <a:lnTo>
                  <a:pt x="44" y="180"/>
                </a:lnTo>
                <a:lnTo>
                  <a:pt x="40" y="148"/>
                </a:lnTo>
                <a:lnTo>
                  <a:pt x="40" y="148"/>
                </a:lnTo>
                <a:lnTo>
                  <a:pt x="44" y="161"/>
                </a:lnTo>
                <a:lnTo>
                  <a:pt x="44" y="161"/>
                </a:lnTo>
                <a:lnTo>
                  <a:pt x="55" y="194"/>
                </a:lnTo>
                <a:lnTo>
                  <a:pt x="66" y="225"/>
                </a:lnTo>
                <a:lnTo>
                  <a:pt x="66" y="225"/>
                </a:lnTo>
                <a:lnTo>
                  <a:pt x="69" y="228"/>
                </a:lnTo>
                <a:lnTo>
                  <a:pt x="72" y="230"/>
                </a:lnTo>
                <a:lnTo>
                  <a:pt x="76" y="227"/>
                </a:lnTo>
                <a:lnTo>
                  <a:pt x="76" y="226"/>
                </a:lnTo>
                <a:lnTo>
                  <a:pt x="77" y="224"/>
                </a:lnTo>
                <a:lnTo>
                  <a:pt x="77" y="224"/>
                </a:lnTo>
                <a:lnTo>
                  <a:pt x="76" y="204"/>
                </a:lnTo>
                <a:lnTo>
                  <a:pt x="72" y="185"/>
                </a:lnTo>
                <a:lnTo>
                  <a:pt x="67" y="165"/>
                </a:lnTo>
                <a:lnTo>
                  <a:pt x="62" y="147"/>
                </a:lnTo>
                <a:lnTo>
                  <a:pt x="62" y="147"/>
                </a:lnTo>
                <a:lnTo>
                  <a:pt x="61" y="143"/>
                </a:lnTo>
                <a:lnTo>
                  <a:pt x="61" y="143"/>
                </a:lnTo>
                <a:lnTo>
                  <a:pt x="62" y="147"/>
                </a:lnTo>
                <a:lnTo>
                  <a:pt x="62" y="147"/>
                </a:lnTo>
                <a:lnTo>
                  <a:pt x="76" y="185"/>
                </a:lnTo>
                <a:lnTo>
                  <a:pt x="88" y="225"/>
                </a:lnTo>
                <a:lnTo>
                  <a:pt x="88" y="225"/>
                </a:lnTo>
                <a:lnTo>
                  <a:pt x="91" y="228"/>
                </a:lnTo>
                <a:lnTo>
                  <a:pt x="93" y="230"/>
                </a:lnTo>
                <a:lnTo>
                  <a:pt x="97" y="228"/>
                </a:lnTo>
                <a:lnTo>
                  <a:pt x="100" y="227"/>
                </a:lnTo>
                <a:lnTo>
                  <a:pt x="100" y="227"/>
                </a:lnTo>
                <a:lnTo>
                  <a:pt x="102" y="236"/>
                </a:lnTo>
                <a:lnTo>
                  <a:pt x="106" y="245"/>
                </a:lnTo>
                <a:lnTo>
                  <a:pt x="106" y="245"/>
                </a:lnTo>
                <a:lnTo>
                  <a:pt x="108" y="246"/>
                </a:lnTo>
                <a:lnTo>
                  <a:pt x="110" y="247"/>
                </a:lnTo>
                <a:lnTo>
                  <a:pt x="112" y="247"/>
                </a:lnTo>
                <a:lnTo>
                  <a:pt x="113" y="247"/>
                </a:lnTo>
                <a:lnTo>
                  <a:pt x="117" y="243"/>
                </a:lnTo>
                <a:lnTo>
                  <a:pt x="117" y="242"/>
                </a:lnTo>
                <a:lnTo>
                  <a:pt x="117" y="240"/>
                </a:lnTo>
                <a:lnTo>
                  <a:pt x="117" y="240"/>
                </a:lnTo>
                <a:lnTo>
                  <a:pt x="113" y="217"/>
                </a:lnTo>
                <a:lnTo>
                  <a:pt x="108" y="196"/>
                </a:lnTo>
                <a:lnTo>
                  <a:pt x="101" y="175"/>
                </a:lnTo>
                <a:lnTo>
                  <a:pt x="93" y="155"/>
                </a:lnTo>
                <a:lnTo>
                  <a:pt x="93" y="155"/>
                </a:lnTo>
                <a:lnTo>
                  <a:pt x="102" y="174"/>
                </a:lnTo>
                <a:lnTo>
                  <a:pt x="110" y="194"/>
                </a:lnTo>
                <a:lnTo>
                  <a:pt x="116" y="215"/>
                </a:lnTo>
                <a:lnTo>
                  <a:pt x="122" y="235"/>
                </a:lnTo>
                <a:lnTo>
                  <a:pt x="122" y="235"/>
                </a:lnTo>
                <a:lnTo>
                  <a:pt x="123" y="237"/>
                </a:lnTo>
                <a:lnTo>
                  <a:pt x="124" y="238"/>
                </a:lnTo>
                <a:lnTo>
                  <a:pt x="127" y="240"/>
                </a:lnTo>
                <a:lnTo>
                  <a:pt x="128" y="240"/>
                </a:lnTo>
                <a:lnTo>
                  <a:pt x="132" y="237"/>
                </a:lnTo>
                <a:lnTo>
                  <a:pt x="134" y="235"/>
                </a:lnTo>
                <a:lnTo>
                  <a:pt x="134" y="233"/>
                </a:lnTo>
                <a:lnTo>
                  <a:pt x="134" y="233"/>
                </a:lnTo>
                <a:lnTo>
                  <a:pt x="134" y="225"/>
                </a:lnTo>
                <a:lnTo>
                  <a:pt x="132" y="215"/>
                </a:lnTo>
                <a:lnTo>
                  <a:pt x="127" y="197"/>
                </a:lnTo>
                <a:lnTo>
                  <a:pt x="127" y="197"/>
                </a:lnTo>
                <a:lnTo>
                  <a:pt x="122" y="183"/>
                </a:lnTo>
                <a:lnTo>
                  <a:pt x="122" y="183"/>
                </a:lnTo>
                <a:lnTo>
                  <a:pt x="131" y="206"/>
                </a:lnTo>
                <a:lnTo>
                  <a:pt x="131" y="206"/>
                </a:lnTo>
                <a:lnTo>
                  <a:pt x="134" y="220"/>
                </a:lnTo>
                <a:lnTo>
                  <a:pt x="138" y="226"/>
                </a:lnTo>
                <a:lnTo>
                  <a:pt x="141" y="228"/>
                </a:lnTo>
                <a:lnTo>
                  <a:pt x="143" y="230"/>
                </a:lnTo>
                <a:lnTo>
                  <a:pt x="143" y="230"/>
                </a:lnTo>
                <a:lnTo>
                  <a:pt x="145" y="230"/>
                </a:lnTo>
                <a:lnTo>
                  <a:pt x="148" y="228"/>
                </a:lnTo>
                <a:lnTo>
                  <a:pt x="149" y="226"/>
                </a:lnTo>
                <a:lnTo>
                  <a:pt x="150" y="224"/>
                </a:lnTo>
                <a:lnTo>
                  <a:pt x="150" y="224"/>
                </a:lnTo>
                <a:lnTo>
                  <a:pt x="150" y="220"/>
                </a:lnTo>
                <a:lnTo>
                  <a:pt x="150" y="220"/>
                </a:lnTo>
                <a:lnTo>
                  <a:pt x="154" y="230"/>
                </a:lnTo>
                <a:lnTo>
                  <a:pt x="157" y="233"/>
                </a:lnTo>
                <a:lnTo>
                  <a:pt x="159" y="236"/>
                </a:lnTo>
                <a:lnTo>
                  <a:pt x="159" y="236"/>
                </a:lnTo>
                <a:lnTo>
                  <a:pt x="163" y="237"/>
                </a:lnTo>
                <a:lnTo>
                  <a:pt x="167" y="236"/>
                </a:lnTo>
                <a:lnTo>
                  <a:pt x="168" y="233"/>
                </a:lnTo>
                <a:lnTo>
                  <a:pt x="169" y="230"/>
                </a:lnTo>
                <a:lnTo>
                  <a:pt x="169" y="230"/>
                </a:lnTo>
                <a:lnTo>
                  <a:pt x="159" y="192"/>
                </a:lnTo>
                <a:lnTo>
                  <a:pt x="159" y="192"/>
                </a:lnTo>
                <a:lnTo>
                  <a:pt x="165" y="210"/>
                </a:lnTo>
                <a:lnTo>
                  <a:pt x="172" y="227"/>
                </a:lnTo>
                <a:lnTo>
                  <a:pt x="172" y="227"/>
                </a:lnTo>
                <a:lnTo>
                  <a:pt x="173" y="230"/>
                </a:lnTo>
                <a:lnTo>
                  <a:pt x="174" y="231"/>
                </a:lnTo>
                <a:lnTo>
                  <a:pt x="176" y="232"/>
                </a:lnTo>
                <a:lnTo>
                  <a:pt x="179" y="231"/>
                </a:lnTo>
                <a:lnTo>
                  <a:pt x="181" y="231"/>
                </a:lnTo>
                <a:lnTo>
                  <a:pt x="183" y="228"/>
                </a:lnTo>
                <a:lnTo>
                  <a:pt x="183" y="227"/>
                </a:lnTo>
                <a:lnTo>
                  <a:pt x="183" y="224"/>
                </a:lnTo>
                <a:lnTo>
                  <a:pt x="183" y="224"/>
                </a:lnTo>
                <a:lnTo>
                  <a:pt x="178" y="204"/>
                </a:lnTo>
                <a:lnTo>
                  <a:pt x="172" y="183"/>
                </a:lnTo>
                <a:lnTo>
                  <a:pt x="172" y="183"/>
                </a:lnTo>
                <a:lnTo>
                  <a:pt x="180" y="204"/>
                </a:lnTo>
                <a:lnTo>
                  <a:pt x="180" y="204"/>
                </a:lnTo>
                <a:lnTo>
                  <a:pt x="181" y="206"/>
                </a:lnTo>
                <a:lnTo>
                  <a:pt x="184" y="207"/>
                </a:lnTo>
                <a:lnTo>
                  <a:pt x="184" y="207"/>
                </a:lnTo>
                <a:lnTo>
                  <a:pt x="190" y="221"/>
                </a:lnTo>
                <a:lnTo>
                  <a:pt x="190" y="221"/>
                </a:lnTo>
                <a:lnTo>
                  <a:pt x="191" y="224"/>
                </a:lnTo>
                <a:lnTo>
                  <a:pt x="191" y="224"/>
                </a:lnTo>
                <a:lnTo>
                  <a:pt x="198" y="233"/>
                </a:lnTo>
                <a:lnTo>
                  <a:pt x="198" y="233"/>
                </a:lnTo>
                <a:lnTo>
                  <a:pt x="199" y="235"/>
                </a:lnTo>
                <a:lnTo>
                  <a:pt x="201" y="236"/>
                </a:lnTo>
                <a:lnTo>
                  <a:pt x="205" y="236"/>
                </a:lnTo>
                <a:lnTo>
                  <a:pt x="209" y="233"/>
                </a:lnTo>
                <a:lnTo>
                  <a:pt x="209" y="231"/>
                </a:lnTo>
                <a:lnTo>
                  <a:pt x="209" y="228"/>
                </a:lnTo>
                <a:lnTo>
                  <a:pt x="209" y="228"/>
                </a:lnTo>
                <a:lnTo>
                  <a:pt x="207" y="222"/>
                </a:lnTo>
                <a:lnTo>
                  <a:pt x="207" y="222"/>
                </a:lnTo>
                <a:lnTo>
                  <a:pt x="210" y="221"/>
                </a:lnTo>
                <a:lnTo>
                  <a:pt x="212" y="220"/>
                </a:lnTo>
                <a:lnTo>
                  <a:pt x="214" y="219"/>
                </a:lnTo>
                <a:lnTo>
                  <a:pt x="215" y="216"/>
                </a:lnTo>
                <a:lnTo>
                  <a:pt x="215" y="216"/>
                </a:lnTo>
                <a:lnTo>
                  <a:pt x="214" y="212"/>
                </a:lnTo>
                <a:lnTo>
                  <a:pt x="214" y="212"/>
                </a:lnTo>
                <a:lnTo>
                  <a:pt x="215" y="215"/>
                </a:lnTo>
                <a:lnTo>
                  <a:pt x="215" y="215"/>
                </a:lnTo>
                <a:lnTo>
                  <a:pt x="216" y="217"/>
                </a:lnTo>
                <a:lnTo>
                  <a:pt x="219" y="219"/>
                </a:lnTo>
                <a:lnTo>
                  <a:pt x="221" y="219"/>
                </a:lnTo>
                <a:lnTo>
                  <a:pt x="224" y="219"/>
                </a:lnTo>
                <a:lnTo>
                  <a:pt x="224" y="219"/>
                </a:lnTo>
                <a:lnTo>
                  <a:pt x="227" y="217"/>
                </a:lnTo>
                <a:lnTo>
                  <a:pt x="230" y="215"/>
                </a:lnTo>
                <a:lnTo>
                  <a:pt x="230" y="215"/>
                </a:lnTo>
                <a:lnTo>
                  <a:pt x="231" y="209"/>
                </a:lnTo>
                <a:lnTo>
                  <a:pt x="231" y="204"/>
                </a:lnTo>
                <a:lnTo>
                  <a:pt x="229" y="197"/>
                </a:lnTo>
                <a:lnTo>
                  <a:pt x="226" y="192"/>
                </a:lnTo>
                <a:lnTo>
                  <a:pt x="226" y="192"/>
                </a:lnTo>
                <a:lnTo>
                  <a:pt x="229" y="191"/>
                </a:lnTo>
                <a:lnTo>
                  <a:pt x="229" y="191"/>
                </a:lnTo>
                <a:lnTo>
                  <a:pt x="238" y="221"/>
                </a:lnTo>
                <a:lnTo>
                  <a:pt x="238" y="221"/>
                </a:lnTo>
                <a:lnTo>
                  <a:pt x="240" y="222"/>
                </a:lnTo>
                <a:lnTo>
                  <a:pt x="241" y="225"/>
                </a:lnTo>
                <a:lnTo>
                  <a:pt x="246" y="225"/>
                </a:lnTo>
                <a:lnTo>
                  <a:pt x="248" y="225"/>
                </a:lnTo>
                <a:lnTo>
                  <a:pt x="250" y="224"/>
                </a:lnTo>
                <a:lnTo>
                  <a:pt x="251" y="221"/>
                </a:lnTo>
                <a:lnTo>
                  <a:pt x="251" y="220"/>
                </a:lnTo>
                <a:lnTo>
                  <a:pt x="251" y="220"/>
                </a:lnTo>
                <a:lnTo>
                  <a:pt x="251" y="217"/>
                </a:lnTo>
                <a:lnTo>
                  <a:pt x="251" y="217"/>
                </a:lnTo>
                <a:lnTo>
                  <a:pt x="251" y="217"/>
                </a:lnTo>
                <a:lnTo>
                  <a:pt x="251" y="217"/>
                </a:lnTo>
                <a:lnTo>
                  <a:pt x="250" y="211"/>
                </a:lnTo>
                <a:lnTo>
                  <a:pt x="250" y="211"/>
                </a:lnTo>
                <a:lnTo>
                  <a:pt x="251" y="212"/>
                </a:lnTo>
                <a:lnTo>
                  <a:pt x="253" y="214"/>
                </a:lnTo>
                <a:lnTo>
                  <a:pt x="257" y="212"/>
                </a:lnTo>
                <a:lnTo>
                  <a:pt x="261" y="209"/>
                </a:lnTo>
                <a:lnTo>
                  <a:pt x="261" y="207"/>
                </a:lnTo>
                <a:lnTo>
                  <a:pt x="261" y="205"/>
                </a:lnTo>
                <a:lnTo>
                  <a:pt x="261" y="205"/>
                </a:lnTo>
                <a:lnTo>
                  <a:pt x="260" y="195"/>
                </a:lnTo>
                <a:lnTo>
                  <a:pt x="260" y="195"/>
                </a:lnTo>
                <a:lnTo>
                  <a:pt x="260" y="195"/>
                </a:lnTo>
                <a:lnTo>
                  <a:pt x="261" y="197"/>
                </a:lnTo>
                <a:lnTo>
                  <a:pt x="262" y="199"/>
                </a:lnTo>
                <a:lnTo>
                  <a:pt x="267" y="197"/>
                </a:lnTo>
                <a:lnTo>
                  <a:pt x="269" y="195"/>
                </a:lnTo>
                <a:lnTo>
                  <a:pt x="271" y="194"/>
                </a:lnTo>
                <a:lnTo>
                  <a:pt x="271" y="191"/>
                </a:lnTo>
                <a:lnTo>
                  <a:pt x="271" y="191"/>
                </a:lnTo>
                <a:lnTo>
                  <a:pt x="274" y="195"/>
                </a:lnTo>
                <a:lnTo>
                  <a:pt x="277" y="195"/>
                </a:lnTo>
                <a:lnTo>
                  <a:pt x="281" y="195"/>
                </a:lnTo>
                <a:lnTo>
                  <a:pt x="281" y="195"/>
                </a:lnTo>
                <a:lnTo>
                  <a:pt x="282" y="195"/>
                </a:lnTo>
                <a:lnTo>
                  <a:pt x="283" y="192"/>
                </a:lnTo>
                <a:lnTo>
                  <a:pt x="284" y="191"/>
                </a:lnTo>
                <a:lnTo>
                  <a:pt x="284" y="189"/>
                </a:lnTo>
                <a:lnTo>
                  <a:pt x="284" y="189"/>
                </a:lnTo>
                <a:lnTo>
                  <a:pt x="281" y="168"/>
                </a:lnTo>
                <a:lnTo>
                  <a:pt x="274" y="147"/>
                </a:lnTo>
                <a:lnTo>
                  <a:pt x="267" y="127"/>
                </a:lnTo>
                <a:lnTo>
                  <a:pt x="261" y="106"/>
                </a:lnTo>
                <a:lnTo>
                  <a:pt x="261" y="106"/>
                </a:lnTo>
                <a:lnTo>
                  <a:pt x="258" y="96"/>
                </a:lnTo>
                <a:lnTo>
                  <a:pt x="258" y="96"/>
                </a:lnTo>
                <a:lnTo>
                  <a:pt x="266" y="117"/>
                </a:lnTo>
                <a:lnTo>
                  <a:pt x="266" y="117"/>
                </a:lnTo>
                <a:lnTo>
                  <a:pt x="273" y="135"/>
                </a:lnTo>
                <a:lnTo>
                  <a:pt x="278" y="154"/>
                </a:lnTo>
                <a:lnTo>
                  <a:pt x="278" y="154"/>
                </a:lnTo>
                <a:lnTo>
                  <a:pt x="282" y="165"/>
                </a:lnTo>
                <a:lnTo>
                  <a:pt x="284" y="170"/>
                </a:lnTo>
                <a:lnTo>
                  <a:pt x="289" y="174"/>
                </a:lnTo>
                <a:lnTo>
                  <a:pt x="289" y="174"/>
                </a:lnTo>
                <a:lnTo>
                  <a:pt x="292" y="174"/>
                </a:lnTo>
                <a:lnTo>
                  <a:pt x="294" y="174"/>
                </a:lnTo>
                <a:lnTo>
                  <a:pt x="297" y="173"/>
                </a:lnTo>
                <a:lnTo>
                  <a:pt x="298" y="170"/>
                </a:lnTo>
                <a:lnTo>
                  <a:pt x="298" y="170"/>
                </a:lnTo>
                <a:lnTo>
                  <a:pt x="299" y="164"/>
                </a:lnTo>
                <a:lnTo>
                  <a:pt x="299" y="159"/>
                </a:lnTo>
                <a:lnTo>
                  <a:pt x="298" y="148"/>
                </a:lnTo>
                <a:lnTo>
                  <a:pt x="298" y="148"/>
                </a:lnTo>
                <a:lnTo>
                  <a:pt x="296" y="133"/>
                </a:lnTo>
                <a:lnTo>
                  <a:pt x="296" y="133"/>
                </a:lnTo>
                <a:lnTo>
                  <a:pt x="298" y="135"/>
                </a:lnTo>
                <a:lnTo>
                  <a:pt x="302" y="137"/>
                </a:lnTo>
                <a:lnTo>
                  <a:pt x="302" y="137"/>
                </a:lnTo>
                <a:lnTo>
                  <a:pt x="304" y="137"/>
                </a:lnTo>
                <a:lnTo>
                  <a:pt x="307" y="137"/>
                </a:lnTo>
                <a:lnTo>
                  <a:pt x="308" y="134"/>
                </a:lnTo>
                <a:lnTo>
                  <a:pt x="309" y="133"/>
                </a:lnTo>
                <a:lnTo>
                  <a:pt x="309" y="133"/>
                </a:lnTo>
                <a:lnTo>
                  <a:pt x="309" y="125"/>
                </a:lnTo>
                <a:lnTo>
                  <a:pt x="309" y="119"/>
                </a:lnTo>
                <a:lnTo>
                  <a:pt x="308" y="106"/>
                </a:lnTo>
                <a:lnTo>
                  <a:pt x="300" y="80"/>
                </a:lnTo>
                <a:lnTo>
                  <a:pt x="300" y="80"/>
                </a:lnTo>
                <a:lnTo>
                  <a:pt x="300" y="78"/>
                </a:lnTo>
                <a:lnTo>
                  <a:pt x="300" y="78"/>
                </a:lnTo>
                <a:lnTo>
                  <a:pt x="302" y="83"/>
                </a:lnTo>
                <a:lnTo>
                  <a:pt x="302" y="83"/>
                </a:lnTo>
                <a:lnTo>
                  <a:pt x="308" y="101"/>
                </a:lnTo>
                <a:lnTo>
                  <a:pt x="313" y="109"/>
                </a:lnTo>
                <a:lnTo>
                  <a:pt x="315" y="113"/>
                </a:lnTo>
                <a:lnTo>
                  <a:pt x="318" y="117"/>
                </a:lnTo>
                <a:lnTo>
                  <a:pt x="318" y="117"/>
                </a:lnTo>
                <a:lnTo>
                  <a:pt x="322" y="118"/>
                </a:lnTo>
                <a:lnTo>
                  <a:pt x="325" y="118"/>
                </a:lnTo>
                <a:lnTo>
                  <a:pt x="328" y="117"/>
                </a:lnTo>
                <a:lnTo>
                  <a:pt x="329" y="113"/>
                </a:lnTo>
                <a:lnTo>
                  <a:pt x="329" y="113"/>
                </a:lnTo>
                <a:lnTo>
                  <a:pt x="331" y="104"/>
                </a:lnTo>
                <a:lnTo>
                  <a:pt x="331" y="104"/>
                </a:lnTo>
                <a:lnTo>
                  <a:pt x="331" y="107"/>
                </a:lnTo>
                <a:lnTo>
                  <a:pt x="333" y="108"/>
                </a:lnTo>
                <a:lnTo>
                  <a:pt x="333" y="109"/>
                </a:lnTo>
                <a:lnTo>
                  <a:pt x="333" y="109"/>
                </a:lnTo>
                <a:lnTo>
                  <a:pt x="336" y="109"/>
                </a:lnTo>
                <a:lnTo>
                  <a:pt x="339" y="108"/>
                </a:lnTo>
                <a:lnTo>
                  <a:pt x="340" y="104"/>
                </a:lnTo>
                <a:lnTo>
                  <a:pt x="340" y="101"/>
                </a:lnTo>
                <a:lnTo>
                  <a:pt x="340" y="92"/>
                </a:lnTo>
                <a:lnTo>
                  <a:pt x="339" y="82"/>
                </a:lnTo>
                <a:lnTo>
                  <a:pt x="339" y="82"/>
                </a:lnTo>
                <a:lnTo>
                  <a:pt x="338" y="67"/>
                </a:lnTo>
                <a:lnTo>
                  <a:pt x="334" y="54"/>
                </a:lnTo>
                <a:lnTo>
                  <a:pt x="334" y="54"/>
                </a:lnTo>
                <a:lnTo>
                  <a:pt x="330" y="44"/>
                </a:lnTo>
                <a:lnTo>
                  <a:pt x="328" y="34"/>
                </a:lnTo>
                <a:lnTo>
                  <a:pt x="328" y="34"/>
                </a:lnTo>
                <a:lnTo>
                  <a:pt x="328" y="30"/>
                </a:lnTo>
                <a:lnTo>
                  <a:pt x="330" y="31"/>
                </a:lnTo>
                <a:lnTo>
                  <a:pt x="335" y="39"/>
                </a:lnTo>
                <a:lnTo>
                  <a:pt x="335" y="39"/>
                </a:lnTo>
                <a:lnTo>
                  <a:pt x="338" y="41"/>
                </a:lnTo>
                <a:lnTo>
                  <a:pt x="340" y="41"/>
                </a:lnTo>
                <a:lnTo>
                  <a:pt x="343" y="40"/>
                </a:lnTo>
                <a:lnTo>
                  <a:pt x="345" y="37"/>
                </a:lnTo>
                <a:lnTo>
                  <a:pt x="345" y="37"/>
                </a:lnTo>
                <a:lnTo>
                  <a:pt x="346" y="18"/>
                </a:lnTo>
                <a:lnTo>
                  <a:pt x="346" y="18"/>
                </a:lnTo>
                <a:lnTo>
                  <a:pt x="351" y="24"/>
                </a:lnTo>
                <a:lnTo>
                  <a:pt x="351" y="24"/>
                </a:lnTo>
                <a:lnTo>
                  <a:pt x="353" y="25"/>
                </a:lnTo>
                <a:lnTo>
                  <a:pt x="355" y="25"/>
                </a:lnTo>
                <a:lnTo>
                  <a:pt x="356" y="25"/>
                </a:lnTo>
                <a:lnTo>
                  <a:pt x="359" y="24"/>
                </a:lnTo>
                <a:lnTo>
                  <a:pt x="360" y="20"/>
                </a:lnTo>
                <a:lnTo>
                  <a:pt x="360" y="18"/>
                </a:lnTo>
                <a:lnTo>
                  <a:pt x="359" y="15"/>
                </a:lnTo>
                <a:lnTo>
                  <a:pt x="359" y="15"/>
                </a:lnTo>
                <a:close/>
                <a:moveTo>
                  <a:pt x="148" y="152"/>
                </a:moveTo>
                <a:lnTo>
                  <a:pt x="148" y="152"/>
                </a:lnTo>
                <a:lnTo>
                  <a:pt x="150" y="158"/>
                </a:lnTo>
                <a:lnTo>
                  <a:pt x="150" y="158"/>
                </a:lnTo>
                <a:lnTo>
                  <a:pt x="154" y="173"/>
                </a:lnTo>
                <a:lnTo>
                  <a:pt x="154" y="173"/>
                </a:lnTo>
                <a:lnTo>
                  <a:pt x="148" y="152"/>
                </a:lnTo>
                <a:lnTo>
                  <a:pt x="148" y="152"/>
                </a:lnTo>
                <a:close/>
              </a:path>
            </a:pathLst>
          </a:custGeom>
          <a:solidFill>
            <a:srgbClr val="FFC000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7" name="Freeform 2007"/>
          <p:cNvSpPr>
            <a:spLocks noEditPoints="1"/>
          </p:cNvSpPr>
          <p:nvPr/>
        </p:nvSpPr>
        <p:spPr bwMode="auto">
          <a:xfrm>
            <a:off x="6161088" y="1504950"/>
            <a:ext cx="3981450" cy="2743200"/>
          </a:xfrm>
          <a:custGeom>
            <a:avLst/>
            <a:gdLst>
              <a:gd name="T0" fmla="*/ 338 w 360"/>
              <a:gd name="T1" fmla="*/ 13 h 247"/>
              <a:gd name="T2" fmla="*/ 317 w 360"/>
              <a:gd name="T3" fmla="*/ 25 h 247"/>
              <a:gd name="T4" fmla="*/ 298 w 360"/>
              <a:gd name="T5" fmla="*/ 20 h 247"/>
              <a:gd name="T6" fmla="*/ 317 w 360"/>
              <a:gd name="T7" fmla="*/ 86 h 247"/>
              <a:gd name="T8" fmla="*/ 284 w 360"/>
              <a:gd name="T9" fmla="*/ 21 h 247"/>
              <a:gd name="T10" fmla="*/ 283 w 360"/>
              <a:gd name="T11" fmla="*/ 58 h 247"/>
              <a:gd name="T12" fmla="*/ 257 w 360"/>
              <a:gd name="T13" fmla="*/ 20 h 247"/>
              <a:gd name="T14" fmla="*/ 268 w 360"/>
              <a:gd name="T15" fmla="*/ 75 h 247"/>
              <a:gd name="T16" fmla="*/ 232 w 360"/>
              <a:gd name="T17" fmla="*/ 15 h 247"/>
              <a:gd name="T18" fmla="*/ 241 w 360"/>
              <a:gd name="T19" fmla="*/ 81 h 247"/>
              <a:gd name="T20" fmla="*/ 199 w 360"/>
              <a:gd name="T21" fmla="*/ 8 h 247"/>
              <a:gd name="T22" fmla="*/ 189 w 360"/>
              <a:gd name="T23" fmla="*/ 10 h 247"/>
              <a:gd name="T24" fmla="*/ 169 w 360"/>
              <a:gd name="T25" fmla="*/ 13 h 247"/>
              <a:gd name="T26" fmla="*/ 150 w 360"/>
              <a:gd name="T27" fmla="*/ 16 h 247"/>
              <a:gd name="T28" fmla="*/ 133 w 360"/>
              <a:gd name="T29" fmla="*/ 8 h 247"/>
              <a:gd name="T30" fmla="*/ 134 w 360"/>
              <a:gd name="T31" fmla="*/ 42 h 247"/>
              <a:gd name="T32" fmla="*/ 118 w 360"/>
              <a:gd name="T33" fmla="*/ 35 h 247"/>
              <a:gd name="T34" fmla="*/ 98 w 360"/>
              <a:gd name="T35" fmla="*/ 32 h 247"/>
              <a:gd name="T36" fmla="*/ 80 w 360"/>
              <a:gd name="T37" fmla="*/ 40 h 247"/>
              <a:gd name="T38" fmla="*/ 97 w 360"/>
              <a:gd name="T39" fmla="*/ 87 h 247"/>
              <a:gd name="T40" fmla="*/ 66 w 360"/>
              <a:gd name="T41" fmla="*/ 54 h 247"/>
              <a:gd name="T42" fmla="*/ 62 w 360"/>
              <a:gd name="T43" fmla="*/ 65 h 247"/>
              <a:gd name="T44" fmla="*/ 49 w 360"/>
              <a:gd name="T45" fmla="*/ 72 h 247"/>
              <a:gd name="T46" fmla="*/ 35 w 360"/>
              <a:gd name="T47" fmla="*/ 78 h 247"/>
              <a:gd name="T48" fmla="*/ 26 w 360"/>
              <a:gd name="T49" fmla="*/ 90 h 247"/>
              <a:gd name="T50" fmla="*/ 26 w 360"/>
              <a:gd name="T51" fmla="*/ 135 h 247"/>
              <a:gd name="T52" fmla="*/ 4 w 360"/>
              <a:gd name="T53" fmla="*/ 116 h 247"/>
              <a:gd name="T54" fmla="*/ 5 w 360"/>
              <a:gd name="T55" fmla="*/ 161 h 247"/>
              <a:gd name="T56" fmla="*/ 14 w 360"/>
              <a:gd name="T57" fmla="*/ 145 h 247"/>
              <a:gd name="T58" fmla="*/ 36 w 360"/>
              <a:gd name="T59" fmla="*/ 217 h 247"/>
              <a:gd name="T60" fmla="*/ 44 w 360"/>
              <a:gd name="T61" fmla="*/ 161 h 247"/>
              <a:gd name="T62" fmla="*/ 77 w 360"/>
              <a:gd name="T63" fmla="*/ 224 h 247"/>
              <a:gd name="T64" fmla="*/ 76 w 360"/>
              <a:gd name="T65" fmla="*/ 185 h 247"/>
              <a:gd name="T66" fmla="*/ 106 w 360"/>
              <a:gd name="T67" fmla="*/ 245 h 247"/>
              <a:gd name="T68" fmla="*/ 108 w 360"/>
              <a:gd name="T69" fmla="*/ 196 h 247"/>
              <a:gd name="T70" fmla="*/ 124 w 360"/>
              <a:gd name="T71" fmla="*/ 238 h 247"/>
              <a:gd name="T72" fmla="*/ 127 w 360"/>
              <a:gd name="T73" fmla="*/ 197 h 247"/>
              <a:gd name="T74" fmla="*/ 145 w 360"/>
              <a:gd name="T75" fmla="*/ 230 h 247"/>
              <a:gd name="T76" fmla="*/ 159 w 360"/>
              <a:gd name="T77" fmla="*/ 236 h 247"/>
              <a:gd name="T78" fmla="*/ 172 w 360"/>
              <a:gd name="T79" fmla="*/ 227 h 247"/>
              <a:gd name="T80" fmla="*/ 178 w 360"/>
              <a:gd name="T81" fmla="*/ 204 h 247"/>
              <a:gd name="T82" fmla="*/ 191 w 360"/>
              <a:gd name="T83" fmla="*/ 224 h 247"/>
              <a:gd name="T84" fmla="*/ 209 w 360"/>
              <a:gd name="T85" fmla="*/ 228 h 247"/>
              <a:gd name="T86" fmla="*/ 215 w 360"/>
              <a:gd name="T87" fmla="*/ 215 h 247"/>
              <a:gd name="T88" fmla="*/ 231 w 360"/>
              <a:gd name="T89" fmla="*/ 209 h 247"/>
              <a:gd name="T90" fmla="*/ 241 w 360"/>
              <a:gd name="T91" fmla="*/ 225 h 247"/>
              <a:gd name="T92" fmla="*/ 251 w 360"/>
              <a:gd name="T93" fmla="*/ 217 h 247"/>
              <a:gd name="T94" fmla="*/ 260 w 360"/>
              <a:gd name="T95" fmla="*/ 195 h 247"/>
              <a:gd name="T96" fmla="*/ 274 w 360"/>
              <a:gd name="T97" fmla="*/ 195 h 247"/>
              <a:gd name="T98" fmla="*/ 274 w 360"/>
              <a:gd name="T99" fmla="*/ 147 h 247"/>
              <a:gd name="T100" fmla="*/ 278 w 360"/>
              <a:gd name="T101" fmla="*/ 154 h 247"/>
              <a:gd name="T102" fmla="*/ 299 w 360"/>
              <a:gd name="T103" fmla="*/ 164 h 247"/>
              <a:gd name="T104" fmla="*/ 307 w 360"/>
              <a:gd name="T105" fmla="*/ 137 h 247"/>
              <a:gd name="T106" fmla="*/ 300 w 360"/>
              <a:gd name="T107" fmla="*/ 78 h 247"/>
              <a:gd name="T108" fmla="*/ 328 w 360"/>
              <a:gd name="T109" fmla="*/ 117 h 247"/>
              <a:gd name="T110" fmla="*/ 339 w 360"/>
              <a:gd name="T111" fmla="*/ 108 h 247"/>
              <a:gd name="T112" fmla="*/ 328 w 360"/>
              <a:gd name="T113" fmla="*/ 34 h 247"/>
              <a:gd name="T114" fmla="*/ 345 w 360"/>
              <a:gd name="T115" fmla="*/ 37 h 247"/>
              <a:gd name="T116" fmla="*/ 360 w 360"/>
              <a:gd name="T117" fmla="*/ 18 h 247"/>
              <a:gd name="T118" fmla="*/ 148 w 360"/>
              <a:gd name="T119" fmla="*/ 152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60" h="247">
                <a:moveTo>
                  <a:pt x="359" y="15"/>
                </a:moveTo>
                <a:lnTo>
                  <a:pt x="359" y="15"/>
                </a:lnTo>
                <a:lnTo>
                  <a:pt x="354" y="10"/>
                </a:lnTo>
                <a:lnTo>
                  <a:pt x="348" y="5"/>
                </a:lnTo>
                <a:lnTo>
                  <a:pt x="348" y="5"/>
                </a:lnTo>
                <a:lnTo>
                  <a:pt x="345" y="4"/>
                </a:lnTo>
                <a:lnTo>
                  <a:pt x="343" y="5"/>
                </a:lnTo>
                <a:lnTo>
                  <a:pt x="343" y="5"/>
                </a:lnTo>
                <a:lnTo>
                  <a:pt x="339" y="8"/>
                </a:lnTo>
                <a:lnTo>
                  <a:pt x="338" y="13"/>
                </a:lnTo>
                <a:lnTo>
                  <a:pt x="335" y="21"/>
                </a:lnTo>
                <a:lnTo>
                  <a:pt x="335" y="21"/>
                </a:lnTo>
                <a:lnTo>
                  <a:pt x="331" y="19"/>
                </a:lnTo>
                <a:lnTo>
                  <a:pt x="327" y="16"/>
                </a:lnTo>
                <a:lnTo>
                  <a:pt x="327" y="16"/>
                </a:lnTo>
                <a:lnTo>
                  <a:pt x="323" y="18"/>
                </a:lnTo>
                <a:lnTo>
                  <a:pt x="320" y="19"/>
                </a:lnTo>
                <a:lnTo>
                  <a:pt x="318" y="21"/>
                </a:lnTo>
                <a:lnTo>
                  <a:pt x="317" y="25"/>
                </a:lnTo>
                <a:lnTo>
                  <a:pt x="317" y="25"/>
                </a:lnTo>
                <a:lnTo>
                  <a:pt x="317" y="29"/>
                </a:lnTo>
                <a:lnTo>
                  <a:pt x="317" y="29"/>
                </a:lnTo>
                <a:lnTo>
                  <a:pt x="313" y="24"/>
                </a:lnTo>
                <a:lnTo>
                  <a:pt x="309" y="19"/>
                </a:lnTo>
                <a:lnTo>
                  <a:pt x="309" y="19"/>
                </a:lnTo>
                <a:lnTo>
                  <a:pt x="307" y="16"/>
                </a:lnTo>
                <a:lnTo>
                  <a:pt x="304" y="16"/>
                </a:lnTo>
                <a:lnTo>
                  <a:pt x="302" y="16"/>
                </a:lnTo>
                <a:lnTo>
                  <a:pt x="299" y="18"/>
                </a:lnTo>
                <a:lnTo>
                  <a:pt x="298" y="20"/>
                </a:lnTo>
                <a:lnTo>
                  <a:pt x="297" y="21"/>
                </a:lnTo>
                <a:lnTo>
                  <a:pt x="297" y="24"/>
                </a:lnTo>
                <a:lnTo>
                  <a:pt x="298" y="26"/>
                </a:lnTo>
                <a:lnTo>
                  <a:pt x="298" y="26"/>
                </a:lnTo>
                <a:lnTo>
                  <a:pt x="303" y="35"/>
                </a:lnTo>
                <a:lnTo>
                  <a:pt x="307" y="45"/>
                </a:lnTo>
                <a:lnTo>
                  <a:pt x="312" y="65"/>
                </a:lnTo>
                <a:lnTo>
                  <a:pt x="312" y="65"/>
                </a:lnTo>
                <a:lnTo>
                  <a:pt x="314" y="75"/>
                </a:lnTo>
                <a:lnTo>
                  <a:pt x="317" y="86"/>
                </a:lnTo>
                <a:lnTo>
                  <a:pt x="317" y="86"/>
                </a:lnTo>
                <a:lnTo>
                  <a:pt x="317" y="85"/>
                </a:lnTo>
                <a:lnTo>
                  <a:pt x="317" y="85"/>
                </a:lnTo>
                <a:lnTo>
                  <a:pt x="307" y="57"/>
                </a:lnTo>
                <a:lnTo>
                  <a:pt x="307" y="57"/>
                </a:lnTo>
                <a:lnTo>
                  <a:pt x="303" y="47"/>
                </a:lnTo>
                <a:lnTo>
                  <a:pt x="298" y="37"/>
                </a:lnTo>
                <a:lnTo>
                  <a:pt x="292" y="29"/>
                </a:lnTo>
                <a:lnTo>
                  <a:pt x="284" y="21"/>
                </a:lnTo>
                <a:lnTo>
                  <a:pt x="284" y="21"/>
                </a:lnTo>
                <a:lnTo>
                  <a:pt x="282" y="20"/>
                </a:lnTo>
                <a:lnTo>
                  <a:pt x="279" y="21"/>
                </a:lnTo>
                <a:lnTo>
                  <a:pt x="277" y="23"/>
                </a:lnTo>
                <a:lnTo>
                  <a:pt x="276" y="24"/>
                </a:lnTo>
                <a:lnTo>
                  <a:pt x="276" y="24"/>
                </a:lnTo>
                <a:lnTo>
                  <a:pt x="274" y="27"/>
                </a:lnTo>
                <a:lnTo>
                  <a:pt x="274" y="31"/>
                </a:lnTo>
                <a:lnTo>
                  <a:pt x="276" y="41"/>
                </a:lnTo>
                <a:lnTo>
                  <a:pt x="283" y="58"/>
                </a:lnTo>
                <a:lnTo>
                  <a:pt x="283" y="58"/>
                </a:lnTo>
                <a:lnTo>
                  <a:pt x="292" y="92"/>
                </a:lnTo>
                <a:lnTo>
                  <a:pt x="292" y="92"/>
                </a:lnTo>
                <a:lnTo>
                  <a:pt x="286" y="78"/>
                </a:lnTo>
                <a:lnTo>
                  <a:pt x="286" y="78"/>
                </a:lnTo>
                <a:lnTo>
                  <a:pt x="274" y="50"/>
                </a:lnTo>
                <a:lnTo>
                  <a:pt x="268" y="35"/>
                </a:lnTo>
                <a:lnTo>
                  <a:pt x="261" y="23"/>
                </a:lnTo>
                <a:lnTo>
                  <a:pt x="261" y="23"/>
                </a:lnTo>
                <a:lnTo>
                  <a:pt x="258" y="20"/>
                </a:lnTo>
                <a:lnTo>
                  <a:pt x="257" y="20"/>
                </a:lnTo>
                <a:lnTo>
                  <a:pt x="253" y="20"/>
                </a:lnTo>
                <a:lnTo>
                  <a:pt x="251" y="23"/>
                </a:lnTo>
                <a:lnTo>
                  <a:pt x="250" y="24"/>
                </a:lnTo>
                <a:lnTo>
                  <a:pt x="250" y="26"/>
                </a:lnTo>
                <a:lnTo>
                  <a:pt x="250" y="26"/>
                </a:lnTo>
                <a:lnTo>
                  <a:pt x="252" y="34"/>
                </a:lnTo>
                <a:lnTo>
                  <a:pt x="256" y="41"/>
                </a:lnTo>
                <a:lnTo>
                  <a:pt x="261" y="55"/>
                </a:lnTo>
                <a:lnTo>
                  <a:pt x="261" y="55"/>
                </a:lnTo>
                <a:lnTo>
                  <a:pt x="268" y="75"/>
                </a:lnTo>
                <a:lnTo>
                  <a:pt x="274" y="94"/>
                </a:lnTo>
                <a:lnTo>
                  <a:pt x="274" y="94"/>
                </a:lnTo>
                <a:lnTo>
                  <a:pt x="279" y="118"/>
                </a:lnTo>
                <a:lnTo>
                  <a:pt x="279" y="118"/>
                </a:lnTo>
                <a:lnTo>
                  <a:pt x="273" y="99"/>
                </a:lnTo>
                <a:lnTo>
                  <a:pt x="273" y="99"/>
                </a:lnTo>
                <a:lnTo>
                  <a:pt x="255" y="56"/>
                </a:lnTo>
                <a:lnTo>
                  <a:pt x="245" y="35"/>
                </a:lnTo>
                <a:lnTo>
                  <a:pt x="238" y="25"/>
                </a:lnTo>
                <a:lnTo>
                  <a:pt x="232" y="15"/>
                </a:lnTo>
                <a:lnTo>
                  <a:pt x="232" y="15"/>
                </a:lnTo>
                <a:lnTo>
                  <a:pt x="231" y="13"/>
                </a:lnTo>
                <a:lnTo>
                  <a:pt x="229" y="13"/>
                </a:lnTo>
                <a:lnTo>
                  <a:pt x="225" y="13"/>
                </a:lnTo>
                <a:lnTo>
                  <a:pt x="222" y="15"/>
                </a:lnTo>
                <a:lnTo>
                  <a:pt x="221" y="16"/>
                </a:lnTo>
                <a:lnTo>
                  <a:pt x="221" y="19"/>
                </a:lnTo>
                <a:lnTo>
                  <a:pt x="221" y="19"/>
                </a:lnTo>
                <a:lnTo>
                  <a:pt x="241" y="81"/>
                </a:lnTo>
                <a:lnTo>
                  <a:pt x="241" y="81"/>
                </a:lnTo>
                <a:lnTo>
                  <a:pt x="229" y="49"/>
                </a:lnTo>
                <a:lnTo>
                  <a:pt x="229" y="49"/>
                </a:lnTo>
                <a:lnTo>
                  <a:pt x="220" y="27"/>
                </a:lnTo>
                <a:lnTo>
                  <a:pt x="215" y="18"/>
                </a:lnTo>
                <a:lnTo>
                  <a:pt x="209" y="9"/>
                </a:lnTo>
                <a:lnTo>
                  <a:pt x="209" y="9"/>
                </a:lnTo>
                <a:lnTo>
                  <a:pt x="207" y="8"/>
                </a:lnTo>
                <a:lnTo>
                  <a:pt x="205" y="6"/>
                </a:lnTo>
                <a:lnTo>
                  <a:pt x="201" y="6"/>
                </a:lnTo>
                <a:lnTo>
                  <a:pt x="199" y="8"/>
                </a:lnTo>
                <a:lnTo>
                  <a:pt x="198" y="9"/>
                </a:lnTo>
                <a:lnTo>
                  <a:pt x="198" y="11"/>
                </a:lnTo>
                <a:lnTo>
                  <a:pt x="198" y="14"/>
                </a:lnTo>
                <a:lnTo>
                  <a:pt x="198" y="14"/>
                </a:lnTo>
                <a:lnTo>
                  <a:pt x="204" y="31"/>
                </a:lnTo>
                <a:lnTo>
                  <a:pt x="204" y="31"/>
                </a:lnTo>
                <a:lnTo>
                  <a:pt x="194" y="14"/>
                </a:lnTo>
                <a:lnTo>
                  <a:pt x="194" y="14"/>
                </a:lnTo>
                <a:lnTo>
                  <a:pt x="191" y="11"/>
                </a:lnTo>
                <a:lnTo>
                  <a:pt x="189" y="10"/>
                </a:lnTo>
                <a:lnTo>
                  <a:pt x="185" y="11"/>
                </a:lnTo>
                <a:lnTo>
                  <a:pt x="184" y="15"/>
                </a:lnTo>
                <a:lnTo>
                  <a:pt x="184" y="15"/>
                </a:lnTo>
                <a:lnTo>
                  <a:pt x="179" y="9"/>
                </a:lnTo>
                <a:lnTo>
                  <a:pt x="179" y="9"/>
                </a:lnTo>
                <a:lnTo>
                  <a:pt x="176" y="8"/>
                </a:lnTo>
                <a:lnTo>
                  <a:pt x="173" y="6"/>
                </a:lnTo>
                <a:lnTo>
                  <a:pt x="169" y="9"/>
                </a:lnTo>
                <a:lnTo>
                  <a:pt x="169" y="10"/>
                </a:lnTo>
                <a:lnTo>
                  <a:pt x="169" y="13"/>
                </a:lnTo>
                <a:lnTo>
                  <a:pt x="169" y="13"/>
                </a:lnTo>
                <a:lnTo>
                  <a:pt x="164" y="6"/>
                </a:lnTo>
                <a:lnTo>
                  <a:pt x="159" y="1"/>
                </a:lnTo>
                <a:lnTo>
                  <a:pt x="159" y="1"/>
                </a:lnTo>
                <a:lnTo>
                  <a:pt x="155" y="0"/>
                </a:lnTo>
                <a:lnTo>
                  <a:pt x="152" y="3"/>
                </a:lnTo>
                <a:lnTo>
                  <a:pt x="152" y="3"/>
                </a:lnTo>
                <a:lnTo>
                  <a:pt x="150" y="5"/>
                </a:lnTo>
                <a:lnTo>
                  <a:pt x="149" y="8"/>
                </a:lnTo>
                <a:lnTo>
                  <a:pt x="150" y="16"/>
                </a:lnTo>
                <a:lnTo>
                  <a:pt x="154" y="30"/>
                </a:lnTo>
                <a:lnTo>
                  <a:pt x="154" y="30"/>
                </a:lnTo>
                <a:lnTo>
                  <a:pt x="157" y="36"/>
                </a:lnTo>
                <a:lnTo>
                  <a:pt x="157" y="36"/>
                </a:lnTo>
                <a:lnTo>
                  <a:pt x="149" y="20"/>
                </a:lnTo>
                <a:lnTo>
                  <a:pt x="144" y="14"/>
                </a:lnTo>
                <a:lnTo>
                  <a:pt x="139" y="8"/>
                </a:lnTo>
                <a:lnTo>
                  <a:pt x="139" y="8"/>
                </a:lnTo>
                <a:lnTo>
                  <a:pt x="136" y="8"/>
                </a:lnTo>
                <a:lnTo>
                  <a:pt x="133" y="8"/>
                </a:lnTo>
                <a:lnTo>
                  <a:pt x="133" y="8"/>
                </a:lnTo>
                <a:lnTo>
                  <a:pt x="132" y="9"/>
                </a:lnTo>
                <a:lnTo>
                  <a:pt x="132" y="9"/>
                </a:lnTo>
                <a:lnTo>
                  <a:pt x="129" y="11"/>
                </a:lnTo>
                <a:lnTo>
                  <a:pt x="128" y="15"/>
                </a:lnTo>
                <a:lnTo>
                  <a:pt x="128" y="15"/>
                </a:lnTo>
                <a:lnTo>
                  <a:pt x="132" y="30"/>
                </a:lnTo>
                <a:lnTo>
                  <a:pt x="137" y="44"/>
                </a:lnTo>
                <a:lnTo>
                  <a:pt x="137" y="44"/>
                </a:lnTo>
                <a:lnTo>
                  <a:pt x="134" y="42"/>
                </a:lnTo>
                <a:lnTo>
                  <a:pt x="134" y="42"/>
                </a:lnTo>
                <a:lnTo>
                  <a:pt x="132" y="41"/>
                </a:lnTo>
                <a:lnTo>
                  <a:pt x="131" y="40"/>
                </a:lnTo>
                <a:lnTo>
                  <a:pt x="128" y="41"/>
                </a:lnTo>
                <a:lnTo>
                  <a:pt x="127" y="42"/>
                </a:lnTo>
                <a:lnTo>
                  <a:pt x="126" y="42"/>
                </a:lnTo>
                <a:lnTo>
                  <a:pt x="126" y="42"/>
                </a:lnTo>
                <a:lnTo>
                  <a:pt x="121" y="36"/>
                </a:lnTo>
                <a:lnTo>
                  <a:pt x="121" y="36"/>
                </a:lnTo>
                <a:lnTo>
                  <a:pt x="118" y="35"/>
                </a:lnTo>
                <a:lnTo>
                  <a:pt x="116" y="35"/>
                </a:lnTo>
                <a:lnTo>
                  <a:pt x="113" y="35"/>
                </a:lnTo>
                <a:lnTo>
                  <a:pt x="111" y="37"/>
                </a:lnTo>
                <a:lnTo>
                  <a:pt x="111" y="37"/>
                </a:lnTo>
                <a:lnTo>
                  <a:pt x="108" y="35"/>
                </a:lnTo>
                <a:lnTo>
                  <a:pt x="106" y="32"/>
                </a:lnTo>
                <a:lnTo>
                  <a:pt x="106" y="32"/>
                </a:lnTo>
                <a:lnTo>
                  <a:pt x="103" y="31"/>
                </a:lnTo>
                <a:lnTo>
                  <a:pt x="101" y="32"/>
                </a:lnTo>
                <a:lnTo>
                  <a:pt x="98" y="32"/>
                </a:lnTo>
                <a:lnTo>
                  <a:pt x="97" y="35"/>
                </a:lnTo>
                <a:lnTo>
                  <a:pt x="97" y="35"/>
                </a:lnTo>
                <a:lnTo>
                  <a:pt x="96" y="40"/>
                </a:lnTo>
                <a:lnTo>
                  <a:pt x="96" y="40"/>
                </a:lnTo>
                <a:lnTo>
                  <a:pt x="88" y="34"/>
                </a:lnTo>
                <a:lnTo>
                  <a:pt x="88" y="34"/>
                </a:lnTo>
                <a:lnTo>
                  <a:pt x="85" y="32"/>
                </a:lnTo>
                <a:lnTo>
                  <a:pt x="82" y="34"/>
                </a:lnTo>
                <a:lnTo>
                  <a:pt x="80" y="36"/>
                </a:lnTo>
                <a:lnTo>
                  <a:pt x="80" y="40"/>
                </a:lnTo>
                <a:lnTo>
                  <a:pt x="80" y="40"/>
                </a:lnTo>
                <a:lnTo>
                  <a:pt x="83" y="51"/>
                </a:lnTo>
                <a:lnTo>
                  <a:pt x="87" y="61"/>
                </a:lnTo>
                <a:lnTo>
                  <a:pt x="96" y="81"/>
                </a:lnTo>
                <a:lnTo>
                  <a:pt x="96" y="81"/>
                </a:lnTo>
                <a:lnTo>
                  <a:pt x="103" y="99"/>
                </a:lnTo>
                <a:lnTo>
                  <a:pt x="111" y="119"/>
                </a:lnTo>
                <a:lnTo>
                  <a:pt x="111" y="119"/>
                </a:lnTo>
                <a:lnTo>
                  <a:pt x="97" y="87"/>
                </a:lnTo>
                <a:lnTo>
                  <a:pt x="97" y="87"/>
                </a:lnTo>
                <a:lnTo>
                  <a:pt x="88" y="65"/>
                </a:lnTo>
                <a:lnTo>
                  <a:pt x="82" y="54"/>
                </a:lnTo>
                <a:lnTo>
                  <a:pt x="79" y="50"/>
                </a:lnTo>
                <a:lnTo>
                  <a:pt x="74" y="47"/>
                </a:lnTo>
                <a:lnTo>
                  <a:pt x="74" y="47"/>
                </a:lnTo>
                <a:lnTo>
                  <a:pt x="71" y="47"/>
                </a:lnTo>
                <a:lnTo>
                  <a:pt x="69" y="49"/>
                </a:lnTo>
                <a:lnTo>
                  <a:pt x="67" y="51"/>
                </a:lnTo>
                <a:lnTo>
                  <a:pt x="66" y="54"/>
                </a:lnTo>
                <a:lnTo>
                  <a:pt x="66" y="54"/>
                </a:lnTo>
                <a:lnTo>
                  <a:pt x="67" y="62"/>
                </a:lnTo>
                <a:lnTo>
                  <a:pt x="71" y="71"/>
                </a:lnTo>
                <a:lnTo>
                  <a:pt x="77" y="88"/>
                </a:lnTo>
                <a:lnTo>
                  <a:pt x="77" y="88"/>
                </a:lnTo>
                <a:lnTo>
                  <a:pt x="83" y="103"/>
                </a:lnTo>
                <a:lnTo>
                  <a:pt x="83" y="103"/>
                </a:lnTo>
                <a:lnTo>
                  <a:pt x="75" y="88"/>
                </a:lnTo>
                <a:lnTo>
                  <a:pt x="75" y="88"/>
                </a:lnTo>
                <a:lnTo>
                  <a:pt x="67" y="72"/>
                </a:lnTo>
                <a:lnTo>
                  <a:pt x="62" y="65"/>
                </a:lnTo>
                <a:lnTo>
                  <a:pt x="57" y="58"/>
                </a:lnTo>
                <a:lnTo>
                  <a:pt x="57" y="58"/>
                </a:lnTo>
                <a:lnTo>
                  <a:pt x="55" y="57"/>
                </a:lnTo>
                <a:lnTo>
                  <a:pt x="54" y="56"/>
                </a:lnTo>
                <a:lnTo>
                  <a:pt x="51" y="57"/>
                </a:lnTo>
                <a:lnTo>
                  <a:pt x="49" y="58"/>
                </a:lnTo>
                <a:lnTo>
                  <a:pt x="49" y="58"/>
                </a:lnTo>
                <a:lnTo>
                  <a:pt x="48" y="61"/>
                </a:lnTo>
                <a:lnTo>
                  <a:pt x="48" y="65"/>
                </a:lnTo>
                <a:lnTo>
                  <a:pt x="49" y="72"/>
                </a:lnTo>
                <a:lnTo>
                  <a:pt x="49" y="72"/>
                </a:lnTo>
                <a:lnTo>
                  <a:pt x="46" y="75"/>
                </a:lnTo>
                <a:lnTo>
                  <a:pt x="44" y="78"/>
                </a:lnTo>
                <a:lnTo>
                  <a:pt x="44" y="78"/>
                </a:lnTo>
                <a:lnTo>
                  <a:pt x="45" y="81"/>
                </a:lnTo>
                <a:lnTo>
                  <a:pt x="45" y="81"/>
                </a:lnTo>
                <a:lnTo>
                  <a:pt x="41" y="78"/>
                </a:lnTo>
                <a:lnTo>
                  <a:pt x="38" y="77"/>
                </a:lnTo>
                <a:lnTo>
                  <a:pt x="38" y="77"/>
                </a:lnTo>
                <a:lnTo>
                  <a:pt x="35" y="78"/>
                </a:lnTo>
                <a:lnTo>
                  <a:pt x="34" y="80"/>
                </a:lnTo>
                <a:lnTo>
                  <a:pt x="33" y="83"/>
                </a:lnTo>
                <a:lnTo>
                  <a:pt x="33" y="83"/>
                </a:lnTo>
                <a:lnTo>
                  <a:pt x="33" y="87"/>
                </a:lnTo>
                <a:lnTo>
                  <a:pt x="33" y="91"/>
                </a:lnTo>
                <a:lnTo>
                  <a:pt x="33" y="91"/>
                </a:lnTo>
                <a:lnTo>
                  <a:pt x="33" y="91"/>
                </a:lnTo>
                <a:lnTo>
                  <a:pt x="31" y="90"/>
                </a:lnTo>
                <a:lnTo>
                  <a:pt x="29" y="90"/>
                </a:lnTo>
                <a:lnTo>
                  <a:pt x="26" y="90"/>
                </a:lnTo>
                <a:lnTo>
                  <a:pt x="24" y="91"/>
                </a:lnTo>
                <a:lnTo>
                  <a:pt x="24" y="91"/>
                </a:lnTo>
                <a:lnTo>
                  <a:pt x="23" y="94"/>
                </a:lnTo>
                <a:lnTo>
                  <a:pt x="22" y="97"/>
                </a:lnTo>
                <a:lnTo>
                  <a:pt x="23" y="103"/>
                </a:lnTo>
                <a:lnTo>
                  <a:pt x="23" y="103"/>
                </a:lnTo>
                <a:lnTo>
                  <a:pt x="26" y="133"/>
                </a:lnTo>
                <a:lnTo>
                  <a:pt x="26" y="133"/>
                </a:lnTo>
                <a:lnTo>
                  <a:pt x="26" y="135"/>
                </a:lnTo>
                <a:lnTo>
                  <a:pt x="26" y="135"/>
                </a:lnTo>
                <a:lnTo>
                  <a:pt x="22" y="124"/>
                </a:lnTo>
                <a:lnTo>
                  <a:pt x="15" y="114"/>
                </a:lnTo>
                <a:lnTo>
                  <a:pt x="15" y="114"/>
                </a:lnTo>
                <a:lnTo>
                  <a:pt x="14" y="113"/>
                </a:lnTo>
                <a:lnTo>
                  <a:pt x="12" y="112"/>
                </a:lnTo>
                <a:lnTo>
                  <a:pt x="9" y="112"/>
                </a:lnTo>
                <a:lnTo>
                  <a:pt x="8" y="113"/>
                </a:lnTo>
                <a:lnTo>
                  <a:pt x="8" y="113"/>
                </a:lnTo>
                <a:lnTo>
                  <a:pt x="5" y="114"/>
                </a:lnTo>
                <a:lnTo>
                  <a:pt x="4" y="116"/>
                </a:lnTo>
                <a:lnTo>
                  <a:pt x="4" y="116"/>
                </a:lnTo>
                <a:lnTo>
                  <a:pt x="3" y="122"/>
                </a:lnTo>
                <a:lnTo>
                  <a:pt x="2" y="128"/>
                </a:lnTo>
                <a:lnTo>
                  <a:pt x="2" y="134"/>
                </a:lnTo>
                <a:lnTo>
                  <a:pt x="2" y="140"/>
                </a:lnTo>
                <a:lnTo>
                  <a:pt x="2" y="140"/>
                </a:lnTo>
                <a:lnTo>
                  <a:pt x="0" y="145"/>
                </a:lnTo>
                <a:lnTo>
                  <a:pt x="2" y="152"/>
                </a:lnTo>
                <a:lnTo>
                  <a:pt x="3" y="157"/>
                </a:lnTo>
                <a:lnTo>
                  <a:pt x="5" y="161"/>
                </a:lnTo>
                <a:lnTo>
                  <a:pt x="5" y="161"/>
                </a:lnTo>
                <a:lnTo>
                  <a:pt x="8" y="163"/>
                </a:lnTo>
                <a:lnTo>
                  <a:pt x="10" y="161"/>
                </a:lnTo>
                <a:lnTo>
                  <a:pt x="10" y="161"/>
                </a:lnTo>
                <a:lnTo>
                  <a:pt x="13" y="158"/>
                </a:lnTo>
                <a:lnTo>
                  <a:pt x="13" y="153"/>
                </a:lnTo>
                <a:lnTo>
                  <a:pt x="12" y="144"/>
                </a:lnTo>
                <a:lnTo>
                  <a:pt x="12" y="144"/>
                </a:lnTo>
                <a:lnTo>
                  <a:pt x="12" y="144"/>
                </a:lnTo>
                <a:lnTo>
                  <a:pt x="14" y="145"/>
                </a:lnTo>
                <a:lnTo>
                  <a:pt x="14" y="145"/>
                </a:lnTo>
                <a:lnTo>
                  <a:pt x="15" y="147"/>
                </a:lnTo>
                <a:lnTo>
                  <a:pt x="18" y="147"/>
                </a:lnTo>
                <a:lnTo>
                  <a:pt x="18" y="147"/>
                </a:lnTo>
                <a:lnTo>
                  <a:pt x="19" y="152"/>
                </a:lnTo>
                <a:lnTo>
                  <a:pt x="19" y="152"/>
                </a:lnTo>
                <a:lnTo>
                  <a:pt x="28" y="183"/>
                </a:lnTo>
                <a:lnTo>
                  <a:pt x="35" y="215"/>
                </a:lnTo>
                <a:lnTo>
                  <a:pt x="35" y="215"/>
                </a:lnTo>
                <a:lnTo>
                  <a:pt x="36" y="217"/>
                </a:lnTo>
                <a:lnTo>
                  <a:pt x="38" y="219"/>
                </a:lnTo>
                <a:lnTo>
                  <a:pt x="41" y="220"/>
                </a:lnTo>
                <a:lnTo>
                  <a:pt x="45" y="217"/>
                </a:lnTo>
                <a:lnTo>
                  <a:pt x="46" y="216"/>
                </a:lnTo>
                <a:lnTo>
                  <a:pt x="46" y="214"/>
                </a:lnTo>
                <a:lnTo>
                  <a:pt x="46" y="214"/>
                </a:lnTo>
                <a:lnTo>
                  <a:pt x="44" y="180"/>
                </a:lnTo>
                <a:lnTo>
                  <a:pt x="40" y="148"/>
                </a:lnTo>
                <a:lnTo>
                  <a:pt x="40" y="148"/>
                </a:lnTo>
                <a:lnTo>
                  <a:pt x="44" y="161"/>
                </a:lnTo>
                <a:lnTo>
                  <a:pt x="44" y="161"/>
                </a:lnTo>
                <a:lnTo>
                  <a:pt x="55" y="194"/>
                </a:lnTo>
                <a:lnTo>
                  <a:pt x="66" y="225"/>
                </a:lnTo>
                <a:lnTo>
                  <a:pt x="66" y="225"/>
                </a:lnTo>
                <a:lnTo>
                  <a:pt x="69" y="228"/>
                </a:lnTo>
                <a:lnTo>
                  <a:pt x="72" y="230"/>
                </a:lnTo>
                <a:lnTo>
                  <a:pt x="76" y="227"/>
                </a:lnTo>
                <a:lnTo>
                  <a:pt x="76" y="226"/>
                </a:lnTo>
                <a:lnTo>
                  <a:pt x="77" y="224"/>
                </a:lnTo>
                <a:lnTo>
                  <a:pt x="77" y="224"/>
                </a:lnTo>
                <a:lnTo>
                  <a:pt x="76" y="204"/>
                </a:lnTo>
                <a:lnTo>
                  <a:pt x="72" y="185"/>
                </a:lnTo>
                <a:lnTo>
                  <a:pt x="67" y="165"/>
                </a:lnTo>
                <a:lnTo>
                  <a:pt x="62" y="147"/>
                </a:lnTo>
                <a:lnTo>
                  <a:pt x="62" y="147"/>
                </a:lnTo>
                <a:lnTo>
                  <a:pt x="61" y="143"/>
                </a:lnTo>
                <a:lnTo>
                  <a:pt x="61" y="143"/>
                </a:lnTo>
                <a:lnTo>
                  <a:pt x="62" y="147"/>
                </a:lnTo>
                <a:lnTo>
                  <a:pt x="62" y="147"/>
                </a:lnTo>
                <a:lnTo>
                  <a:pt x="76" y="185"/>
                </a:lnTo>
                <a:lnTo>
                  <a:pt x="88" y="225"/>
                </a:lnTo>
                <a:lnTo>
                  <a:pt x="88" y="225"/>
                </a:lnTo>
                <a:lnTo>
                  <a:pt x="91" y="228"/>
                </a:lnTo>
                <a:lnTo>
                  <a:pt x="93" y="230"/>
                </a:lnTo>
                <a:lnTo>
                  <a:pt x="97" y="228"/>
                </a:lnTo>
                <a:lnTo>
                  <a:pt x="100" y="227"/>
                </a:lnTo>
                <a:lnTo>
                  <a:pt x="100" y="227"/>
                </a:lnTo>
                <a:lnTo>
                  <a:pt x="102" y="236"/>
                </a:lnTo>
                <a:lnTo>
                  <a:pt x="106" y="245"/>
                </a:lnTo>
                <a:lnTo>
                  <a:pt x="106" y="245"/>
                </a:lnTo>
                <a:lnTo>
                  <a:pt x="108" y="246"/>
                </a:lnTo>
                <a:lnTo>
                  <a:pt x="110" y="247"/>
                </a:lnTo>
                <a:lnTo>
                  <a:pt x="112" y="247"/>
                </a:lnTo>
                <a:lnTo>
                  <a:pt x="113" y="247"/>
                </a:lnTo>
                <a:lnTo>
                  <a:pt x="117" y="243"/>
                </a:lnTo>
                <a:lnTo>
                  <a:pt x="117" y="242"/>
                </a:lnTo>
                <a:lnTo>
                  <a:pt x="117" y="240"/>
                </a:lnTo>
                <a:lnTo>
                  <a:pt x="117" y="240"/>
                </a:lnTo>
                <a:lnTo>
                  <a:pt x="113" y="217"/>
                </a:lnTo>
                <a:lnTo>
                  <a:pt x="108" y="196"/>
                </a:lnTo>
                <a:lnTo>
                  <a:pt x="101" y="175"/>
                </a:lnTo>
                <a:lnTo>
                  <a:pt x="93" y="155"/>
                </a:lnTo>
                <a:lnTo>
                  <a:pt x="93" y="155"/>
                </a:lnTo>
                <a:lnTo>
                  <a:pt x="102" y="174"/>
                </a:lnTo>
                <a:lnTo>
                  <a:pt x="110" y="194"/>
                </a:lnTo>
                <a:lnTo>
                  <a:pt x="116" y="215"/>
                </a:lnTo>
                <a:lnTo>
                  <a:pt x="122" y="235"/>
                </a:lnTo>
                <a:lnTo>
                  <a:pt x="122" y="235"/>
                </a:lnTo>
                <a:lnTo>
                  <a:pt x="123" y="237"/>
                </a:lnTo>
                <a:lnTo>
                  <a:pt x="124" y="238"/>
                </a:lnTo>
                <a:lnTo>
                  <a:pt x="127" y="240"/>
                </a:lnTo>
                <a:lnTo>
                  <a:pt x="128" y="240"/>
                </a:lnTo>
                <a:lnTo>
                  <a:pt x="132" y="237"/>
                </a:lnTo>
                <a:lnTo>
                  <a:pt x="134" y="235"/>
                </a:lnTo>
                <a:lnTo>
                  <a:pt x="134" y="233"/>
                </a:lnTo>
                <a:lnTo>
                  <a:pt x="134" y="233"/>
                </a:lnTo>
                <a:lnTo>
                  <a:pt x="134" y="225"/>
                </a:lnTo>
                <a:lnTo>
                  <a:pt x="132" y="215"/>
                </a:lnTo>
                <a:lnTo>
                  <a:pt x="127" y="197"/>
                </a:lnTo>
                <a:lnTo>
                  <a:pt x="127" y="197"/>
                </a:lnTo>
                <a:lnTo>
                  <a:pt x="122" y="183"/>
                </a:lnTo>
                <a:lnTo>
                  <a:pt x="122" y="183"/>
                </a:lnTo>
                <a:lnTo>
                  <a:pt x="131" y="206"/>
                </a:lnTo>
                <a:lnTo>
                  <a:pt x="131" y="206"/>
                </a:lnTo>
                <a:lnTo>
                  <a:pt x="134" y="220"/>
                </a:lnTo>
                <a:lnTo>
                  <a:pt x="138" y="226"/>
                </a:lnTo>
                <a:lnTo>
                  <a:pt x="141" y="228"/>
                </a:lnTo>
                <a:lnTo>
                  <a:pt x="143" y="230"/>
                </a:lnTo>
                <a:lnTo>
                  <a:pt x="143" y="230"/>
                </a:lnTo>
                <a:lnTo>
                  <a:pt x="145" y="230"/>
                </a:lnTo>
                <a:lnTo>
                  <a:pt x="148" y="228"/>
                </a:lnTo>
                <a:lnTo>
                  <a:pt x="149" y="226"/>
                </a:lnTo>
                <a:lnTo>
                  <a:pt x="150" y="224"/>
                </a:lnTo>
                <a:lnTo>
                  <a:pt x="150" y="224"/>
                </a:lnTo>
                <a:lnTo>
                  <a:pt x="150" y="220"/>
                </a:lnTo>
                <a:lnTo>
                  <a:pt x="150" y="220"/>
                </a:lnTo>
                <a:lnTo>
                  <a:pt x="154" y="230"/>
                </a:lnTo>
                <a:lnTo>
                  <a:pt x="157" y="233"/>
                </a:lnTo>
                <a:lnTo>
                  <a:pt x="159" y="236"/>
                </a:lnTo>
                <a:lnTo>
                  <a:pt x="159" y="236"/>
                </a:lnTo>
                <a:lnTo>
                  <a:pt x="163" y="237"/>
                </a:lnTo>
                <a:lnTo>
                  <a:pt x="167" y="236"/>
                </a:lnTo>
                <a:lnTo>
                  <a:pt x="168" y="233"/>
                </a:lnTo>
                <a:lnTo>
                  <a:pt x="169" y="230"/>
                </a:lnTo>
                <a:lnTo>
                  <a:pt x="169" y="230"/>
                </a:lnTo>
                <a:lnTo>
                  <a:pt x="159" y="192"/>
                </a:lnTo>
                <a:lnTo>
                  <a:pt x="159" y="192"/>
                </a:lnTo>
                <a:lnTo>
                  <a:pt x="165" y="210"/>
                </a:lnTo>
                <a:lnTo>
                  <a:pt x="172" y="227"/>
                </a:lnTo>
                <a:lnTo>
                  <a:pt x="172" y="227"/>
                </a:lnTo>
                <a:lnTo>
                  <a:pt x="173" y="230"/>
                </a:lnTo>
                <a:lnTo>
                  <a:pt x="174" y="231"/>
                </a:lnTo>
                <a:lnTo>
                  <a:pt x="176" y="232"/>
                </a:lnTo>
                <a:lnTo>
                  <a:pt x="179" y="231"/>
                </a:lnTo>
                <a:lnTo>
                  <a:pt x="181" y="231"/>
                </a:lnTo>
                <a:lnTo>
                  <a:pt x="183" y="228"/>
                </a:lnTo>
                <a:lnTo>
                  <a:pt x="183" y="227"/>
                </a:lnTo>
                <a:lnTo>
                  <a:pt x="183" y="224"/>
                </a:lnTo>
                <a:lnTo>
                  <a:pt x="183" y="224"/>
                </a:lnTo>
                <a:lnTo>
                  <a:pt x="178" y="204"/>
                </a:lnTo>
                <a:lnTo>
                  <a:pt x="172" y="183"/>
                </a:lnTo>
                <a:lnTo>
                  <a:pt x="172" y="183"/>
                </a:lnTo>
                <a:lnTo>
                  <a:pt x="180" y="204"/>
                </a:lnTo>
                <a:lnTo>
                  <a:pt x="180" y="204"/>
                </a:lnTo>
                <a:lnTo>
                  <a:pt x="181" y="206"/>
                </a:lnTo>
                <a:lnTo>
                  <a:pt x="184" y="207"/>
                </a:lnTo>
                <a:lnTo>
                  <a:pt x="184" y="207"/>
                </a:lnTo>
                <a:lnTo>
                  <a:pt x="190" y="221"/>
                </a:lnTo>
                <a:lnTo>
                  <a:pt x="190" y="221"/>
                </a:lnTo>
                <a:lnTo>
                  <a:pt x="191" y="224"/>
                </a:lnTo>
                <a:lnTo>
                  <a:pt x="191" y="224"/>
                </a:lnTo>
                <a:lnTo>
                  <a:pt x="198" y="233"/>
                </a:lnTo>
                <a:lnTo>
                  <a:pt x="198" y="233"/>
                </a:lnTo>
                <a:lnTo>
                  <a:pt x="199" y="235"/>
                </a:lnTo>
                <a:lnTo>
                  <a:pt x="201" y="236"/>
                </a:lnTo>
                <a:lnTo>
                  <a:pt x="205" y="236"/>
                </a:lnTo>
                <a:lnTo>
                  <a:pt x="209" y="233"/>
                </a:lnTo>
                <a:lnTo>
                  <a:pt x="209" y="231"/>
                </a:lnTo>
                <a:lnTo>
                  <a:pt x="209" y="228"/>
                </a:lnTo>
                <a:lnTo>
                  <a:pt x="209" y="228"/>
                </a:lnTo>
                <a:lnTo>
                  <a:pt x="207" y="222"/>
                </a:lnTo>
                <a:lnTo>
                  <a:pt x="207" y="222"/>
                </a:lnTo>
                <a:lnTo>
                  <a:pt x="210" y="221"/>
                </a:lnTo>
                <a:lnTo>
                  <a:pt x="212" y="220"/>
                </a:lnTo>
                <a:lnTo>
                  <a:pt x="214" y="219"/>
                </a:lnTo>
                <a:lnTo>
                  <a:pt x="215" y="216"/>
                </a:lnTo>
                <a:lnTo>
                  <a:pt x="215" y="216"/>
                </a:lnTo>
                <a:lnTo>
                  <a:pt x="214" y="212"/>
                </a:lnTo>
                <a:lnTo>
                  <a:pt x="214" y="212"/>
                </a:lnTo>
                <a:lnTo>
                  <a:pt x="215" y="215"/>
                </a:lnTo>
                <a:lnTo>
                  <a:pt x="215" y="215"/>
                </a:lnTo>
                <a:lnTo>
                  <a:pt x="216" y="217"/>
                </a:lnTo>
                <a:lnTo>
                  <a:pt x="219" y="219"/>
                </a:lnTo>
                <a:lnTo>
                  <a:pt x="221" y="219"/>
                </a:lnTo>
                <a:lnTo>
                  <a:pt x="224" y="219"/>
                </a:lnTo>
                <a:lnTo>
                  <a:pt x="224" y="219"/>
                </a:lnTo>
                <a:lnTo>
                  <a:pt x="227" y="217"/>
                </a:lnTo>
                <a:lnTo>
                  <a:pt x="230" y="215"/>
                </a:lnTo>
                <a:lnTo>
                  <a:pt x="230" y="215"/>
                </a:lnTo>
                <a:lnTo>
                  <a:pt x="231" y="209"/>
                </a:lnTo>
                <a:lnTo>
                  <a:pt x="231" y="204"/>
                </a:lnTo>
                <a:lnTo>
                  <a:pt x="229" y="197"/>
                </a:lnTo>
                <a:lnTo>
                  <a:pt x="226" y="192"/>
                </a:lnTo>
                <a:lnTo>
                  <a:pt x="226" y="192"/>
                </a:lnTo>
                <a:lnTo>
                  <a:pt x="229" y="191"/>
                </a:lnTo>
                <a:lnTo>
                  <a:pt x="229" y="191"/>
                </a:lnTo>
                <a:lnTo>
                  <a:pt x="238" y="221"/>
                </a:lnTo>
                <a:lnTo>
                  <a:pt x="238" y="221"/>
                </a:lnTo>
                <a:lnTo>
                  <a:pt x="240" y="222"/>
                </a:lnTo>
                <a:lnTo>
                  <a:pt x="241" y="225"/>
                </a:lnTo>
                <a:lnTo>
                  <a:pt x="246" y="225"/>
                </a:lnTo>
                <a:lnTo>
                  <a:pt x="248" y="225"/>
                </a:lnTo>
                <a:lnTo>
                  <a:pt x="250" y="224"/>
                </a:lnTo>
                <a:lnTo>
                  <a:pt x="251" y="221"/>
                </a:lnTo>
                <a:lnTo>
                  <a:pt x="251" y="220"/>
                </a:lnTo>
                <a:lnTo>
                  <a:pt x="251" y="220"/>
                </a:lnTo>
                <a:lnTo>
                  <a:pt x="251" y="217"/>
                </a:lnTo>
                <a:lnTo>
                  <a:pt x="251" y="217"/>
                </a:lnTo>
                <a:lnTo>
                  <a:pt x="251" y="217"/>
                </a:lnTo>
                <a:lnTo>
                  <a:pt x="251" y="217"/>
                </a:lnTo>
                <a:lnTo>
                  <a:pt x="250" y="211"/>
                </a:lnTo>
                <a:lnTo>
                  <a:pt x="250" y="211"/>
                </a:lnTo>
                <a:lnTo>
                  <a:pt x="251" y="212"/>
                </a:lnTo>
                <a:lnTo>
                  <a:pt x="253" y="214"/>
                </a:lnTo>
                <a:lnTo>
                  <a:pt x="257" y="212"/>
                </a:lnTo>
                <a:lnTo>
                  <a:pt x="261" y="209"/>
                </a:lnTo>
                <a:lnTo>
                  <a:pt x="261" y="207"/>
                </a:lnTo>
                <a:lnTo>
                  <a:pt x="261" y="205"/>
                </a:lnTo>
                <a:lnTo>
                  <a:pt x="261" y="205"/>
                </a:lnTo>
                <a:lnTo>
                  <a:pt x="260" y="195"/>
                </a:lnTo>
                <a:lnTo>
                  <a:pt x="260" y="195"/>
                </a:lnTo>
                <a:lnTo>
                  <a:pt x="260" y="195"/>
                </a:lnTo>
                <a:lnTo>
                  <a:pt x="261" y="197"/>
                </a:lnTo>
                <a:lnTo>
                  <a:pt x="262" y="199"/>
                </a:lnTo>
                <a:lnTo>
                  <a:pt x="267" y="197"/>
                </a:lnTo>
                <a:lnTo>
                  <a:pt x="269" y="195"/>
                </a:lnTo>
                <a:lnTo>
                  <a:pt x="271" y="194"/>
                </a:lnTo>
                <a:lnTo>
                  <a:pt x="271" y="191"/>
                </a:lnTo>
                <a:lnTo>
                  <a:pt x="271" y="191"/>
                </a:lnTo>
                <a:lnTo>
                  <a:pt x="274" y="195"/>
                </a:lnTo>
                <a:lnTo>
                  <a:pt x="277" y="195"/>
                </a:lnTo>
                <a:lnTo>
                  <a:pt x="281" y="195"/>
                </a:lnTo>
                <a:lnTo>
                  <a:pt x="281" y="195"/>
                </a:lnTo>
                <a:lnTo>
                  <a:pt x="282" y="195"/>
                </a:lnTo>
                <a:lnTo>
                  <a:pt x="283" y="192"/>
                </a:lnTo>
                <a:lnTo>
                  <a:pt x="284" y="191"/>
                </a:lnTo>
                <a:lnTo>
                  <a:pt x="284" y="189"/>
                </a:lnTo>
                <a:lnTo>
                  <a:pt x="284" y="189"/>
                </a:lnTo>
                <a:lnTo>
                  <a:pt x="281" y="168"/>
                </a:lnTo>
                <a:lnTo>
                  <a:pt x="274" y="147"/>
                </a:lnTo>
                <a:lnTo>
                  <a:pt x="267" y="127"/>
                </a:lnTo>
                <a:lnTo>
                  <a:pt x="261" y="106"/>
                </a:lnTo>
                <a:lnTo>
                  <a:pt x="261" y="106"/>
                </a:lnTo>
                <a:lnTo>
                  <a:pt x="258" y="96"/>
                </a:lnTo>
                <a:lnTo>
                  <a:pt x="258" y="96"/>
                </a:lnTo>
                <a:lnTo>
                  <a:pt x="266" y="117"/>
                </a:lnTo>
                <a:lnTo>
                  <a:pt x="266" y="117"/>
                </a:lnTo>
                <a:lnTo>
                  <a:pt x="273" y="135"/>
                </a:lnTo>
                <a:lnTo>
                  <a:pt x="278" y="154"/>
                </a:lnTo>
                <a:lnTo>
                  <a:pt x="278" y="154"/>
                </a:lnTo>
                <a:lnTo>
                  <a:pt x="282" y="165"/>
                </a:lnTo>
                <a:lnTo>
                  <a:pt x="284" y="170"/>
                </a:lnTo>
                <a:lnTo>
                  <a:pt x="289" y="174"/>
                </a:lnTo>
                <a:lnTo>
                  <a:pt x="289" y="174"/>
                </a:lnTo>
                <a:lnTo>
                  <a:pt x="292" y="174"/>
                </a:lnTo>
                <a:lnTo>
                  <a:pt x="294" y="174"/>
                </a:lnTo>
                <a:lnTo>
                  <a:pt x="297" y="173"/>
                </a:lnTo>
                <a:lnTo>
                  <a:pt x="298" y="170"/>
                </a:lnTo>
                <a:lnTo>
                  <a:pt x="298" y="170"/>
                </a:lnTo>
                <a:lnTo>
                  <a:pt x="299" y="164"/>
                </a:lnTo>
                <a:lnTo>
                  <a:pt x="299" y="159"/>
                </a:lnTo>
                <a:lnTo>
                  <a:pt x="298" y="148"/>
                </a:lnTo>
                <a:lnTo>
                  <a:pt x="298" y="148"/>
                </a:lnTo>
                <a:lnTo>
                  <a:pt x="296" y="133"/>
                </a:lnTo>
                <a:lnTo>
                  <a:pt x="296" y="133"/>
                </a:lnTo>
                <a:lnTo>
                  <a:pt x="298" y="135"/>
                </a:lnTo>
                <a:lnTo>
                  <a:pt x="302" y="137"/>
                </a:lnTo>
                <a:lnTo>
                  <a:pt x="302" y="137"/>
                </a:lnTo>
                <a:lnTo>
                  <a:pt x="304" y="137"/>
                </a:lnTo>
                <a:lnTo>
                  <a:pt x="307" y="137"/>
                </a:lnTo>
                <a:lnTo>
                  <a:pt x="308" y="134"/>
                </a:lnTo>
                <a:lnTo>
                  <a:pt x="309" y="133"/>
                </a:lnTo>
                <a:lnTo>
                  <a:pt x="309" y="133"/>
                </a:lnTo>
                <a:lnTo>
                  <a:pt x="309" y="125"/>
                </a:lnTo>
                <a:lnTo>
                  <a:pt x="309" y="119"/>
                </a:lnTo>
                <a:lnTo>
                  <a:pt x="308" y="106"/>
                </a:lnTo>
                <a:lnTo>
                  <a:pt x="300" y="80"/>
                </a:lnTo>
                <a:lnTo>
                  <a:pt x="300" y="80"/>
                </a:lnTo>
                <a:lnTo>
                  <a:pt x="300" y="78"/>
                </a:lnTo>
                <a:lnTo>
                  <a:pt x="300" y="78"/>
                </a:lnTo>
                <a:lnTo>
                  <a:pt x="302" y="83"/>
                </a:lnTo>
                <a:lnTo>
                  <a:pt x="302" y="83"/>
                </a:lnTo>
                <a:lnTo>
                  <a:pt x="308" y="101"/>
                </a:lnTo>
                <a:lnTo>
                  <a:pt x="313" y="109"/>
                </a:lnTo>
                <a:lnTo>
                  <a:pt x="315" y="113"/>
                </a:lnTo>
                <a:lnTo>
                  <a:pt x="318" y="117"/>
                </a:lnTo>
                <a:lnTo>
                  <a:pt x="318" y="117"/>
                </a:lnTo>
                <a:lnTo>
                  <a:pt x="322" y="118"/>
                </a:lnTo>
                <a:lnTo>
                  <a:pt x="325" y="118"/>
                </a:lnTo>
                <a:lnTo>
                  <a:pt x="328" y="117"/>
                </a:lnTo>
                <a:lnTo>
                  <a:pt x="329" y="113"/>
                </a:lnTo>
                <a:lnTo>
                  <a:pt x="329" y="113"/>
                </a:lnTo>
                <a:lnTo>
                  <a:pt x="331" y="104"/>
                </a:lnTo>
                <a:lnTo>
                  <a:pt x="331" y="104"/>
                </a:lnTo>
                <a:lnTo>
                  <a:pt x="331" y="107"/>
                </a:lnTo>
                <a:lnTo>
                  <a:pt x="333" y="108"/>
                </a:lnTo>
                <a:lnTo>
                  <a:pt x="333" y="109"/>
                </a:lnTo>
                <a:lnTo>
                  <a:pt x="333" y="109"/>
                </a:lnTo>
                <a:lnTo>
                  <a:pt x="336" y="109"/>
                </a:lnTo>
                <a:lnTo>
                  <a:pt x="339" y="108"/>
                </a:lnTo>
                <a:lnTo>
                  <a:pt x="340" y="104"/>
                </a:lnTo>
                <a:lnTo>
                  <a:pt x="340" y="101"/>
                </a:lnTo>
                <a:lnTo>
                  <a:pt x="340" y="92"/>
                </a:lnTo>
                <a:lnTo>
                  <a:pt x="339" y="82"/>
                </a:lnTo>
                <a:lnTo>
                  <a:pt x="339" y="82"/>
                </a:lnTo>
                <a:lnTo>
                  <a:pt x="338" y="67"/>
                </a:lnTo>
                <a:lnTo>
                  <a:pt x="334" y="54"/>
                </a:lnTo>
                <a:lnTo>
                  <a:pt x="334" y="54"/>
                </a:lnTo>
                <a:lnTo>
                  <a:pt x="330" y="44"/>
                </a:lnTo>
                <a:lnTo>
                  <a:pt x="328" y="34"/>
                </a:lnTo>
                <a:lnTo>
                  <a:pt x="328" y="34"/>
                </a:lnTo>
                <a:lnTo>
                  <a:pt x="328" y="30"/>
                </a:lnTo>
                <a:lnTo>
                  <a:pt x="330" y="31"/>
                </a:lnTo>
                <a:lnTo>
                  <a:pt x="335" y="39"/>
                </a:lnTo>
                <a:lnTo>
                  <a:pt x="335" y="39"/>
                </a:lnTo>
                <a:lnTo>
                  <a:pt x="338" y="41"/>
                </a:lnTo>
                <a:lnTo>
                  <a:pt x="340" y="41"/>
                </a:lnTo>
                <a:lnTo>
                  <a:pt x="343" y="40"/>
                </a:lnTo>
                <a:lnTo>
                  <a:pt x="345" y="37"/>
                </a:lnTo>
                <a:lnTo>
                  <a:pt x="345" y="37"/>
                </a:lnTo>
                <a:lnTo>
                  <a:pt x="346" y="18"/>
                </a:lnTo>
                <a:lnTo>
                  <a:pt x="346" y="18"/>
                </a:lnTo>
                <a:lnTo>
                  <a:pt x="351" y="24"/>
                </a:lnTo>
                <a:lnTo>
                  <a:pt x="351" y="24"/>
                </a:lnTo>
                <a:lnTo>
                  <a:pt x="353" y="25"/>
                </a:lnTo>
                <a:lnTo>
                  <a:pt x="355" y="25"/>
                </a:lnTo>
                <a:lnTo>
                  <a:pt x="356" y="25"/>
                </a:lnTo>
                <a:lnTo>
                  <a:pt x="359" y="24"/>
                </a:lnTo>
                <a:lnTo>
                  <a:pt x="360" y="20"/>
                </a:lnTo>
                <a:lnTo>
                  <a:pt x="360" y="18"/>
                </a:lnTo>
                <a:lnTo>
                  <a:pt x="359" y="15"/>
                </a:lnTo>
                <a:lnTo>
                  <a:pt x="359" y="15"/>
                </a:lnTo>
                <a:close/>
                <a:moveTo>
                  <a:pt x="148" y="152"/>
                </a:moveTo>
                <a:lnTo>
                  <a:pt x="148" y="152"/>
                </a:lnTo>
                <a:lnTo>
                  <a:pt x="150" y="158"/>
                </a:lnTo>
                <a:lnTo>
                  <a:pt x="150" y="158"/>
                </a:lnTo>
                <a:lnTo>
                  <a:pt x="154" y="173"/>
                </a:lnTo>
                <a:lnTo>
                  <a:pt x="154" y="173"/>
                </a:lnTo>
                <a:lnTo>
                  <a:pt x="148" y="152"/>
                </a:lnTo>
                <a:lnTo>
                  <a:pt x="148" y="15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5605" name="组合 1"/>
          <p:cNvGrpSpPr/>
          <p:nvPr/>
        </p:nvGrpSpPr>
        <p:grpSpPr>
          <a:xfrm>
            <a:off x="0" y="1728788"/>
            <a:ext cx="4889500" cy="5233987"/>
            <a:chOff x="1" y="529953"/>
            <a:chExt cx="6009024" cy="6433352"/>
          </a:xfrm>
        </p:grpSpPr>
        <p:grpSp>
          <p:nvGrpSpPr>
            <p:cNvPr id="25606" name="Group 7"/>
            <p:cNvGrpSpPr/>
            <p:nvPr/>
          </p:nvGrpSpPr>
          <p:grpSpPr>
            <a:xfrm flipH="1">
              <a:off x="1" y="529953"/>
              <a:ext cx="6009024" cy="6433352"/>
              <a:chOff x="5687975" y="3"/>
              <a:chExt cx="6504023" cy="6963305"/>
            </a:xfrm>
          </p:grpSpPr>
          <p:pic>
            <p:nvPicPr>
              <p:cNvPr id="9" name="Picture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 flipH="1">
                <a:off x="5687975" y="3"/>
                <a:ext cx="6504023" cy="6963305"/>
              </a:xfrm>
              <a:prstGeom prst="rect">
                <a:avLst/>
              </a:prstGeom>
              <a:effectLst>
                <a:outerShdw blurRad="177800" dist="228600" dir="4680000" sx="99000" sy="99000" algn="t" rotWithShape="0">
                  <a:prstClr val="black">
                    <a:alpha val="11000"/>
                  </a:prstClr>
                </a:outerShdw>
              </a:effectLst>
            </p:spPr>
          </p:pic>
          <p:pic>
            <p:nvPicPr>
              <p:cNvPr id="25608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6812715" y="263107"/>
                <a:ext cx="1840996" cy="174346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11" name="Freeform 8"/>
            <p:cNvSpPr/>
            <p:nvPr/>
          </p:nvSpPr>
          <p:spPr>
            <a:xfrm>
              <a:off x="2775799" y="1177271"/>
              <a:ext cx="2523453" cy="2655112"/>
            </a:xfrm>
            <a:custGeom>
              <a:avLst/>
              <a:gdLst>
                <a:gd name="connsiteX0" fmla="*/ 1318161 w 2731325"/>
                <a:gd name="connsiteY0" fmla="*/ 0 h 2873829"/>
                <a:gd name="connsiteX1" fmla="*/ 2731325 w 2731325"/>
                <a:gd name="connsiteY1" fmla="*/ 285008 h 2873829"/>
                <a:gd name="connsiteX2" fmla="*/ 1330037 w 2731325"/>
                <a:gd name="connsiteY2" fmla="*/ 2873829 h 2873829"/>
                <a:gd name="connsiteX3" fmla="*/ 0 w 2731325"/>
                <a:gd name="connsiteY3" fmla="*/ 2470068 h 2873829"/>
                <a:gd name="connsiteX4" fmla="*/ 1318161 w 2731325"/>
                <a:gd name="connsiteY4" fmla="*/ 0 h 287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1325" h="2873829">
                  <a:moveTo>
                    <a:pt x="1318161" y="0"/>
                  </a:moveTo>
                  <a:lnTo>
                    <a:pt x="2731325" y="285008"/>
                  </a:lnTo>
                  <a:lnTo>
                    <a:pt x="1330037" y="2873829"/>
                  </a:lnTo>
                  <a:lnTo>
                    <a:pt x="0" y="2470068"/>
                  </a:lnTo>
                  <a:lnTo>
                    <a:pt x="1318161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5610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7503" y="1176412"/>
              <a:ext cx="2523963" cy="265535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5611" name="Rectangle 33"/>
          <p:cNvSpPr/>
          <p:nvPr/>
        </p:nvSpPr>
        <p:spPr>
          <a:xfrm>
            <a:off x="6834505" y="2438400"/>
            <a:ext cx="2427605" cy="990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fontAlgn="base"/>
            <a:r>
              <a:rPr lang="en-US" altLang="en-US" sz="3600" strike="noStrike" noProof="1" dirty="0">
                <a:solidFill>
                  <a:srgbClr val="FFFFFF"/>
                </a:solidFill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Thank you for listening.</a:t>
            </a:r>
            <a:endParaRPr lang="en-US" altLang="en-US" sz="3600" strike="noStrike" noProof="1" dirty="0">
              <a:solidFill>
                <a:srgbClr val="FFFFFF"/>
              </a:solidFill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63540" y="4583430"/>
            <a:ext cx="614616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I would like to sincerely thank the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National Telecommunication Institute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NTI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)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National Telecommunication Institute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NTI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Alshaimaa Hussien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for their valuable training and guidance, which helped us sharpen Our skills in Business Intelligence and Data Analytics.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2242</Words>
  <Application>WPS Slides</Application>
  <PresentationFormat>宽屏</PresentationFormat>
  <Paragraphs>149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Microsoft YaHei</vt:lpstr>
      <vt:lpstr>Times New Roman</vt:lpstr>
      <vt:lpstr>ヒラギノ角ゴ ProN W3</vt:lpstr>
      <vt:lpstr>Segoe Print</vt:lpstr>
      <vt:lpstr>Gill Sans</vt:lpstr>
      <vt:lpstr>Gill Sans</vt:lpstr>
      <vt:lpstr>Gill Sans MT</vt:lpstr>
      <vt:lpstr>Neris Thin</vt:lpstr>
      <vt:lpstr>Lato Bold</vt:lpstr>
      <vt:lpstr>Open Sans Light</vt:lpstr>
      <vt:lpstr>Open Sans</vt:lpstr>
      <vt:lpstr>Arial Unicode MS</vt:lpstr>
      <vt:lpstr>Calibri Light</vt:lpstr>
      <vt:lpstr>Aldhabi</vt:lpstr>
      <vt:lpstr>Microsoft Himalaya</vt:lpstr>
      <vt:lpstr>Tahoma</vt:lpstr>
      <vt:lpstr>Trebuchet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205087 205087</cp:lastModifiedBy>
  <cp:revision>25</cp:revision>
  <dcterms:created xsi:type="dcterms:W3CDTF">2015-06-28T09:36:00Z</dcterms:created>
  <dcterms:modified xsi:type="dcterms:W3CDTF">2025-09-23T09:04:46Z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1033-12.2.0.20782</vt:lpwstr>
  </property>
  <property fmtid="{D5CDD505-2E9C-101B-9397-08002B2CF9AE}" pid="3" name="ICV">
    <vt:lpwstr>8BD40D1A0E8441DFAE7DEF7260D3CF03_12</vt:lpwstr>
  </property>
</Properties>
</file>